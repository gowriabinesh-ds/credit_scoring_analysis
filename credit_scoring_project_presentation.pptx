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68" r:id="rId3"/>
    <p:sldId id="257" r:id="rId4"/>
    <p:sldId id="269" r:id="rId5"/>
    <p:sldId id="270" r:id="rId6"/>
    <p:sldId id="258" r:id="rId7"/>
    <p:sldId id="259" r:id="rId8"/>
    <p:sldId id="260" r:id="rId9"/>
    <p:sldId id="273" r:id="rId10"/>
    <p:sldId id="275" r:id="rId11"/>
    <p:sldId id="276" r:id="rId12"/>
    <p:sldId id="277" r:id="rId13"/>
    <p:sldId id="278" r:id="rId14"/>
    <p:sldId id="279" r:id="rId15"/>
    <p:sldId id="262" r:id="rId16"/>
    <p:sldId id="263" r:id="rId17"/>
    <p:sldId id="286" r:id="rId18"/>
    <p:sldId id="264" r:id="rId19"/>
    <p:sldId id="265" r:id="rId20"/>
    <p:sldId id="280" r:id="rId21"/>
    <p:sldId id="281" r:id="rId22"/>
    <p:sldId id="282" r:id="rId23"/>
    <p:sldId id="283" r:id="rId24"/>
    <p:sldId id="266" r:id="rId25"/>
    <p:sldId id="267" r:id="rId26"/>
    <p:sldId id="284" r:id="rId27"/>
    <p:sldId id="287"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62"/>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A4B8118-9A9D-47EF-B80D-9698CCD52998}"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39CBCFFD-6E36-4364-933C-E07D242A1703}">
      <dgm:prSet/>
      <dgm:spPr/>
      <dgm:t>
        <a:bodyPr/>
        <a:lstStyle/>
        <a:p>
          <a:pPr>
            <a:defRPr cap="all"/>
          </a:pPr>
          <a:r>
            <a:rPr lang="en-US" b="0" dirty="0"/>
            <a:t>Analyze defaulters and associated factors</a:t>
          </a:r>
          <a:endParaRPr lang="en-US" dirty="0"/>
        </a:p>
      </dgm:t>
    </dgm:pt>
    <dgm:pt modelId="{7454D09B-70D2-4364-A792-9CCAC16EF822}" type="parTrans" cxnId="{F1521E2E-8E65-49AE-8918-5E5C79F745FB}">
      <dgm:prSet/>
      <dgm:spPr/>
      <dgm:t>
        <a:bodyPr/>
        <a:lstStyle/>
        <a:p>
          <a:endParaRPr lang="en-US"/>
        </a:p>
      </dgm:t>
    </dgm:pt>
    <dgm:pt modelId="{C1B0EAC2-828D-4979-862B-C0AF7E132571}" type="sibTrans" cxnId="{F1521E2E-8E65-49AE-8918-5E5C79F745FB}">
      <dgm:prSet/>
      <dgm:spPr/>
      <dgm:t>
        <a:bodyPr/>
        <a:lstStyle/>
        <a:p>
          <a:endParaRPr lang="en-US"/>
        </a:p>
      </dgm:t>
    </dgm:pt>
    <dgm:pt modelId="{9F0066A9-0C9B-4FDA-A85B-1B0BFBE4D726}">
      <dgm:prSet/>
      <dgm:spPr/>
      <dgm:t>
        <a:bodyPr/>
        <a:lstStyle/>
        <a:p>
          <a:pPr>
            <a:defRPr cap="all"/>
          </a:pPr>
          <a:r>
            <a:rPr lang="en-US" b="0" dirty="0"/>
            <a:t>Develop a credit scorecard using Binary logistic regression</a:t>
          </a:r>
          <a:endParaRPr lang="en-US" dirty="0"/>
        </a:p>
      </dgm:t>
    </dgm:pt>
    <dgm:pt modelId="{47D7FF87-2414-458B-A389-9DCAAF7C7948}" type="parTrans" cxnId="{863147F3-758C-4797-93B8-71FC6E6858BA}">
      <dgm:prSet/>
      <dgm:spPr/>
      <dgm:t>
        <a:bodyPr/>
        <a:lstStyle/>
        <a:p>
          <a:endParaRPr lang="en-US"/>
        </a:p>
      </dgm:t>
    </dgm:pt>
    <dgm:pt modelId="{5FD38085-CBB5-4256-9E6B-7F41E7338C23}" type="sibTrans" cxnId="{863147F3-758C-4797-93B8-71FC6E6858BA}">
      <dgm:prSet/>
      <dgm:spPr/>
      <dgm:t>
        <a:bodyPr/>
        <a:lstStyle/>
        <a:p>
          <a:endParaRPr lang="en-US"/>
        </a:p>
      </dgm:t>
    </dgm:pt>
    <dgm:pt modelId="{425F27F0-1DBF-44EA-A743-55D682FE309E}">
      <dgm:prSet/>
      <dgm:spPr/>
      <dgm:t>
        <a:bodyPr/>
        <a:lstStyle/>
        <a:p>
          <a:pPr>
            <a:defRPr cap="all"/>
          </a:pPr>
          <a:r>
            <a:rPr lang="en-US" b="0" dirty="0"/>
            <a:t>Compare model performance with ML methods</a:t>
          </a:r>
          <a:endParaRPr lang="en-US" dirty="0"/>
        </a:p>
      </dgm:t>
    </dgm:pt>
    <dgm:pt modelId="{72E32F42-3A87-4487-B30F-F75E50AFA4A4}" type="parTrans" cxnId="{39FEE353-D0AA-4D9A-808F-19110AD5BC4B}">
      <dgm:prSet/>
      <dgm:spPr/>
      <dgm:t>
        <a:bodyPr/>
        <a:lstStyle/>
        <a:p>
          <a:endParaRPr lang="en-US"/>
        </a:p>
      </dgm:t>
    </dgm:pt>
    <dgm:pt modelId="{745D1FC3-6C83-4A3E-B3A4-67DD933A4FE2}" type="sibTrans" cxnId="{39FEE353-D0AA-4D9A-808F-19110AD5BC4B}">
      <dgm:prSet/>
      <dgm:spPr/>
      <dgm:t>
        <a:bodyPr/>
        <a:lstStyle/>
        <a:p>
          <a:endParaRPr lang="en-US"/>
        </a:p>
      </dgm:t>
    </dgm:pt>
    <dgm:pt modelId="{D7A3DC99-703B-44E1-A6C4-A5263AF3E50D}">
      <dgm:prSet/>
      <dgm:spPr/>
      <dgm:t>
        <a:bodyPr/>
        <a:lstStyle/>
        <a:p>
          <a:pPr>
            <a:defRPr cap="all"/>
          </a:pPr>
          <a:r>
            <a:rPr lang="en-US" b="0" dirty="0"/>
            <a:t>Analyze customer feedback using text mining</a:t>
          </a:r>
          <a:endParaRPr lang="en-US" dirty="0"/>
        </a:p>
      </dgm:t>
    </dgm:pt>
    <dgm:pt modelId="{BE3AD53B-0542-4E67-A82F-596E22194039}" type="parTrans" cxnId="{F732D18A-1EC1-44C6-B8BF-FD95068359F7}">
      <dgm:prSet/>
      <dgm:spPr/>
      <dgm:t>
        <a:bodyPr/>
        <a:lstStyle/>
        <a:p>
          <a:endParaRPr lang="en-US"/>
        </a:p>
      </dgm:t>
    </dgm:pt>
    <dgm:pt modelId="{ECD7B322-D225-4E4B-8C91-6717A63D5523}" type="sibTrans" cxnId="{F732D18A-1EC1-44C6-B8BF-FD95068359F7}">
      <dgm:prSet/>
      <dgm:spPr/>
      <dgm:t>
        <a:bodyPr/>
        <a:lstStyle/>
        <a:p>
          <a:endParaRPr lang="en-US"/>
        </a:p>
      </dgm:t>
    </dgm:pt>
    <dgm:pt modelId="{4B736941-D32C-4B3B-88B6-F76D1EF36EB0}" type="pres">
      <dgm:prSet presAssocID="{EA4B8118-9A9D-47EF-B80D-9698CCD52998}" presName="root" presStyleCnt="0">
        <dgm:presLayoutVars>
          <dgm:dir/>
          <dgm:resizeHandles val="exact"/>
        </dgm:presLayoutVars>
      </dgm:prSet>
      <dgm:spPr/>
    </dgm:pt>
    <dgm:pt modelId="{246C6707-FE05-4AE2-8DD1-8086A194467D}" type="pres">
      <dgm:prSet presAssocID="{39CBCFFD-6E36-4364-933C-E07D242A1703}" presName="compNode" presStyleCnt="0"/>
      <dgm:spPr/>
    </dgm:pt>
    <dgm:pt modelId="{D1364337-C5C8-47F1-B456-B960D183883A}" type="pres">
      <dgm:prSet presAssocID="{39CBCFFD-6E36-4364-933C-E07D242A1703}" presName="iconBgRect" presStyleLbl="bgShp" presStyleIdx="0" presStyleCnt="4"/>
      <dgm:spPr>
        <a:effectLst>
          <a:glow rad="228600">
            <a:schemeClr val="accent2">
              <a:satMod val="175000"/>
              <a:alpha val="40000"/>
            </a:schemeClr>
          </a:glow>
        </a:effectLst>
      </dgm:spPr>
    </dgm:pt>
    <dgm:pt modelId="{26CA7A21-07A0-4050-815B-D89F4FF6DBED}" type="pres">
      <dgm:prSet presAssocID="{39CBCFFD-6E36-4364-933C-E07D242A1703}"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A0C71B5D-992A-4C7E-8C12-9C8F59FF10A4}" type="pres">
      <dgm:prSet presAssocID="{39CBCFFD-6E36-4364-933C-E07D242A1703}" presName="spaceRect" presStyleCnt="0"/>
      <dgm:spPr/>
    </dgm:pt>
    <dgm:pt modelId="{C1C6254B-94DA-4890-8900-299C67B2EDEC}" type="pres">
      <dgm:prSet presAssocID="{39CBCFFD-6E36-4364-933C-E07D242A1703}" presName="textRect" presStyleLbl="revTx" presStyleIdx="0" presStyleCnt="4">
        <dgm:presLayoutVars>
          <dgm:chMax val="1"/>
          <dgm:chPref val="1"/>
        </dgm:presLayoutVars>
      </dgm:prSet>
      <dgm:spPr/>
    </dgm:pt>
    <dgm:pt modelId="{D8244029-4A3F-4C38-893C-1F00D7715646}" type="pres">
      <dgm:prSet presAssocID="{C1B0EAC2-828D-4979-862B-C0AF7E132571}" presName="sibTrans" presStyleCnt="0"/>
      <dgm:spPr/>
    </dgm:pt>
    <dgm:pt modelId="{B3D36878-D9BC-4EB2-90F5-961E82F68F01}" type="pres">
      <dgm:prSet presAssocID="{9F0066A9-0C9B-4FDA-A85B-1B0BFBE4D726}" presName="compNode" presStyleCnt="0"/>
      <dgm:spPr/>
    </dgm:pt>
    <dgm:pt modelId="{6D4BC3BA-A323-4E85-B43D-35B28292F031}" type="pres">
      <dgm:prSet presAssocID="{9F0066A9-0C9B-4FDA-A85B-1B0BFBE4D726}" presName="iconBgRect" presStyleLbl="bgShp" presStyleIdx="1" presStyleCnt="4"/>
      <dgm:spPr>
        <a:effectLst>
          <a:glow rad="228600">
            <a:schemeClr val="accent3">
              <a:satMod val="175000"/>
              <a:alpha val="40000"/>
            </a:schemeClr>
          </a:glow>
        </a:effectLst>
      </dgm:spPr>
    </dgm:pt>
    <dgm:pt modelId="{C9B569CA-DE3F-4436-B508-0358815C4B78}" type="pres">
      <dgm:prSet presAssocID="{9F0066A9-0C9B-4FDA-A85B-1B0BFBE4D726}"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ar chart"/>
        </a:ext>
      </dgm:extLst>
    </dgm:pt>
    <dgm:pt modelId="{2A8F8E28-26CF-444B-99C4-D641097D9078}" type="pres">
      <dgm:prSet presAssocID="{9F0066A9-0C9B-4FDA-A85B-1B0BFBE4D726}" presName="spaceRect" presStyleCnt="0"/>
      <dgm:spPr/>
    </dgm:pt>
    <dgm:pt modelId="{2E12697A-4B20-436E-BE0A-1769D65960D0}" type="pres">
      <dgm:prSet presAssocID="{9F0066A9-0C9B-4FDA-A85B-1B0BFBE4D726}" presName="textRect" presStyleLbl="revTx" presStyleIdx="1" presStyleCnt="4" custScaleX="119842" custScaleY="144892" custLinFactNeighborX="-610" custLinFactNeighborY="36263">
        <dgm:presLayoutVars>
          <dgm:chMax val="1"/>
          <dgm:chPref val="1"/>
        </dgm:presLayoutVars>
      </dgm:prSet>
      <dgm:spPr/>
    </dgm:pt>
    <dgm:pt modelId="{3A225C43-2656-4412-A9BB-07E2577EB716}" type="pres">
      <dgm:prSet presAssocID="{5FD38085-CBB5-4256-9E6B-7F41E7338C23}" presName="sibTrans" presStyleCnt="0"/>
      <dgm:spPr/>
    </dgm:pt>
    <dgm:pt modelId="{C6540259-944B-4301-A0CD-E846C4C0442D}" type="pres">
      <dgm:prSet presAssocID="{425F27F0-1DBF-44EA-A743-55D682FE309E}" presName="compNode" presStyleCnt="0"/>
      <dgm:spPr/>
    </dgm:pt>
    <dgm:pt modelId="{17DB6CDB-015A-439D-AB90-A187ADC298F1}" type="pres">
      <dgm:prSet presAssocID="{425F27F0-1DBF-44EA-A743-55D682FE309E}" presName="iconBgRect" presStyleLbl="bgShp" presStyleIdx="2" presStyleCnt="4"/>
      <dgm:spPr>
        <a:effectLst>
          <a:glow rad="228600">
            <a:schemeClr val="accent4">
              <a:satMod val="175000"/>
              <a:alpha val="40000"/>
            </a:schemeClr>
          </a:glow>
        </a:effectLst>
      </dgm:spPr>
    </dgm:pt>
    <dgm:pt modelId="{25DF9346-6CE6-428A-914C-F563D0354E1D}" type="pres">
      <dgm:prSet presAssocID="{425F27F0-1DBF-44EA-A743-55D682FE309E}"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Upward trend"/>
        </a:ext>
      </dgm:extLst>
    </dgm:pt>
    <dgm:pt modelId="{9F93DA47-D263-4EAD-9078-CF0C10C30ED1}" type="pres">
      <dgm:prSet presAssocID="{425F27F0-1DBF-44EA-A743-55D682FE309E}" presName="spaceRect" presStyleCnt="0"/>
      <dgm:spPr/>
    </dgm:pt>
    <dgm:pt modelId="{7D435751-F298-4BCD-9849-EF1642FE296F}" type="pres">
      <dgm:prSet presAssocID="{425F27F0-1DBF-44EA-A743-55D682FE309E}" presName="textRect" presStyleLbl="revTx" presStyleIdx="2" presStyleCnt="4">
        <dgm:presLayoutVars>
          <dgm:chMax val="1"/>
          <dgm:chPref val="1"/>
        </dgm:presLayoutVars>
      </dgm:prSet>
      <dgm:spPr/>
    </dgm:pt>
    <dgm:pt modelId="{BC81EBB4-82BB-4691-B9FB-EED9C61B7E9A}" type="pres">
      <dgm:prSet presAssocID="{745D1FC3-6C83-4A3E-B3A4-67DD933A4FE2}" presName="sibTrans" presStyleCnt="0"/>
      <dgm:spPr/>
    </dgm:pt>
    <dgm:pt modelId="{D799956A-513B-433E-AB50-B278357539D7}" type="pres">
      <dgm:prSet presAssocID="{D7A3DC99-703B-44E1-A6C4-A5263AF3E50D}" presName="compNode" presStyleCnt="0"/>
      <dgm:spPr/>
    </dgm:pt>
    <dgm:pt modelId="{A2F66DD8-6544-4DA3-AA5F-B92C84D4B19D}" type="pres">
      <dgm:prSet presAssocID="{D7A3DC99-703B-44E1-A6C4-A5263AF3E50D}" presName="iconBgRect" presStyleLbl="bgShp" presStyleIdx="3" presStyleCnt="4"/>
      <dgm:spPr>
        <a:effectLst>
          <a:glow rad="228600">
            <a:schemeClr val="accent5">
              <a:satMod val="175000"/>
              <a:alpha val="40000"/>
            </a:schemeClr>
          </a:glow>
        </a:effectLst>
      </dgm:spPr>
    </dgm:pt>
    <dgm:pt modelId="{758181C2-5C96-4432-9600-925971BC1094}" type="pres">
      <dgm:prSet presAssocID="{D7A3DC99-703B-44E1-A6C4-A5263AF3E50D}"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Mining Tools"/>
        </a:ext>
      </dgm:extLst>
    </dgm:pt>
    <dgm:pt modelId="{8B1697F4-00A5-46D7-A90B-3B17D51E2FC0}" type="pres">
      <dgm:prSet presAssocID="{D7A3DC99-703B-44E1-A6C4-A5263AF3E50D}" presName="spaceRect" presStyleCnt="0"/>
      <dgm:spPr/>
    </dgm:pt>
    <dgm:pt modelId="{1802B678-1446-4E1C-83DD-3983002CCD44}" type="pres">
      <dgm:prSet presAssocID="{D7A3DC99-703B-44E1-A6C4-A5263AF3E50D}" presName="textRect" presStyleLbl="revTx" presStyleIdx="3" presStyleCnt="4">
        <dgm:presLayoutVars>
          <dgm:chMax val="1"/>
          <dgm:chPref val="1"/>
        </dgm:presLayoutVars>
      </dgm:prSet>
      <dgm:spPr/>
    </dgm:pt>
  </dgm:ptLst>
  <dgm:cxnLst>
    <dgm:cxn modelId="{BD9C1023-472B-4986-B8A3-FC45AE9AC77F}" type="presOf" srcId="{D7A3DC99-703B-44E1-A6C4-A5263AF3E50D}" destId="{1802B678-1446-4E1C-83DD-3983002CCD44}" srcOrd="0" destOrd="0" presId="urn:microsoft.com/office/officeart/2018/5/layout/IconCircleLabelList"/>
    <dgm:cxn modelId="{34A8A624-4C65-4D47-ABA9-945FF98041B4}" type="presOf" srcId="{9F0066A9-0C9B-4FDA-A85B-1B0BFBE4D726}" destId="{2E12697A-4B20-436E-BE0A-1769D65960D0}" srcOrd="0" destOrd="0" presId="urn:microsoft.com/office/officeart/2018/5/layout/IconCircleLabelList"/>
    <dgm:cxn modelId="{F1521E2E-8E65-49AE-8918-5E5C79F745FB}" srcId="{EA4B8118-9A9D-47EF-B80D-9698CCD52998}" destId="{39CBCFFD-6E36-4364-933C-E07D242A1703}" srcOrd="0" destOrd="0" parTransId="{7454D09B-70D2-4364-A792-9CCAC16EF822}" sibTransId="{C1B0EAC2-828D-4979-862B-C0AF7E132571}"/>
    <dgm:cxn modelId="{39FEE353-D0AA-4D9A-808F-19110AD5BC4B}" srcId="{EA4B8118-9A9D-47EF-B80D-9698CCD52998}" destId="{425F27F0-1DBF-44EA-A743-55D682FE309E}" srcOrd="2" destOrd="0" parTransId="{72E32F42-3A87-4487-B30F-F75E50AFA4A4}" sibTransId="{745D1FC3-6C83-4A3E-B3A4-67DD933A4FE2}"/>
    <dgm:cxn modelId="{41953381-C912-49E1-9EB5-348204769885}" type="presOf" srcId="{425F27F0-1DBF-44EA-A743-55D682FE309E}" destId="{7D435751-F298-4BCD-9849-EF1642FE296F}" srcOrd="0" destOrd="0" presId="urn:microsoft.com/office/officeart/2018/5/layout/IconCircleLabelList"/>
    <dgm:cxn modelId="{F732D18A-1EC1-44C6-B8BF-FD95068359F7}" srcId="{EA4B8118-9A9D-47EF-B80D-9698CCD52998}" destId="{D7A3DC99-703B-44E1-A6C4-A5263AF3E50D}" srcOrd="3" destOrd="0" parTransId="{BE3AD53B-0542-4E67-A82F-596E22194039}" sibTransId="{ECD7B322-D225-4E4B-8C91-6717A63D5523}"/>
    <dgm:cxn modelId="{CE49B694-0803-4029-B353-01D4C6614C74}" type="presOf" srcId="{EA4B8118-9A9D-47EF-B80D-9698CCD52998}" destId="{4B736941-D32C-4B3B-88B6-F76D1EF36EB0}" srcOrd="0" destOrd="0" presId="urn:microsoft.com/office/officeart/2018/5/layout/IconCircleLabelList"/>
    <dgm:cxn modelId="{8B7F98B4-D70B-40EC-A0CB-2052F6059DC6}" type="presOf" srcId="{39CBCFFD-6E36-4364-933C-E07D242A1703}" destId="{C1C6254B-94DA-4890-8900-299C67B2EDEC}" srcOrd="0" destOrd="0" presId="urn:microsoft.com/office/officeart/2018/5/layout/IconCircleLabelList"/>
    <dgm:cxn modelId="{863147F3-758C-4797-93B8-71FC6E6858BA}" srcId="{EA4B8118-9A9D-47EF-B80D-9698CCD52998}" destId="{9F0066A9-0C9B-4FDA-A85B-1B0BFBE4D726}" srcOrd="1" destOrd="0" parTransId="{47D7FF87-2414-458B-A389-9DCAAF7C7948}" sibTransId="{5FD38085-CBB5-4256-9E6B-7F41E7338C23}"/>
    <dgm:cxn modelId="{0A949A9C-ACEE-4834-804E-E9A5A7CE1E42}" type="presParOf" srcId="{4B736941-D32C-4B3B-88B6-F76D1EF36EB0}" destId="{246C6707-FE05-4AE2-8DD1-8086A194467D}" srcOrd="0" destOrd="0" presId="urn:microsoft.com/office/officeart/2018/5/layout/IconCircleLabelList"/>
    <dgm:cxn modelId="{AFBBDE28-E53C-4B00-BB8A-0CB7240207FD}" type="presParOf" srcId="{246C6707-FE05-4AE2-8DD1-8086A194467D}" destId="{D1364337-C5C8-47F1-B456-B960D183883A}" srcOrd="0" destOrd="0" presId="urn:microsoft.com/office/officeart/2018/5/layout/IconCircleLabelList"/>
    <dgm:cxn modelId="{06DF93A9-942B-4877-BF78-AFE5BEB1B70C}" type="presParOf" srcId="{246C6707-FE05-4AE2-8DD1-8086A194467D}" destId="{26CA7A21-07A0-4050-815B-D89F4FF6DBED}" srcOrd="1" destOrd="0" presId="urn:microsoft.com/office/officeart/2018/5/layout/IconCircleLabelList"/>
    <dgm:cxn modelId="{2458C3AF-4665-48FA-80B8-70A204F6095B}" type="presParOf" srcId="{246C6707-FE05-4AE2-8DD1-8086A194467D}" destId="{A0C71B5D-992A-4C7E-8C12-9C8F59FF10A4}" srcOrd="2" destOrd="0" presId="urn:microsoft.com/office/officeart/2018/5/layout/IconCircleLabelList"/>
    <dgm:cxn modelId="{2BDA3752-04D8-42F0-A135-4E515E339B5E}" type="presParOf" srcId="{246C6707-FE05-4AE2-8DD1-8086A194467D}" destId="{C1C6254B-94DA-4890-8900-299C67B2EDEC}" srcOrd="3" destOrd="0" presId="urn:microsoft.com/office/officeart/2018/5/layout/IconCircleLabelList"/>
    <dgm:cxn modelId="{E770DC68-D489-421A-A01B-A197877A5915}" type="presParOf" srcId="{4B736941-D32C-4B3B-88B6-F76D1EF36EB0}" destId="{D8244029-4A3F-4C38-893C-1F00D7715646}" srcOrd="1" destOrd="0" presId="urn:microsoft.com/office/officeart/2018/5/layout/IconCircleLabelList"/>
    <dgm:cxn modelId="{67135EE2-E3E5-451C-AD64-EB4D8DAB5B22}" type="presParOf" srcId="{4B736941-D32C-4B3B-88B6-F76D1EF36EB0}" destId="{B3D36878-D9BC-4EB2-90F5-961E82F68F01}" srcOrd="2" destOrd="0" presId="urn:microsoft.com/office/officeart/2018/5/layout/IconCircleLabelList"/>
    <dgm:cxn modelId="{B4739B5E-188A-4EA5-9335-1790FC8BC20F}" type="presParOf" srcId="{B3D36878-D9BC-4EB2-90F5-961E82F68F01}" destId="{6D4BC3BA-A323-4E85-B43D-35B28292F031}" srcOrd="0" destOrd="0" presId="urn:microsoft.com/office/officeart/2018/5/layout/IconCircleLabelList"/>
    <dgm:cxn modelId="{C65FA5E2-974B-4C67-9756-A855BDB4A30E}" type="presParOf" srcId="{B3D36878-D9BC-4EB2-90F5-961E82F68F01}" destId="{C9B569CA-DE3F-4436-B508-0358815C4B78}" srcOrd="1" destOrd="0" presId="urn:microsoft.com/office/officeart/2018/5/layout/IconCircleLabelList"/>
    <dgm:cxn modelId="{0C8AC2FE-7E89-4613-AC3A-72CAB1D89618}" type="presParOf" srcId="{B3D36878-D9BC-4EB2-90F5-961E82F68F01}" destId="{2A8F8E28-26CF-444B-99C4-D641097D9078}" srcOrd="2" destOrd="0" presId="urn:microsoft.com/office/officeart/2018/5/layout/IconCircleLabelList"/>
    <dgm:cxn modelId="{EB5295B7-7369-4456-9EC7-51FB3046AFA8}" type="presParOf" srcId="{B3D36878-D9BC-4EB2-90F5-961E82F68F01}" destId="{2E12697A-4B20-436E-BE0A-1769D65960D0}" srcOrd="3" destOrd="0" presId="urn:microsoft.com/office/officeart/2018/5/layout/IconCircleLabelList"/>
    <dgm:cxn modelId="{EFA85715-0982-47D7-B335-B1E6A0FE841A}" type="presParOf" srcId="{4B736941-D32C-4B3B-88B6-F76D1EF36EB0}" destId="{3A225C43-2656-4412-A9BB-07E2577EB716}" srcOrd="3" destOrd="0" presId="urn:microsoft.com/office/officeart/2018/5/layout/IconCircleLabelList"/>
    <dgm:cxn modelId="{CA9B33F6-6896-48A1-BD19-5B17B1B7B460}" type="presParOf" srcId="{4B736941-D32C-4B3B-88B6-F76D1EF36EB0}" destId="{C6540259-944B-4301-A0CD-E846C4C0442D}" srcOrd="4" destOrd="0" presId="urn:microsoft.com/office/officeart/2018/5/layout/IconCircleLabelList"/>
    <dgm:cxn modelId="{A254597D-1993-4FF5-9BC8-956330C108BB}" type="presParOf" srcId="{C6540259-944B-4301-A0CD-E846C4C0442D}" destId="{17DB6CDB-015A-439D-AB90-A187ADC298F1}" srcOrd="0" destOrd="0" presId="urn:microsoft.com/office/officeart/2018/5/layout/IconCircleLabelList"/>
    <dgm:cxn modelId="{750361F2-8287-4A07-8519-705161DE280E}" type="presParOf" srcId="{C6540259-944B-4301-A0CD-E846C4C0442D}" destId="{25DF9346-6CE6-428A-914C-F563D0354E1D}" srcOrd="1" destOrd="0" presId="urn:microsoft.com/office/officeart/2018/5/layout/IconCircleLabelList"/>
    <dgm:cxn modelId="{35DBF4DE-3A05-40E9-93D5-5B7966DFD17F}" type="presParOf" srcId="{C6540259-944B-4301-A0CD-E846C4C0442D}" destId="{9F93DA47-D263-4EAD-9078-CF0C10C30ED1}" srcOrd="2" destOrd="0" presId="urn:microsoft.com/office/officeart/2018/5/layout/IconCircleLabelList"/>
    <dgm:cxn modelId="{754840C2-EEA1-4F73-BDD9-64C152DFC2F4}" type="presParOf" srcId="{C6540259-944B-4301-A0CD-E846C4C0442D}" destId="{7D435751-F298-4BCD-9849-EF1642FE296F}" srcOrd="3" destOrd="0" presId="urn:microsoft.com/office/officeart/2018/5/layout/IconCircleLabelList"/>
    <dgm:cxn modelId="{D99CE289-15E6-4EEF-B3D2-B7404C8DAED5}" type="presParOf" srcId="{4B736941-D32C-4B3B-88B6-F76D1EF36EB0}" destId="{BC81EBB4-82BB-4691-B9FB-EED9C61B7E9A}" srcOrd="5" destOrd="0" presId="urn:microsoft.com/office/officeart/2018/5/layout/IconCircleLabelList"/>
    <dgm:cxn modelId="{C64DBEE9-908F-41DC-ACAE-812C4CCE8B88}" type="presParOf" srcId="{4B736941-D32C-4B3B-88B6-F76D1EF36EB0}" destId="{D799956A-513B-433E-AB50-B278357539D7}" srcOrd="6" destOrd="0" presId="urn:microsoft.com/office/officeart/2018/5/layout/IconCircleLabelList"/>
    <dgm:cxn modelId="{5CC63156-DD21-487E-8754-7BF79CF8B148}" type="presParOf" srcId="{D799956A-513B-433E-AB50-B278357539D7}" destId="{A2F66DD8-6544-4DA3-AA5F-B92C84D4B19D}" srcOrd="0" destOrd="0" presId="urn:microsoft.com/office/officeart/2018/5/layout/IconCircleLabelList"/>
    <dgm:cxn modelId="{02EA4407-8D6F-43F0-B2CF-639D0284CD33}" type="presParOf" srcId="{D799956A-513B-433E-AB50-B278357539D7}" destId="{758181C2-5C96-4432-9600-925971BC1094}" srcOrd="1" destOrd="0" presId="urn:microsoft.com/office/officeart/2018/5/layout/IconCircleLabelList"/>
    <dgm:cxn modelId="{0B9D1D2D-37DE-4576-9CE6-C6005101727D}" type="presParOf" srcId="{D799956A-513B-433E-AB50-B278357539D7}" destId="{8B1697F4-00A5-46D7-A90B-3B17D51E2FC0}" srcOrd="2" destOrd="0" presId="urn:microsoft.com/office/officeart/2018/5/layout/IconCircleLabelList"/>
    <dgm:cxn modelId="{7498F2DF-723D-44BD-BBDC-E28AE76BF3DB}" type="presParOf" srcId="{D799956A-513B-433E-AB50-B278357539D7}" destId="{1802B678-1446-4E1C-83DD-3983002CCD44}"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653D831-F7C3-4AD0-ADF6-084E15177C40}" type="doc">
      <dgm:prSet loTypeId="urn:microsoft.com/office/officeart/2016/7/layout/ChevronBlockProcess" loCatId="process" qsTypeId="urn:microsoft.com/office/officeart/2005/8/quickstyle/simple1" qsCatId="simple" csTypeId="urn:microsoft.com/office/officeart/2005/8/colors/colorful1" csCatId="colorful" phldr="1"/>
      <dgm:spPr/>
      <dgm:t>
        <a:bodyPr/>
        <a:lstStyle/>
        <a:p>
          <a:endParaRPr lang="en-US"/>
        </a:p>
      </dgm:t>
    </dgm:pt>
    <dgm:pt modelId="{0566C69F-2729-4174-BEDC-6C2AD15947B5}">
      <dgm:prSet/>
      <dgm:spPr/>
      <dgm:t>
        <a:bodyPr/>
        <a:lstStyle/>
        <a:p>
          <a:r>
            <a:rPr lang="en-US"/>
            <a:t>Phase 1</a:t>
          </a:r>
        </a:p>
      </dgm:t>
    </dgm:pt>
    <dgm:pt modelId="{CC2E4368-75DC-46A3-B345-1F96627EAD48}" type="parTrans" cxnId="{293729E7-41F0-4561-A0C1-D50C81B6C603}">
      <dgm:prSet/>
      <dgm:spPr/>
      <dgm:t>
        <a:bodyPr/>
        <a:lstStyle/>
        <a:p>
          <a:endParaRPr lang="en-US"/>
        </a:p>
      </dgm:t>
    </dgm:pt>
    <dgm:pt modelId="{355C69C2-3662-4371-A8A9-DF2E03F663D6}" type="sibTrans" cxnId="{293729E7-41F0-4561-A0C1-D50C81B6C603}">
      <dgm:prSet/>
      <dgm:spPr/>
      <dgm:t>
        <a:bodyPr/>
        <a:lstStyle/>
        <a:p>
          <a:endParaRPr lang="en-US"/>
        </a:p>
      </dgm:t>
    </dgm:pt>
    <dgm:pt modelId="{2A2D7C0F-E70C-4D48-A459-CF1A687D9D85}">
      <dgm:prSet/>
      <dgm:spPr/>
      <dgm:t>
        <a:bodyPr/>
        <a:lstStyle/>
        <a:p>
          <a:endParaRPr lang="en-US" dirty="0"/>
        </a:p>
      </dgm:t>
    </dgm:pt>
    <dgm:pt modelId="{2E7488D6-56A3-41D5-AF0C-2CCDCBF26057}" type="parTrans" cxnId="{C7211579-39EC-4DDB-A6B9-64BD70A7F23B}">
      <dgm:prSet/>
      <dgm:spPr/>
      <dgm:t>
        <a:bodyPr/>
        <a:lstStyle/>
        <a:p>
          <a:endParaRPr lang="en-US"/>
        </a:p>
      </dgm:t>
    </dgm:pt>
    <dgm:pt modelId="{CC6A5050-08E7-4DEC-B233-41B413AB27F6}" type="sibTrans" cxnId="{C7211579-39EC-4DDB-A6B9-64BD70A7F23B}">
      <dgm:prSet/>
      <dgm:spPr/>
      <dgm:t>
        <a:bodyPr/>
        <a:lstStyle/>
        <a:p>
          <a:endParaRPr lang="en-US"/>
        </a:p>
      </dgm:t>
    </dgm:pt>
    <dgm:pt modelId="{5F6264FD-BF05-4777-BA2E-00A396A3048F}">
      <dgm:prSet/>
      <dgm:spPr/>
      <dgm:t>
        <a:bodyPr/>
        <a:lstStyle/>
        <a:p>
          <a:r>
            <a:rPr lang="en-US"/>
            <a:t>Data Management</a:t>
          </a:r>
        </a:p>
      </dgm:t>
    </dgm:pt>
    <dgm:pt modelId="{3E9E79B5-1D95-42A4-BEEA-8D9E2A4D8B3B}" type="parTrans" cxnId="{FE6A8E30-4AA2-49BB-99B8-918AF7DFE241}">
      <dgm:prSet/>
      <dgm:spPr/>
      <dgm:t>
        <a:bodyPr/>
        <a:lstStyle/>
        <a:p>
          <a:endParaRPr lang="en-US"/>
        </a:p>
      </dgm:t>
    </dgm:pt>
    <dgm:pt modelId="{FFE03846-FF75-48D5-A066-7C94C45A1E9F}" type="sibTrans" cxnId="{FE6A8E30-4AA2-49BB-99B8-918AF7DFE241}">
      <dgm:prSet/>
      <dgm:spPr/>
      <dgm:t>
        <a:bodyPr/>
        <a:lstStyle/>
        <a:p>
          <a:endParaRPr lang="en-US"/>
        </a:p>
      </dgm:t>
    </dgm:pt>
    <dgm:pt modelId="{5DCEA0F5-BD25-46C1-B60F-8F9038624087}">
      <dgm:prSet/>
      <dgm:spPr/>
      <dgm:t>
        <a:bodyPr/>
        <a:lstStyle/>
        <a:p>
          <a:r>
            <a:rPr lang="en-US"/>
            <a:t>Phase 2</a:t>
          </a:r>
        </a:p>
      </dgm:t>
    </dgm:pt>
    <dgm:pt modelId="{8168E837-063C-4B08-8FD3-7E42804313C8}" type="parTrans" cxnId="{D0E2A996-17AD-4B68-A1C8-B02F253BEF82}">
      <dgm:prSet/>
      <dgm:spPr/>
      <dgm:t>
        <a:bodyPr/>
        <a:lstStyle/>
        <a:p>
          <a:endParaRPr lang="en-US"/>
        </a:p>
      </dgm:t>
    </dgm:pt>
    <dgm:pt modelId="{B78A29B9-6DDC-4D29-ACFD-37753FBF37FB}" type="sibTrans" cxnId="{D0E2A996-17AD-4B68-A1C8-B02F253BEF82}">
      <dgm:prSet/>
      <dgm:spPr/>
      <dgm:t>
        <a:bodyPr/>
        <a:lstStyle/>
        <a:p>
          <a:endParaRPr lang="en-US"/>
        </a:p>
      </dgm:t>
    </dgm:pt>
    <dgm:pt modelId="{E639A257-4122-422C-8E5A-52EC8C0DC4E1}">
      <dgm:prSet/>
      <dgm:spPr/>
      <dgm:t>
        <a:bodyPr/>
        <a:lstStyle/>
        <a:p>
          <a:endParaRPr lang="en-US" dirty="0"/>
        </a:p>
      </dgm:t>
    </dgm:pt>
    <dgm:pt modelId="{8DB9C360-0F66-4D8B-92C5-1B2D4EBD578C}" type="parTrans" cxnId="{66B3B9C9-AF3D-43B5-92C4-5D7CD953405E}">
      <dgm:prSet/>
      <dgm:spPr/>
      <dgm:t>
        <a:bodyPr/>
        <a:lstStyle/>
        <a:p>
          <a:endParaRPr lang="en-US"/>
        </a:p>
      </dgm:t>
    </dgm:pt>
    <dgm:pt modelId="{54D712B7-8EB6-400F-850D-768A79D8D291}" type="sibTrans" cxnId="{66B3B9C9-AF3D-43B5-92C4-5D7CD953405E}">
      <dgm:prSet/>
      <dgm:spPr/>
      <dgm:t>
        <a:bodyPr/>
        <a:lstStyle/>
        <a:p>
          <a:endParaRPr lang="en-US"/>
        </a:p>
      </dgm:t>
    </dgm:pt>
    <dgm:pt modelId="{F5589997-F74E-4AAB-933A-21B9F20E63BB}">
      <dgm:prSet/>
      <dgm:spPr/>
      <dgm:t>
        <a:bodyPr/>
        <a:lstStyle/>
        <a:p>
          <a:r>
            <a:rPr lang="en-US"/>
            <a:t>Exploratory Data Analysis (EDA)</a:t>
          </a:r>
        </a:p>
      </dgm:t>
    </dgm:pt>
    <dgm:pt modelId="{498617BC-3C1D-4CDC-9C7B-959D01CE0401}" type="parTrans" cxnId="{954342BA-4998-4B19-AFA3-1EA5C99DE359}">
      <dgm:prSet/>
      <dgm:spPr/>
      <dgm:t>
        <a:bodyPr/>
        <a:lstStyle/>
        <a:p>
          <a:endParaRPr lang="en-US"/>
        </a:p>
      </dgm:t>
    </dgm:pt>
    <dgm:pt modelId="{7C1A4522-2522-40F1-9D53-B28EBF44361B}" type="sibTrans" cxnId="{954342BA-4998-4B19-AFA3-1EA5C99DE359}">
      <dgm:prSet/>
      <dgm:spPr/>
      <dgm:t>
        <a:bodyPr/>
        <a:lstStyle/>
        <a:p>
          <a:endParaRPr lang="en-US"/>
        </a:p>
      </dgm:t>
    </dgm:pt>
    <dgm:pt modelId="{B61607FD-8C71-42E9-85A9-F75768ADE9D5}">
      <dgm:prSet/>
      <dgm:spPr/>
      <dgm:t>
        <a:bodyPr/>
        <a:lstStyle/>
        <a:p>
          <a:r>
            <a:rPr lang="en-US"/>
            <a:t>Phase 3</a:t>
          </a:r>
        </a:p>
      </dgm:t>
    </dgm:pt>
    <dgm:pt modelId="{8FB2BCC5-C8A2-4C95-8344-381E61057154}" type="parTrans" cxnId="{140DAC58-34C3-4C28-BA14-D557E2DB9BC7}">
      <dgm:prSet/>
      <dgm:spPr/>
      <dgm:t>
        <a:bodyPr/>
        <a:lstStyle/>
        <a:p>
          <a:endParaRPr lang="en-US"/>
        </a:p>
      </dgm:t>
    </dgm:pt>
    <dgm:pt modelId="{69089AA9-D2BB-431C-9A12-965ECF51849A}" type="sibTrans" cxnId="{140DAC58-34C3-4C28-BA14-D557E2DB9BC7}">
      <dgm:prSet/>
      <dgm:spPr/>
      <dgm:t>
        <a:bodyPr/>
        <a:lstStyle/>
        <a:p>
          <a:endParaRPr lang="en-US"/>
        </a:p>
      </dgm:t>
    </dgm:pt>
    <dgm:pt modelId="{37EF55BF-EF2F-478D-97FA-8C9F8FB25633}">
      <dgm:prSet/>
      <dgm:spPr/>
      <dgm:t>
        <a:bodyPr/>
        <a:lstStyle/>
        <a:p>
          <a:endParaRPr lang="en-US" dirty="0"/>
        </a:p>
      </dgm:t>
    </dgm:pt>
    <dgm:pt modelId="{B9A87097-3B12-4DFE-A202-E00B93AAB080}" type="parTrans" cxnId="{B9832D6E-7F52-4482-A5AB-3E08CBE62C24}">
      <dgm:prSet/>
      <dgm:spPr/>
      <dgm:t>
        <a:bodyPr/>
        <a:lstStyle/>
        <a:p>
          <a:endParaRPr lang="en-US"/>
        </a:p>
      </dgm:t>
    </dgm:pt>
    <dgm:pt modelId="{56B0BE9B-A73F-4665-959A-C303FD1DE640}" type="sibTrans" cxnId="{B9832D6E-7F52-4482-A5AB-3E08CBE62C24}">
      <dgm:prSet/>
      <dgm:spPr/>
      <dgm:t>
        <a:bodyPr/>
        <a:lstStyle/>
        <a:p>
          <a:endParaRPr lang="en-US"/>
        </a:p>
      </dgm:t>
    </dgm:pt>
    <dgm:pt modelId="{5FB44C45-526A-44B2-81E7-E3D12E9A084E}">
      <dgm:prSet/>
      <dgm:spPr/>
      <dgm:t>
        <a:bodyPr/>
        <a:lstStyle/>
        <a:p>
          <a:r>
            <a:rPr lang="en-US"/>
            <a:t>Binary Logistic Regression Modeling</a:t>
          </a:r>
        </a:p>
      </dgm:t>
    </dgm:pt>
    <dgm:pt modelId="{6FEE8870-AE3F-411C-A367-B1192EF2D3F0}" type="parTrans" cxnId="{5754325C-4E36-40FB-BD6C-326A2C6A6DFD}">
      <dgm:prSet/>
      <dgm:spPr/>
      <dgm:t>
        <a:bodyPr/>
        <a:lstStyle/>
        <a:p>
          <a:endParaRPr lang="en-US"/>
        </a:p>
      </dgm:t>
    </dgm:pt>
    <dgm:pt modelId="{46026945-CD4B-403E-89EC-84040A3FB916}" type="sibTrans" cxnId="{5754325C-4E36-40FB-BD6C-326A2C6A6DFD}">
      <dgm:prSet/>
      <dgm:spPr/>
      <dgm:t>
        <a:bodyPr/>
        <a:lstStyle/>
        <a:p>
          <a:endParaRPr lang="en-US"/>
        </a:p>
      </dgm:t>
    </dgm:pt>
    <dgm:pt modelId="{3C35E78E-A12B-4AA6-8F65-98595856FDB8}">
      <dgm:prSet/>
      <dgm:spPr/>
      <dgm:t>
        <a:bodyPr/>
        <a:lstStyle/>
        <a:p>
          <a:r>
            <a:rPr lang="en-US"/>
            <a:t>Phase 4</a:t>
          </a:r>
        </a:p>
      </dgm:t>
    </dgm:pt>
    <dgm:pt modelId="{BBE804D1-EAE5-4E00-978C-6FA58DD014F8}" type="parTrans" cxnId="{A5577D59-739A-46D4-B0F8-FCAF39E603E3}">
      <dgm:prSet/>
      <dgm:spPr/>
      <dgm:t>
        <a:bodyPr/>
        <a:lstStyle/>
        <a:p>
          <a:endParaRPr lang="en-US"/>
        </a:p>
      </dgm:t>
    </dgm:pt>
    <dgm:pt modelId="{91E16644-68ED-461E-93E7-C9AAC21FAB23}" type="sibTrans" cxnId="{A5577D59-739A-46D4-B0F8-FCAF39E603E3}">
      <dgm:prSet/>
      <dgm:spPr/>
      <dgm:t>
        <a:bodyPr/>
        <a:lstStyle/>
        <a:p>
          <a:endParaRPr lang="en-US"/>
        </a:p>
      </dgm:t>
    </dgm:pt>
    <dgm:pt modelId="{F5C55BAE-CD7A-4488-A2BA-D7885ADDE7CE}">
      <dgm:prSet/>
      <dgm:spPr/>
      <dgm:t>
        <a:bodyPr/>
        <a:lstStyle/>
        <a:p>
          <a:endParaRPr lang="en-US" dirty="0"/>
        </a:p>
      </dgm:t>
    </dgm:pt>
    <dgm:pt modelId="{30A01F9A-1836-4EFF-87BF-294AC7272839}" type="parTrans" cxnId="{F819B166-63DD-42B3-8D53-F8C9B6AA6540}">
      <dgm:prSet/>
      <dgm:spPr/>
      <dgm:t>
        <a:bodyPr/>
        <a:lstStyle/>
        <a:p>
          <a:endParaRPr lang="en-US"/>
        </a:p>
      </dgm:t>
    </dgm:pt>
    <dgm:pt modelId="{85EB8C2E-ABFA-427B-AC01-C7E15B36698D}" type="sibTrans" cxnId="{F819B166-63DD-42B3-8D53-F8C9B6AA6540}">
      <dgm:prSet/>
      <dgm:spPr/>
      <dgm:t>
        <a:bodyPr/>
        <a:lstStyle/>
        <a:p>
          <a:endParaRPr lang="en-US"/>
        </a:p>
      </dgm:t>
    </dgm:pt>
    <dgm:pt modelId="{D23F556D-9018-4130-88D1-B109F6E3EA90}">
      <dgm:prSet/>
      <dgm:spPr/>
      <dgm:t>
        <a:bodyPr/>
        <a:lstStyle/>
        <a:p>
          <a:r>
            <a:rPr lang="en-US"/>
            <a:t>Machine Learning Comparison</a:t>
          </a:r>
        </a:p>
      </dgm:t>
    </dgm:pt>
    <dgm:pt modelId="{D2E494DE-3AC6-4311-B3DE-16FE76D05141}" type="parTrans" cxnId="{8319C064-A951-4F33-A377-B378A3E5C800}">
      <dgm:prSet/>
      <dgm:spPr/>
      <dgm:t>
        <a:bodyPr/>
        <a:lstStyle/>
        <a:p>
          <a:endParaRPr lang="en-US"/>
        </a:p>
      </dgm:t>
    </dgm:pt>
    <dgm:pt modelId="{5114F981-9E38-4061-A87E-49AFF8ED1E24}" type="sibTrans" cxnId="{8319C064-A951-4F33-A377-B378A3E5C800}">
      <dgm:prSet/>
      <dgm:spPr/>
      <dgm:t>
        <a:bodyPr/>
        <a:lstStyle/>
        <a:p>
          <a:endParaRPr lang="en-US"/>
        </a:p>
      </dgm:t>
    </dgm:pt>
    <dgm:pt modelId="{7E5BC6AE-2A85-430A-AB93-DF552AC54519}">
      <dgm:prSet/>
      <dgm:spPr/>
      <dgm:t>
        <a:bodyPr/>
        <a:lstStyle/>
        <a:p>
          <a:r>
            <a:rPr lang="en-US"/>
            <a:t>Phase 5</a:t>
          </a:r>
        </a:p>
      </dgm:t>
    </dgm:pt>
    <dgm:pt modelId="{F1A05317-2018-472F-AB3E-CA46ECF10ECF}" type="parTrans" cxnId="{143EE18A-2BC1-44AC-8103-9F14411BDCAD}">
      <dgm:prSet/>
      <dgm:spPr/>
      <dgm:t>
        <a:bodyPr/>
        <a:lstStyle/>
        <a:p>
          <a:endParaRPr lang="en-US"/>
        </a:p>
      </dgm:t>
    </dgm:pt>
    <dgm:pt modelId="{92E04267-7169-401B-A37C-A11EEF6E1E38}" type="sibTrans" cxnId="{143EE18A-2BC1-44AC-8103-9F14411BDCAD}">
      <dgm:prSet/>
      <dgm:spPr/>
      <dgm:t>
        <a:bodyPr/>
        <a:lstStyle/>
        <a:p>
          <a:endParaRPr lang="en-US"/>
        </a:p>
      </dgm:t>
    </dgm:pt>
    <dgm:pt modelId="{C83FF36E-AB9A-44BA-8A3A-BEE001D9A354}">
      <dgm:prSet/>
      <dgm:spPr/>
      <dgm:t>
        <a:bodyPr/>
        <a:lstStyle/>
        <a:p>
          <a:endParaRPr lang="en-US" dirty="0"/>
        </a:p>
      </dgm:t>
    </dgm:pt>
    <dgm:pt modelId="{F49F1702-D741-44B2-ABB2-B470567AC243}" type="parTrans" cxnId="{9DDF91A6-FE76-4B18-991A-0347A5BCF868}">
      <dgm:prSet/>
      <dgm:spPr/>
      <dgm:t>
        <a:bodyPr/>
        <a:lstStyle/>
        <a:p>
          <a:endParaRPr lang="en-US"/>
        </a:p>
      </dgm:t>
    </dgm:pt>
    <dgm:pt modelId="{3ED50371-91FC-444E-B54B-142B71ABF1A2}" type="sibTrans" cxnId="{9DDF91A6-FE76-4B18-991A-0347A5BCF868}">
      <dgm:prSet/>
      <dgm:spPr/>
      <dgm:t>
        <a:bodyPr/>
        <a:lstStyle/>
        <a:p>
          <a:endParaRPr lang="en-US"/>
        </a:p>
      </dgm:t>
    </dgm:pt>
    <dgm:pt modelId="{5D0CEED3-A122-4350-A90D-60FE4D2C9278}">
      <dgm:prSet/>
      <dgm:spPr/>
      <dgm:t>
        <a:bodyPr/>
        <a:lstStyle/>
        <a:p>
          <a:r>
            <a:rPr lang="en-US"/>
            <a:t>Text Mining Analysis</a:t>
          </a:r>
        </a:p>
      </dgm:t>
    </dgm:pt>
    <dgm:pt modelId="{3DCBB904-A6AD-40E1-881C-21E34C688865}" type="parTrans" cxnId="{0A2A946F-FA84-4135-A5FA-DF47C53D7AFE}">
      <dgm:prSet/>
      <dgm:spPr/>
      <dgm:t>
        <a:bodyPr/>
        <a:lstStyle/>
        <a:p>
          <a:endParaRPr lang="en-US"/>
        </a:p>
      </dgm:t>
    </dgm:pt>
    <dgm:pt modelId="{EB9F248C-2626-4A92-BDEC-47A843638ECD}" type="sibTrans" cxnId="{0A2A946F-FA84-4135-A5FA-DF47C53D7AFE}">
      <dgm:prSet/>
      <dgm:spPr/>
      <dgm:t>
        <a:bodyPr/>
        <a:lstStyle/>
        <a:p>
          <a:endParaRPr lang="en-US"/>
        </a:p>
      </dgm:t>
    </dgm:pt>
    <dgm:pt modelId="{8CA1E25C-D7AD-499E-BED3-8684BCE8011B}" type="pres">
      <dgm:prSet presAssocID="{D653D831-F7C3-4AD0-ADF6-084E15177C40}" presName="Name0" presStyleCnt="0">
        <dgm:presLayoutVars>
          <dgm:dir/>
          <dgm:animLvl val="lvl"/>
          <dgm:resizeHandles val="exact"/>
        </dgm:presLayoutVars>
      </dgm:prSet>
      <dgm:spPr/>
    </dgm:pt>
    <dgm:pt modelId="{EAD20BE0-CB46-432A-8CB2-5EADB336A363}" type="pres">
      <dgm:prSet presAssocID="{0566C69F-2729-4174-BEDC-6C2AD15947B5}" presName="composite" presStyleCnt="0"/>
      <dgm:spPr/>
    </dgm:pt>
    <dgm:pt modelId="{06794C02-ED3F-4C40-818C-34791F3589D3}" type="pres">
      <dgm:prSet presAssocID="{0566C69F-2729-4174-BEDC-6C2AD15947B5}" presName="parTx" presStyleLbl="alignNode1" presStyleIdx="0" presStyleCnt="5">
        <dgm:presLayoutVars>
          <dgm:chMax val="0"/>
          <dgm:chPref val="0"/>
        </dgm:presLayoutVars>
      </dgm:prSet>
      <dgm:spPr/>
    </dgm:pt>
    <dgm:pt modelId="{97538F0B-5C70-46AD-A92E-2D9726157F97}" type="pres">
      <dgm:prSet presAssocID="{0566C69F-2729-4174-BEDC-6C2AD15947B5}" presName="desTx" presStyleLbl="alignAccFollowNode1" presStyleIdx="0" presStyleCnt="5">
        <dgm:presLayoutVars/>
      </dgm:prSet>
      <dgm:spPr/>
    </dgm:pt>
    <dgm:pt modelId="{90989253-11E0-459F-96DC-14CBAB758A89}" type="pres">
      <dgm:prSet presAssocID="{355C69C2-3662-4371-A8A9-DF2E03F663D6}" presName="space" presStyleCnt="0"/>
      <dgm:spPr/>
    </dgm:pt>
    <dgm:pt modelId="{9CF8C777-873F-4CFC-978C-301B591BA939}" type="pres">
      <dgm:prSet presAssocID="{5DCEA0F5-BD25-46C1-B60F-8F9038624087}" presName="composite" presStyleCnt="0"/>
      <dgm:spPr/>
    </dgm:pt>
    <dgm:pt modelId="{0D5B2275-AB55-4BA7-9519-DDA9145C9F6E}" type="pres">
      <dgm:prSet presAssocID="{5DCEA0F5-BD25-46C1-B60F-8F9038624087}" presName="parTx" presStyleLbl="alignNode1" presStyleIdx="1" presStyleCnt="5">
        <dgm:presLayoutVars>
          <dgm:chMax val="0"/>
          <dgm:chPref val="0"/>
        </dgm:presLayoutVars>
      </dgm:prSet>
      <dgm:spPr/>
    </dgm:pt>
    <dgm:pt modelId="{E18A421E-C1F4-46D7-9351-3FA317D564AA}" type="pres">
      <dgm:prSet presAssocID="{5DCEA0F5-BD25-46C1-B60F-8F9038624087}" presName="desTx" presStyleLbl="alignAccFollowNode1" presStyleIdx="1" presStyleCnt="5">
        <dgm:presLayoutVars/>
      </dgm:prSet>
      <dgm:spPr/>
    </dgm:pt>
    <dgm:pt modelId="{749BC201-678E-4FA5-9377-B5E55F7B6135}" type="pres">
      <dgm:prSet presAssocID="{B78A29B9-6DDC-4D29-ACFD-37753FBF37FB}" presName="space" presStyleCnt="0"/>
      <dgm:spPr/>
    </dgm:pt>
    <dgm:pt modelId="{96883ABB-D04E-44D3-A8C1-9A8AE4DA8F86}" type="pres">
      <dgm:prSet presAssocID="{B61607FD-8C71-42E9-85A9-F75768ADE9D5}" presName="composite" presStyleCnt="0"/>
      <dgm:spPr/>
    </dgm:pt>
    <dgm:pt modelId="{1000C6E5-1E7C-44E3-87A0-C347C0206093}" type="pres">
      <dgm:prSet presAssocID="{B61607FD-8C71-42E9-85A9-F75768ADE9D5}" presName="parTx" presStyleLbl="alignNode1" presStyleIdx="2" presStyleCnt="5">
        <dgm:presLayoutVars>
          <dgm:chMax val="0"/>
          <dgm:chPref val="0"/>
        </dgm:presLayoutVars>
      </dgm:prSet>
      <dgm:spPr/>
    </dgm:pt>
    <dgm:pt modelId="{DD26709B-6574-40EF-ACA5-84E858C0E7BC}" type="pres">
      <dgm:prSet presAssocID="{B61607FD-8C71-42E9-85A9-F75768ADE9D5}" presName="desTx" presStyleLbl="alignAccFollowNode1" presStyleIdx="2" presStyleCnt="5">
        <dgm:presLayoutVars/>
      </dgm:prSet>
      <dgm:spPr/>
    </dgm:pt>
    <dgm:pt modelId="{959DB58E-66BE-447A-BAA2-3025E0C20C52}" type="pres">
      <dgm:prSet presAssocID="{69089AA9-D2BB-431C-9A12-965ECF51849A}" presName="space" presStyleCnt="0"/>
      <dgm:spPr/>
    </dgm:pt>
    <dgm:pt modelId="{F9F01E6E-B512-44DD-A375-01DCE7F6B710}" type="pres">
      <dgm:prSet presAssocID="{3C35E78E-A12B-4AA6-8F65-98595856FDB8}" presName="composite" presStyleCnt="0"/>
      <dgm:spPr/>
    </dgm:pt>
    <dgm:pt modelId="{3DBC1740-B1E5-401B-8983-BE2104B191D3}" type="pres">
      <dgm:prSet presAssocID="{3C35E78E-A12B-4AA6-8F65-98595856FDB8}" presName="parTx" presStyleLbl="alignNode1" presStyleIdx="3" presStyleCnt="5">
        <dgm:presLayoutVars>
          <dgm:chMax val="0"/>
          <dgm:chPref val="0"/>
        </dgm:presLayoutVars>
      </dgm:prSet>
      <dgm:spPr/>
    </dgm:pt>
    <dgm:pt modelId="{04066C28-B17E-4D1C-B5E5-9DCC0170CE2B}" type="pres">
      <dgm:prSet presAssocID="{3C35E78E-A12B-4AA6-8F65-98595856FDB8}" presName="desTx" presStyleLbl="alignAccFollowNode1" presStyleIdx="3" presStyleCnt="5">
        <dgm:presLayoutVars/>
      </dgm:prSet>
      <dgm:spPr/>
    </dgm:pt>
    <dgm:pt modelId="{ED69FF56-CFAB-41BF-98C2-B343493211DF}" type="pres">
      <dgm:prSet presAssocID="{91E16644-68ED-461E-93E7-C9AAC21FAB23}" presName="space" presStyleCnt="0"/>
      <dgm:spPr/>
    </dgm:pt>
    <dgm:pt modelId="{A1B93469-C68E-4296-98D0-349CD8C433DF}" type="pres">
      <dgm:prSet presAssocID="{7E5BC6AE-2A85-430A-AB93-DF552AC54519}" presName="composite" presStyleCnt="0"/>
      <dgm:spPr/>
    </dgm:pt>
    <dgm:pt modelId="{95726F78-F2D0-4636-A830-53B4EBFEF901}" type="pres">
      <dgm:prSet presAssocID="{7E5BC6AE-2A85-430A-AB93-DF552AC54519}" presName="parTx" presStyleLbl="alignNode1" presStyleIdx="4" presStyleCnt="5">
        <dgm:presLayoutVars>
          <dgm:chMax val="0"/>
          <dgm:chPref val="0"/>
        </dgm:presLayoutVars>
      </dgm:prSet>
      <dgm:spPr/>
    </dgm:pt>
    <dgm:pt modelId="{64D8039E-1A4A-49C0-9E2F-E1942B8FC98A}" type="pres">
      <dgm:prSet presAssocID="{7E5BC6AE-2A85-430A-AB93-DF552AC54519}" presName="desTx" presStyleLbl="alignAccFollowNode1" presStyleIdx="4" presStyleCnt="5">
        <dgm:presLayoutVars/>
      </dgm:prSet>
      <dgm:spPr/>
    </dgm:pt>
  </dgm:ptLst>
  <dgm:cxnLst>
    <dgm:cxn modelId="{E3D6CA0E-9F30-4ADD-97B5-FDA244967A46}" type="presOf" srcId="{F5589997-F74E-4AAB-933A-21B9F20E63BB}" destId="{E18A421E-C1F4-46D7-9351-3FA317D564AA}" srcOrd="0" destOrd="1" presId="urn:microsoft.com/office/officeart/2016/7/layout/ChevronBlockProcess"/>
    <dgm:cxn modelId="{FE6A8E30-4AA2-49BB-99B8-918AF7DFE241}" srcId="{2A2D7C0F-E70C-4D48-A459-CF1A687D9D85}" destId="{5F6264FD-BF05-4777-BA2E-00A396A3048F}" srcOrd="0" destOrd="0" parTransId="{3E9E79B5-1D95-42A4-BEEA-8D9E2A4D8B3B}" sibTransId="{FFE03846-FF75-48D5-A066-7C94C45A1E9F}"/>
    <dgm:cxn modelId="{4A228333-99AD-4EAB-81DA-8262AFC08297}" type="presOf" srcId="{E639A257-4122-422C-8E5A-52EC8C0DC4E1}" destId="{E18A421E-C1F4-46D7-9351-3FA317D564AA}" srcOrd="0" destOrd="0" presId="urn:microsoft.com/office/officeart/2016/7/layout/ChevronBlockProcess"/>
    <dgm:cxn modelId="{FA6F7835-4E4A-4060-858D-3951C342992B}" type="presOf" srcId="{37EF55BF-EF2F-478D-97FA-8C9F8FB25633}" destId="{DD26709B-6574-40EF-ACA5-84E858C0E7BC}" srcOrd="0" destOrd="0" presId="urn:microsoft.com/office/officeart/2016/7/layout/ChevronBlockProcess"/>
    <dgm:cxn modelId="{5754325C-4E36-40FB-BD6C-326A2C6A6DFD}" srcId="{37EF55BF-EF2F-478D-97FA-8C9F8FB25633}" destId="{5FB44C45-526A-44B2-81E7-E3D12E9A084E}" srcOrd="0" destOrd="0" parTransId="{6FEE8870-AE3F-411C-A367-B1192EF2D3F0}" sibTransId="{46026945-CD4B-403E-89EC-84040A3FB916}"/>
    <dgm:cxn modelId="{18AC8D42-ACAB-41B8-B072-BC94660D1643}" type="presOf" srcId="{7E5BC6AE-2A85-430A-AB93-DF552AC54519}" destId="{95726F78-F2D0-4636-A830-53B4EBFEF901}" srcOrd="0" destOrd="0" presId="urn:microsoft.com/office/officeart/2016/7/layout/ChevronBlockProcess"/>
    <dgm:cxn modelId="{8319C064-A951-4F33-A377-B378A3E5C800}" srcId="{F5C55BAE-CD7A-4488-A2BA-D7885ADDE7CE}" destId="{D23F556D-9018-4130-88D1-B109F6E3EA90}" srcOrd="0" destOrd="0" parTransId="{D2E494DE-3AC6-4311-B3DE-16FE76D05141}" sibTransId="{5114F981-9E38-4061-A87E-49AFF8ED1E24}"/>
    <dgm:cxn modelId="{F819B166-63DD-42B3-8D53-F8C9B6AA6540}" srcId="{3C35E78E-A12B-4AA6-8F65-98595856FDB8}" destId="{F5C55BAE-CD7A-4488-A2BA-D7885ADDE7CE}" srcOrd="0" destOrd="0" parTransId="{30A01F9A-1836-4EFF-87BF-294AC7272839}" sibTransId="{85EB8C2E-ABFA-427B-AC01-C7E15B36698D}"/>
    <dgm:cxn modelId="{26ACEF48-AC35-492B-BED7-63D14A4B3C83}" type="presOf" srcId="{0566C69F-2729-4174-BEDC-6C2AD15947B5}" destId="{06794C02-ED3F-4C40-818C-34791F3589D3}" srcOrd="0" destOrd="0" presId="urn:microsoft.com/office/officeart/2016/7/layout/ChevronBlockProcess"/>
    <dgm:cxn modelId="{AC17916C-B8AA-485A-B7ED-87FBBE091914}" type="presOf" srcId="{2A2D7C0F-E70C-4D48-A459-CF1A687D9D85}" destId="{97538F0B-5C70-46AD-A92E-2D9726157F97}" srcOrd="0" destOrd="0" presId="urn:microsoft.com/office/officeart/2016/7/layout/ChevronBlockProcess"/>
    <dgm:cxn modelId="{B9832D6E-7F52-4482-A5AB-3E08CBE62C24}" srcId="{B61607FD-8C71-42E9-85A9-F75768ADE9D5}" destId="{37EF55BF-EF2F-478D-97FA-8C9F8FB25633}" srcOrd="0" destOrd="0" parTransId="{B9A87097-3B12-4DFE-A202-E00B93AAB080}" sibTransId="{56B0BE9B-A73F-4665-959A-C303FD1DE640}"/>
    <dgm:cxn modelId="{0A2A946F-FA84-4135-A5FA-DF47C53D7AFE}" srcId="{C83FF36E-AB9A-44BA-8A3A-BEE001D9A354}" destId="{5D0CEED3-A122-4350-A90D-60FE4D2C9278}" srcOrd="0" destOrd="0" parTransId="{3DCBB904-A6AD-40E1-881C-21E34C688865}" sibTransId="{EB9F248C-2626-4A92-BDEC-47A843638ECD}"/>
    <dgm:cxn modelId="{9FF23070-AAD3-4BCE-BE5E-BCA34E79EC54}" type="presOf" srcId="{5DCEA0F5-BD25-46C1-B60F-8F9038624087}" destId="{0D5B2275-AB55-4BA7-9519-DDA9145C9F6E}" srcOrd="0" destOrd="0" presId="urn:microsoft.com/office/officeart/2016/7/layout/ChevronBlockProcess"/>
    <dgm:cxn modelId="{6844E953-D10C-4AE3-BEB0-DF1B9F750D55}" type="presOf" srcId="{B61607FD-8C71-42E9-85A9-F75768ADE9D5}" destId="{1000C6E5-1E7C-44E3-87A0-C347C0206093}" srcOrd="0" destOrd="0" presId="urn:microsoft.com/office/officeart/2016/7/layout/ChevronBlockProcess"/>
    <dgm:cxn modelId="{140DAC58-34C3-4C28-BA14-D557E2DB9BC7}" srcId="{D653D831-F7C3-4AD0-ADF6-084E15177C40}" destId="{B61607FD-8C71-42E9-85A9-F75768ADE9D5}" srcOrd="2" destOrd="0" parTransId="{8FB2BCC5-C8A2-4C95-8344-381E61057154}" sibTransId="{69089AA9-D2BB-431C-9A12-965ECF51849A}"/>
    <dgm:cxn modelId="{C7211579-39EC-4DDB-A6B9-64BD70A7F23B}" srcId="{0566C69F-2729-4174-BEDC-6C2AD15947B5}" destId="{2A2D7C0F-E70C-4D48-A459-CF1A687D9D85}" srcOrd="0" destOrd="0" parTransId="{2E7488D6-56A3-41D5-AF0C-2CCDCBF26057}" sibTransId="{CC6A5050-08E7-4DEC-B233-41B413AB27F6}"/>
    <dgm:cxn modelId="{A5577D59-739A-46D4-B0F8-FCAF39E603E3}" srcId="{D653D831-F7C3-4AD0-ADF6-084E15177C40}" destId="{3C35E78E-A12B-4AA6-8F65-98595856FDB8}" srcOrd="3" destOrd="0" parTransId="{BBE804D1-EAE5-4E00-978C-6FA58DD014F8}" sibTransId="{91E16644-68ED-461E-93E7-C9AAC21FAB23}"/>
    <dgm:cxn modelId="{DD91C382-5B41-4C4A-BE60-7E34DDD41D44}" type="presOf" srcId="{D653D831-F7C3-4AD0-ADF6-084E15177C40}" destId="{8CA1E25C-D7AD-499E-BED3-8684BCE8011B}" srcOrd="0" destOrd="0" presId="urn:microsoft.com/office/officeart/2016/7/layout/ChevronBlockProcess"/>
    <dgm:cxn modelId="{143EE18A-2BC1-44AC-8103-9F14411BDCAD}" srcId="{D653D831-F7C3-4AD0-ADF6-084E15177C40}" destId="{7E5BC6AE-2A85-430A-AB93-DF552AC54519}" srcOrd="4" destOrd="0" parTransId="{F1A05317-2018-472F-AB3E-CA46ECF10ECF}" sibTransId="{92E04267-7169-401B-A37C-A11EEF6E1E38}"/>
    <dgm:cxn modelId="{D0E2A996-17AD-4B68-A1C8-B02F253BEF82}" srcId="{D653D831-F7C3-4AD0-ADF6-084E15177C40}" destId="{5DCEA0F5-BD25-46C1-B60F-8F9038624087}" srcOrd="1" destOrd="0" parTransId="{8168E837-063C-4B08-8FD3-7E42804313C8}" sibTransId="{B78A29B9-6DDC-4D29-ACFD-37753FBF37FB}"/>
    <dgm:cxn modelId="{1B3D289C-8674-4CA1-8213-599B582B2038}" type="presOf" srcId="{D23F556D-9018-4130-88D1-B109F6E3EA90}" destId="{04066C28-B17E-4D1C-B5E5-9DCC0170CE2B}" srcOrd="0" destOrd="1" presId="urn:microsoft.com/office/officeart/2016/7/layout/ChevronBlockProcess"/>
    <dgm:cxn modelId="{9DDF91A6-FE76-4B18-991A-0347A5BCF868}" srcId="{7E5BC6AE-2A85-430A-AB93-DF552AC54519}" destId="{C83FF36E-AB9A-44BA-8A3A-BEE001D9A354}" srcOrd="0" destOrd="0" parTransId="{F49F1702-D741-44B2-ABB2-B470567AC243}" sibTransId="{3ED50371-91FC-444E-B54B-142B71ABF1A2}"/>
    <dgm:cxn modelId="{954342BA-4998-4B19-AFA3-1EA5C99DE359}" srcId="{E639A257-4122-422C-8E5A-52EC8C0DC4E1}" destId="{F5589997-F74E-4AAB-933A-21B9F20E63BB}" srcOrd="0" destOrd="0" parTransId="{498617BC-3C1D-4CDC-9C7B-959D01CE0401}" sibTransId="{7C1A4522-2522-40F1-9D53-B28EBF44361B}"/>
    <dgm:cxn modelId="{0F0B17C4-5BA9-4F96-9231-5362307D75FC}" type="presOf" srcId="{F5C55BAE-CD7A-4488-A2BA-D7885ADDE7CE}" destId="{04066C28-B17E-4D1C-B5E5-9DCC0170CE2B}" srcOrd="0" destOrd="0" presId="urn:microsoft.com/office/officeart/2016/7/layout/ChevronBlockProcess"/>
    <dgm:cxn modelId="{704F5FC8-1D81-45CE-B291-5C73BADE4D77}" type="presOf" srcId="{5FB44C45-526A-44B2-81E7-E3D12E9A084E}" destId="{DD26709B-6574-40EF-ACA5-84E858C0E7BC}" srcOrd="0" destOrd="1" presId="urn:microsoft.com/office/officeart/2016/7/layout/ChevronBlockProcess"/>
    <dgm:cxn modelId="{66B3B9C9-AF3D-43B5-92C4-5D7CD953405E}" srcId="{5DCEA0F5-BD25-46C1-B60F-8F9038624087}" destId="{E639A257-4122-422C-8E5A-52EC8C0DC4E1}" srcOrd="0" destOrd="0" parTransId="{8DB9C360-0F66-4D8B-92C5-1B2D4EBD578C}" sibTransId="{54D712B7-8EB6-400F-850D-768A79D8D291}"/>
    <dgm:cxn modelId="{84DD7DDA-2359-461D-A0ED-E8E40250C24A}" type="presOf" srcId="{5F6264FD-BF05-4777-BA2E-00A396A3048F}" destId="{97538F0B-5C70-46AD-A92E-2D9726157F97}" srcOrd="0" destOrd="1" presId="urn:microsoft.com/office/officeart/2016/7/layout/ChevronBlockProcess"/>
    <dgm:cxn modelId="{210697DF-2E2E-4CDD-B5C1-A513DAECAA84}" type="presOf" srcId="{3C35E78E-A12B-4AA6-8F65-98595856FDB8}" destId="{3DBC1740-B1E5-401B-8983-BE2104B191D3}" srcOrd="0" destOrd="0" presId="urn:microsoft.com/office/officeart/2016/7/layout/ChevronBlockProcess"/>
    <dgm:cxn modelId="{5C562EE2-B90F-49F8-B613-0E394899477B}" type="presOf" srcId="{5D0CEED3-A122-4350-A90D-60FE4D2C9278}" destId="{64D8039E-1A4A-49C0-9E2F-E1942B8FC98A}" srcOrd="0" destOrd="1" presId="urn:microsoft.com/office/officeart/2016/7/layout/ChevronBlockProcess"/>
    <dgm:cxn modelId="{293729E7-41F0-4561-A0C1-D50C81B6C603}" srcId="{D653D831-F7C3-4AD0-ADF6-084E15177C40}" destId="{0566C69F-2729-4174-BEDC-6C2AD15947B5}" srcOrd="0" destOrd="0" parTransId="{CC2E4368-75DC-46A3-B345-1F96627EAD48}" sibTransId="{355C69C2-3662-4371-A8A9-DF2E03F663D6}"/>
    <dgm:cxn modelId="{5FE5A9F3-CFF7-4C60-9812-71AFED52B570}" type="presOf" srcId="{C83FF36E-AB9A-44BA-8A3A-BEE001D9A354}" destId="{64D8039E-1A4A-49C0-9E2F-E1942B8FC98A}" srcOrd="0" destOrd="0" presId="urn:microsoft.com/office/officeart/2016/7/layout/ChevronBlockProcess"/>
    <dgm:cxn modelId="{85838C71-4B19-4F9B-A6AE-AA1723477713}" type="presParOf" srcId="{8CA1E25C-D7AD-499E-BED3-8684BCE8011B}" destId="{EAD20BE0-CB46-432A-8CB2-5EADB336A363}" srcOrd="0" destOrd="0" presId="urn:microsoft.com/office/officeart/2016/7/layout/ChevronBlockProcess"/>
    <dgm:cxn modelId="{3AD97A22-0AB5-4CC2-8951-132CD54BCEC3}" type="presParOf" srcId="{EAD20BE0-CB46-432A-8CB2-5EADB336A363}" destId="{06794C02-ED3F-4C40-818C-34791F3589D3}" srcOrd="0" destOrd="0" presId="urn:microsoft.com/office/officeart/2016/7/layout/ChevronBlockProcess"/>
    <dgm:cxn modelId="{F591F73B-1D9D-428C-B46B-8392B5F64A74}" type="presParOf" srcId="{EAD20BE0-CB46-432A-8CB2-5EADB336A363}" destId="{97538F0B-5C70-46AD-A92E-2D9726157F97}" srcOrd="1" destOrd="0" presId="urn:microsoft.com/office/officeart/2016/7/layout/ChevronBlockProcess"/>
    <dgm:cxn modelId="{2B8A2D53-CAAB-40E5-BD06-92144C9411EB}" type="presParOf" srcId="{8CA1E25C-D7AD-499E-BED3-8684BCE8011B}" destId="{90989253-11E0-459F-96DC-14CBAB758A89}" srcOrd="1" destOrd="0" presId="urn:microsoft.com/office/officeart/2016/7/layout/ChevronBlockProcess"/>
    <dgm:cxn modelId="{13A874F3-52C3-46FD-A02E-22CEF502F1C8}" type="presParOf" srcId="{8CA1E25C-D7AD-499E-BED3-8684BCE8011B}" destId="{9CF8C777-873F-4CFC-978C-301B591BA939}" srcOrd="2" destOrd="0" presId="urn:microsoft.com/office/officeart/2016/7/layout/ChevronBlockProcess"/>
    <dgm:cxn modelId="{43EC346F-1195-4C9A-9DE5-9A47BD70CD5F}" type="presParOf" srcId="{9CF8C777-873F-4CFC-978C-301B591BA939}" destId="{0D5B2275-AB55-4BA7-9519-DDA9145C9F6E}" srcOrd="0" destOrd="0" presId="urn:microsoft.com/office/officeart/2016/7/layout/ChevronBlockProcess"/>
    <dgm:cxn modelId="{C825937A-172B-4FFA-B82F-E16494AD810F}" type="presParOf" srcId="{9CF8C777-873F-4CFC-978C-301B591BA939}" destId="{E18A421E-C1F4-46D7-9351-3FA317D564AA}" srcOrd="1" destOrd="0" presId="urn:microsoft.com/office/officeart/2016/7/layout/ChevronBlockProcess"/>
    <dgm:cxn modelId="{EE319BF9-FB80-4513-AF13-FC7158B9046A}" type="presParOf" srcId="{8CA1E25C-D7AD-499E-BED3-8684BCE8011B}" destId="{749BC201-678E-4FA5-9377-B5E55F7B6135}" srcOrd="3" destOrd="0" presId="urn:microsoft.com/office/officeart/2016/7/layout/ChevronBlockProcess"/>
    <dgm:cxn modelId="{AD1056D0-1F12-4815-91B6-7DEE2F1B63BC}" type="presParOf" srcId="{8CA1E25C-D7AD-499E-BED3-8684BCE8011B}" destId="{96883ABB-D04E-44D3-A8C1-9A8AE4DA8F86}" srcOrd="4" destOrd="0" presId="urn:microsoft.com/office/officeart/2016/7/layout/ChevronBlockProcess"/>
    <dgm:cxn modelId="{041F7A7E-A49D-4A44-A459-A21B76954C8C}" type="presParOf" srcId="{96883ABB-D04E-44D3-A8C1-9A8AE4DA8F86}" destId="{1000C6E5-1E7C-44E3-87A0-C347C0206093}" srcOrd="0" destOrd="0" presId="urn:microsoft.com/office/officeart/2016/7/layout/ChevronBlockProcess"/>
    <dgm:cxn modelId="{693EE0BB-1539-4D68-85AE-F0C6240B87CB}" type="presParOf" srcId="{96883ABB-D04E-44D3-A8C1-9A8AE4DA8F86}" destId="{DD26709B-6574-40EF-ACA5-84E858C0E7BC}" srcOrd="1" destOrd="0" presId="urn:microsoft.com/office/officeart/2016/7/layout/ChevronBlockProcess"/>
    <dgm:cxn modelId="{D9334D92-D1DE-4CC2-BCBE-DDA8D1791511}" type="presParOf" srcId="{8CA1E25C-D7AD-499E-BED3-8684BCE8011B}" destId="{959DB58E-66BE-447A-BAA2-3025E0C20C52}" srcOrd="5" destOrd="0" presId="urn:microsoft.com/office/officeart/2016/7/layout/ChevronBlockProcess"/>
    <dgm:cxn modelId="{134C3F34-AADB-403E-9869-1ABDDA72639A}" type="presParOf" srcId="{8CA1E25C-D7AD-499E-BED3-8684BCE8011B}" destId="{F9F01E6E-B512-44DD-A375-01DCE7F6B710}" srcOrd="6" destOrd="0" presId="urn:microsoft.com/office/officeart/2016/7/layout/ChevronBlockProcess"/>
    <dgm:cxn modelId="{4076AE78-3C73-43D8-A264-82DAF473413E}" type="presParOf" srcId="{F9F01E6E-B512-44DD-A375-01DCE7F6B710}" destId="{3DBC1740-B1E5-401B-8983-BE2104B191D3}" srcOrd="0" destOrd="0" presId="urn:microsoft.com/office/officeart/2016/7/layout/ChevronBlockProcess"/>
    <dgm:cxn modelId="{0C475962-1FBC-4577-BB3A-BBC0F85B23E5}" type="presParOf" srcId="{F9F01E6E-B512-44DD-A375-01DCE7F6B710}" destId="{04066C28-B17E-4D1C-B5E5-9DCC0170CE2B}" srcOrd="1" destOrd="0" presId="urn:microsoft.com/office/officeart/2016/7/layout/ChevronBlockProcess"/>
    <dgm:cxn modelId="{90B3399F-9C23-446E-B68D-F18F2223747A}" type="presParOf" srcId="{8CA1E25C-D7AD-499E-BED3-8684BCE8011B}" destId="{ED69FF56-CFAB-41BF-98C2-B343493211DF}" srcOrd="7" destOrd="0" presId="urn:microsoft.com/office/officeart/2016/7/layout/ChevronBlockProcess"/>
    <dgm:cxn modelId="{8AEC6545-3FD4-4641-A5A4-A9E4F85B6682}" type="presParOf" srcId="{8CA1E25C-D7AD-499E-BED3-8684BCE8011B}" destId="{A1B93469-C68E-4296-98D0-349CD8C433DF}" srcOrd="8" destOrd="0" presId="urn:microsoft.com/office/officeart/2016/7/layout/ChevronBlockProcess"/>
    <dgm:cxn modelId="{6F775CBD-8686-4110-8E7F-611E2C99948E}" type="presParOf" srcId="{A1B93469-C68E-4296-98D0-349CD8C433DF}" destId="{95726F78-F2D0-4636-A830-53B4EBFEF901}" srcOrd="0" destOrd="0" presId="urn:microsoft.com/office/officeart/2016/7/layout/ChevronBlockProcess"/>
    <dgm:cxn modelId="{BCA085A7-DA89-42E6-B682-89F0DAA063F8}" type="presParOf" srcId="{A1B93469-C68E-4296-98D0-349CD8C433DF}" destId="{64D8039E-1A4A-49C0-9E2F-E1942B8FC98A}" srcOrd="1" destOrd="0" presId="urn:microsoft.com/office/officeart/2016/7/layout/ChevronBlock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360C1E1-1D8A-419A-80F3-6A661697B60E}" type="doc">
      <dgm:prSet loTypeId="urn:microsoft.com/office/officeart/2005/8/layout/vProcess5" loCatId="process" qsTypeId="urn:microsoft.com/office/officeart/2005/8/quickstyle/simple1" qsCatId="simple" csTypeId="urn:microsoft.com/office/officeart/2005/8/colors/accent1_2" csCatId="accent1" phldr="1"/>
      <dgm:spPr/>
      <dgm:t>
        <a:bodyPr/>
        <a:lstStyle/>
        <a:p>
          <a:endParaRPr lang="en-US"/>
        </a:p>
      </dgm:t>
    </dgm:pt>
    <dgm:pt modelId="{17D961CB-6CFF-4A5A-9B95-77B73BBC9F83}">
      <dgm:prSet custT="1"/>
      <dgm:spPr>
        <a:solidFill>
          <a:schemeClr val="accent1">
            <a:lumMod val="40000"/>
            <a:lumOff val="60000"/>
          </a:schemeClr>
        </a:solidFill>
        <a:ln>
          <a:solidFill>
            <a:schemeClr val="accent1">
              <a:lumMod val="75000"/>
            </a:schemeClr>
          </a:solidFill>
        </a:ln>
        <a:effectLst>
          <a:glow rad="101600">
            <a:schemeClr val="accent4">
              <a:satMod val="175000"/>
              <a:alpha val="40000"/>
            </a:schemeClr>
          </a:glow>
        </a:effectLst>
      </dgm:spPr>
      <dgm:t>
        <a:bodyPr/>
        <a:lstStyle/>
        <a:p>
          <a:r>
            <a:rPr lang="en-US" sz="1600" b="0" dirty="0">
              <a:solidFill>
                <a:schemeClr val="tx1"/>
              </a:solidFill>
            </a:rPr>
            <a:t>1. Imported and merged  structured datasets into master data</a:t>
          </a:r>
          <a:endParaRPr lang="en-US" sz="1600" dirty="0">
            <a:solidFill>
              <a:schemeClr val="tx1"/>
            </a:solidFill>
          </a:endParaRPr>
        </a:p>
      </dgm:t>
    </dgm:pt>
    <dgm:pt modelId="{91CF51F4-BFF5-464C-9D70-15EB84EED3F1}" type="parTrans" cxnId="{AB90A1D3-2F43-46A5-9CA0-0C32BADD4ADC}">
      <dgm:prSet/>
      <dgm:spPr/>
      <dgm:t>
        <a:bodyPr/>
        <a:lstStyle/>
        <a:p>
          <a:endParaRPr lang="en-US"/>
        </a:p>
      </dgm:t>
    </dgm:pt>
    <dgm:pt modelId="{36B608F1-C585-497B-ABA0-AEAEC10B0DED}" type="sibTrans" cxnId="{AB90A1D3-2F43-46A5-9CA0-0C32BADD4ADC}">
      <dgm:prSet/>
      <dgm:spPr>
        <a:solidFill>
          <a:schemeClr val="accent2">
            <a:alpha val="90000"/>
          </a:schemeClr>
        </a:solidFill>
        <a:ln>
          <a:solidFill>
            <a:schemeClr val="accent2">
              <a:lumMod val="75000"/>
              <a:alpha val="90000"/>
            </a:schemeClr>
          </a:solidFill>
        </a:ln>
      </dgm:spPr>
      <dgm:t>
        <a:bodyPr/>
        <a:lstStyle/>
        <a:p>
          <a:endParaRPr lang="en-US"/>
        </a:p>
      </dgm:t>
    </dgm:pt>
    <dgm:pt modelId="{9001A890-C48C-40D5-B0E9-77A943D3CE74}">
      <dgm:prSet custT="1"/>
      <dgm:spPr>
        <a:solidFill>
          <a:schemeClr val="accent1">
            <a:lumMod val="40000"/>
            <a:lumOff val="60000"/>
          </a:schemeClr>
        </a:solidFill>
        <a:ln>
          <a:solidFill>
            <a:schemeClr val="accent1">
              <a:lumMod val="75000"/>
            </a:schemeClr>
          </a:solidFill>
        </a:ln>
        <a:effectLst>
          <a:glow rad="101600">
            <a:schemeClr val="accent4">
              <a:satMod val="175000"/>
              <a:alpha val="40000"/>
            </a:schemeClr>
          </a:glow>
        </a:effectLst>
      </dgm:spPr>
      <dgm:t>
        <a:bodyPr/>
        <a:lstStyle/>
        <a:p>
          <a:r>
            <a:rPr lang="en-US" sz="1600" b="0" dirty="0">
              <a:solidFill>
                <a:schemeClr val="tx1"/>
              </a:solidFill>
            </a:rPr>
            <a:t>2. Cleaned missing values and duplicates</a:t>
          </a:r>
          <a:endParaRPr lang="en-US" sz="1600" dirty="0">
            <a:solidFill>
              <a:schemeClr val="tx1"/>
            </a:solidFill>
          </a:endParaRPr>
        </a:p>
      </dgm:t>
    </dgm:pt>
    <dgm:pt modelId="{3B8F41C5-9B13-4AD6-AC70-8868F035C50B}" type="parTrans" cxnId="{A7C2C4FB-74D7-40D7-A210-96462F9AA7CE}">
      <dgm:prSet/>
      <dgm:spPr/>
      <dgm:t>
        <a:bodyPr/>
        <a:lstStyle/>
        <a:p>
          <a:endParaRPr lang="en-US"/>
        </a:p>
      </dgm:t>
    </dgm:pt>
    <dgm:pt modelId="{0429E1A7-40FA-42C7-AF4E-09DF3B2EDFD6}" type="sibTrans" cxnId="{A7C2C4FB-74D7-40D7-A210-96462F9AA7CE}">
      <dgm:prSet/>
      <dgm:spPr>
        <a:solidFill>
          <a:schemeClr val="accent2">
            <a:alpha val="90000"/>
          </a:schemeClr>
        </a:solidFill>
        <a:ln>
          <a:solidFill>
            <a:schemeClr val="accent2">
              <a:lumMod val="75000"/>
              <a:alpha val="90000"/>
            </a:schemeClr>
          </a:solidFill>
        </a:ln>
      </dgm:spPr>
      <dgm:t>
        <a:bodyPr/>
        <a:lstStyle/>
        <a:p>
          <a:endParaRPr lang="en-US"/>
        </a:p>
      </dgm:t>
    </dgm:pt>
    <dgm:pt modelId="{19CB2404-C426-49C1-88A4-DA8A072746A2}">
      <dgm:prSet custT="1"/>
      <dgm:spPr>
        <a:solidFill>
          <a:schemeClr val="accent1">
            <a:lumMod val="40000"/>
            <a:lumOff val="60000"/>
          </a:schemeClr>
        </a:solidFill>
        <a:ln>
          <a:solidFill>
            <a:schemeClr val="accent1">
              <a:lumMod val="75000"/>
            </a:schemeClr>
          </a:solidFill>
        </a:ln>
        <a:effectLst>
          <a:glow rad="101600">
            <a:schemeClr val="accent4">
              <a:satMod val="175000"/>
              <a:alpha val="40000"/>
            </a:schemeClr>
          </a:glow>
        </a:effectLst>
      </dgm:spPr>
      <dgm:t>
        <a:bodyPr/>
        <a:lstStyle/>
        <a:p>
          <a:r>
            <a:rPr lang="en-US" sz="1600" b="0" dirty="0">
              <a:solidFill>
                <a:schemeClr val="tx1"/>
              </a:solidFill>
            </a:rPr>
            <a:t>3. Recoded numerical variables into categories</a:t>
          </a:r>
          <a:endParaRPr lang="en-US" sz="1600" dirty="0">
            <a:solidFill>
              <a:schemeClr val="tx1"/>
            </a:solidFill>
          </a:endParaRPr>
        </a:p>
      </dgm:t>
    </dgm:pt>
    <dgm:pt modelId="{CD0E2CF3-1B70-4D14-948E-CAED351A5A88}" type="parTrans" cxnId="{AA59481D-EFC8-4B7F-888A-4879BE42AA7E}">
      <dgm:prSet/>
      <dgm:spPr/>
      <dgm:t>
        <a:bodyPr/>
        <a:lstStyle/>
        <a:p>
          <a:endParaRPr lang="en-US"/>
        </a:p>
      </dgm:t>
    </dgm:pt>
    <dgm:pt modelId="{057A8990-EB4A-4AB6-930A-2D072FDFDC3A}" type="sibTrans" cxnId="{AA59481D-EFC8-4B7F-888A-4879BE42AA7E}">
      <dgm:prSet/>
      <dgm:spPr>
        <a:solidFill>
          <a:schemeClr val="accent2">
            <a:alpha val="90000"/>
          </a:schemeClr>
        </a:solidFill>
        <a:ln>
          <a:solidFill>
            <a:schemeClr val="accent2">
              <a:lumMod val="75000"/>
              <a:alpha val="90000"/>
            </a:schemeClr>
          </a:solidFill>
        </a:ln>
      </dgm:spPr>
      <dgm:t>
        <a:bodyPr/>
        <a:lstStyle/>
        <a:p>
          <a:endParaRPr lang="en-US"/>
        </a:p>
      </dgm:t>
    </dgm:pt>
    <dgm:pt modelId="{A93F45D5-2F4F-4E33-8EEB-98B8C6C9CC58}">
      <dgm:prSet custT="1"/>
      <dgm:spPr>
        <a:solidFill>
          <a:schemeClr val="accent1">
            <a:lumMod val="40000"/>
            <a:lumOff val="60000"/>
          </a:schemeClr>
        </a:solidFill>
        <a:ln>
          <a:solidFill>
            <a:schemeClr val="accent1">
              <a:lumMod val="75000"/>
            </a:schemeClr>
          </a:solidFill>
        </a:ln>
        <a:effectLst>
          <a:glow rad="101600">
            <a:schemeClr val="accent4">
              <a:satMod val="175000"/>
              <a:alpha val="40000"/>
            </a:schemeClr>
          </a:glow>
        </a:effectLst>
      </dgm:spPr>
      <dgm:t>
        <a:bodyPr/>
        <a:lstStyle/>
        <a:p>
          <a:r>
            <a:rPr lang="en-US" sz="1600" b="0" dirty="0">
              <a:solidFill>
                <a:schemeClr val="tx1"/>
              </a:solidFill>
            </a:rPr>
            <a:t>4. Calculated overall Bad Rate</a:t>
          </a:r>
          <a:endParaRPr lang="en-US" sz="1600" dirty="0">
            <a:solidFill>
              <a:schemeClr val="tx1"/>
            </a:solidFill>
          </a:endParaRPr>
        </a:p>
      </dgm:t>
    </dgm:pt>
    <dgm:pt modelId="{8AF63E67-85D3-4B4B-877E-8248D546B1C3}" type="parTrans" cxnId="{8B368B32-6A8A-497F-8F93-5486DD2CB611}">
      <dgm:prSet/>
      <dgm:spPr/>
      <dgm:t>
        <a:bodyPr/>
        <a:lstStyle/>
        <a:p>
          <a:endParaRPr lang="en-US"/>
        </a:p>
      </dgm:t>
    </dgm:pt>
    <dgm:pt modelId="{38644CB1-883F-406F-A2E2-3534D94EF5DD}" type="sibTrans" cxnId="{8B368B32-6A8A-497F-8F93-5486DD2CB611}">
      <dgm:prSet/>
      <dgm:spPr/>
      <dgm:t>
        <a:bodyPr/>
        <a:lstStyle/>
        <a:p>
          <a:endParaRPr lang="en-US"/>
        </a:p>
      </dgm:t>
    </dgm:pt>
    <dgm:pt modelId="{D2D498B7-48EE-46FB-8C71-8D8EB6F52A13}" type="pres">
      <dgm:prSet presAssocID="{0360C1E1-1D8A-419A-80F3-6A661697B60E}" presName="outerComposite" presStyleCnt="0">
        <dgm:presLayoutVars>
          <dgm:chMax val="5"/>
          <dgm:dir/>
          <dgm:resizeHandles val="exact"/>
        </dgm:presLayoutVars>
      </dgm:prSet>
      <dgm:spPr/>
    </dgm:pt>
    <dgm:pt modelId="{12EB05EE-17EB-405C-92A8-CB956E339953}" type="pres">
      <dgm:prSet presAssocID="{0360C1E1-1D8A-419A-80F3-6A661697B60E}" presName="dummyMaxCanvas" presStyleCnt="0">
        <dgm:presLayoutVars/>
      </dgm:prSet>
      <dgm:spPr/>
    </dgm:pt>
    <dgm:pt modelId="{94E54262-8408-4802-8B4A-11B2FEB345DE}" type="pres">
      <dgm:prSet presAssocID="{0360C1E1-1D8A-419A-80F3-6A661697B60E}" presName="FourNodes_1" presStyleLbl="node1" presStyleIdx="0" presStyleCnt="4">
        <dgm:presLayoutVars>
          <dgm:bulletEnabled val="1"/>
        </dgm:presLayoutVars>
      </dgm:prSet>
      <dgm:spPr/>
    </dgm:pt>
    <dgm:pt modelId="{3957114C-3BFC-4244-936D-01F450130BC0}" type="pres">
      <dgm:prSet presAssocID="{0360C1E1-1D8A-419A-80F3-6A661697B60E}" presName="FourNodes_2" presStyleLbl="node1" presStyleIdx="1" presStyleCnt="4">
        <dgm:presLayoutVars>
          <dgm:bulletEnabled val="1"/>
        </dgm:presLayoutVars>
      </dgm:prSet>
      <dgm:spPr/>
    </dgm:pt>
    <dgm:pt modelId="{491B68C5-409C-4628-9D85-05569BD24FFF}" type="pres">
      <dgm:prSet presAssocID="{0360C1E1-1D8A-419A-80F3-6A661697B60E}" presName="FourNodes_3" presStyleLbl="node1" presStyleIdx="2" presStyleCnt="4" custScaleX="104380">
        <dgm:presLayoutVars>
          <dgm:bulletEnabled val="1"/>
        </dgm:presLayoutVars>
      </dgm:prSet>
      <dgm:spPr/>
    </dgm:pt>
    <dgm:pt modelId="{1A859273-9D1A-46A6-B0B1-5AB94C0A807B}" type="pres">
      <dgm:prSet presAssocID="{0360C1E1-1D8A-419A-80F3-6A661697B60E}" presName="FourNodes_4" presStyleLbl="node1" presStyleIdx="3" presStyleCnt="4" custScaleX="104603">
        <dgm:presLayoutVars>
          <dgm:bulletEnabled val="1"/>
        </dgm:presLayoutVars>
      </dgm:prSet>
      <dgm:spPr/>
    </dgm:pt>
    <dgm:pt modelId="{6C6D4F2C-16E5-4B75-A802-DE8454FB76A6}" type="pres">
      <dgm:prSet presAssocID="{0360C1E1-1D8A-419A-80F3-6A661697B60E}" presName="FourConn_1-2" presStyleLbl="fgAccFollowNode1" presStyleIdx="0" presStyleCnt="3">
        <dgm:presLayoutVars>
          <dgm:bulletEnabled val="1"/>
        </dgm:presLayoutVars>
      </dgm:prSet>
      <dgm:spPr/>
    </dgm:pt>
    <dgm:pt modelId="{482098D3-C1AB-4C6C-8BF1-33FB1F068CAC}" type="pres">
      <dgm:prSet presAssocID="{0360C1E1-1D8A-419A-80F3-6A661697B60E}" presName="FourConn_2-3" presStyleLbl="fgAccFollowNode1" presStyleIdx="1" presStyleCnt="3">
        <dgm:presLayoutVars>
          <dgm:bulletEnabled val="1"/>
        </dgm:presLayoutVars>
      </dgm:prSet>
      <dgm:spPr/>
    </dgm:pt>
    <dgm:pt modelId="{A055D2FB-EE89-41A1-8D6A-74C195951847}" type="pres">
      <dgm:prSet presAssocID="{0360C1E1-1D8A-419A-80F3-6A661697B60E}" presName="FourConn_3-4" presStyleLbl="fgAccFollowNode1" presStyleIdx="2" presStyleCnt="3">
        <dgm:presLayoutVars>
          <dgm:bulletEnabled val="1"/>
        </dgm:presLayoutVars>
      </dgm:prSet>
      <dgm:spPr/>
    </dgm:pt>
    <dgm:pt modelId="{FE497F70-7519-4BE8-B760-F2FABDF038F5}" type="pres">
      <dgm:prSet presAssocID="{0360C1E1-1D8A-419A-80F3-6A661697B60E}" presName="FourNodes_1_text" presStyleLbl="node1" presStyleIdx="3" presStyleCnt="4">
        <dgm:presLayoutVars>
          <dgm:bulletEnabled val="1"/>
        </dgm:presLayoutVars>
      </dgm:prSet>
      <dgm:spPr/>
    </dgm:pt>
    <dgm:pt modelId="{76A52499-8A9B-4606-99AA-8282E64102B9}" type="pres">
      <dgm:prSet presAssocID="{0360C1E1-1D8A-419A-80F3-6A661697B60E}" presName="FourNodes_2_text" presStyleLbl="node1" presStyleIdx="3" presStyleCnt="4">
        <dgm:presLayoutVars>
          <dgm:bulletEnabled val="1"/>
        </dgm:presLayoutVars>
      </dgm:prSet>
      <dgm:spPr/>
    </dgm:pt>
    <dgm:pt modelId="{A724D013-F2DC-4872-B4FD-46D79C50F938}" type="pres">
      <dgm:prSet presAssocID="{0360C1E1-1D8A-419A-80F3-6A661697B60E}" presName="FourNodes_3_text" presStyleLbl="node1" presStyleIdx="3" presStyleCnt="4">
        <dgm:presLayoutVars>
          <dgm:bulletEnabled val="1"/>
        </dgm:presLayoutVars>
      </dgm:prSet>
      <dgm:spPr/>
    </dgm:pt>
    <dgm:pt modelId="{5ABB7473-EB6F-466E-987B-9492615D830E}" type="pres">
      <dgm:prSet presAssocID="{0360C1E1-1D8A-419A-80F3-6A661697B60E}" presName="FourNodes_4_text" presStyleLbl="node1" presStyleIdx="3" presStyleCnt="4">
        <dgm:presLayoutVars>
          <dgm:bulletEnabled val="1"/>
        </dgm:presLayoutVars>
      </dgm:prSet>
      <dgm:spPr/>
    </dgm:pt>
  </dgm:ptLst>
  <dgm:cxnLst>
    <dgm:cxn modelId="{8BD8531A-5797-4342-88A2-B82D68C6E9B0}" type="presOf" srcId="{17D961CB-6CFF-4A5A-9B95-77B73BBC9F83}" destId="{FE497F70-7519-4BE8-B760-F2FABDF038F5}" srcOrd="1" destOrd="0" presId="urn:microsoft.com/office/officeart/2005/8/layout/vProcess5"/>
    <dgm:cxn modelId="{E3E4101D-88F7-45EE-8C32-C8CA1651736E}" type="presOf" srcId="{0429E1A7-40FA-42C7-AF4E-09DF3B2EDFD6}" destId="{482098D3-C1AB-4C6C-8BF1-33FB1F068CAC}" srcOrd="0" destOrd="0" presId="urn:microsoft.com/office/officeart/2005/8/layout/vProcess5"/>
    <dgm:cxn modelId="{AA59481D-EFC8-4B7F-888A-4879BE42AA7E}" srcId="{0360C1E1-1D8A-419A-80F3-6A661697B60E}" destId="{19CB2404-C426-49C1-88A4-DA8A072746A2}" srcOrd="2" destOrd="0" parTransId="{CD0E2CF3-1B70-4D14-948E-CAED351A5A88}" sibTransId="{057A8990-EB4A-4AB6-930A-2D072FDFDC3A}"/>
    <dgm:cxn modelId="{8B368B32-6A8A-497F-8F93-5486DD2CB611}" srcId="{0360C1E1-1D8A-419A-80F3-6A661697B60E}" destId="{A93F45D5-2F4F-4E33-8EEB-98B8C6C9CC58}" srcOrd="3" destOrd="0" parTransId="{8AF63E67-85D3-4B4B-877E-8248D546B1C3}" sibTransId="{38644CB1-883F-406F-A2E2-3534D94EF5DD}"/>
    <dgm:cxn modelId="{8E0FB15F-9C73-459A-95C5-88EDA3320553}" type="presOf" srcId="{36B608F1-C585-497B-ABA0-AEAEC10B0DED}" destId="{6C6D4F2C-16E5-4B75-A802-DE8454FB76A6}" srcOrd="0" destOrd="0" presId="urn:microsoft.com/office/officeart/2005/8/layout/vProcess5"/>
    <dgm:cxn modelId="{3F9B1661-484C-476C-931C-563F478C6089}" type="presOf" srcId="{9001A890-C48C-40D5-B0E9-77A943D3CE74}" destId="{76A52499-8A9B-4606-99AA-8282E64102B9}" srcOrd="1" destOrd="0" presId="urn:microsoft.com/office/officeart/2005/8/layout/vProcess5"/>
    <dgm:cxn modelId="{362E1D44-E60D-4522-AA53-87DE43DB86C4}" type="presOf" srcId="{0360C1E1-1D8A-419A-80F3-6A661697B60E}" destId="{D2D498B7-48EE-46FB-8C71-8D8EB6F52A13}" srcOrd="0" destOrd="0" presId="urn:microsoft.com/office/officeart/2005/8/layout/vProcess5"/>
    <dgm:cxn modelId="{66609EA9-13D7-45CD-842F-0D7670D7A9FC}" type="presOf" srcId="{19CB2404-C426-49C1-88A4-DA8A072746A2}" destId="{491B68C5-409C-4628-9D85-05569BD24FFF}" srcOrd="0" destOrd="0" presId="urn:microsoft.com/office/officeart/2005/8/layout/vProcess5"/>
    <dgm:cxn modelId="{61DB26AB-DBB9-4744-9D80-5FCE9DAC436E}" type="presOf" srcId="{A93F45D5-2F4F-4E33-8EEB-98B8C6C9CC58}" destId="{5ABB7473-EB6F-466E-987B-9492615D830E}" srcOrd="1" destOrd="0" presId="urn:microsoft.com/office/officeart/2005/8/layout/vProcess5"/>
    <dgm:cxn modelId="{9F910DB8-5EB1-4AFC-8273-CBDFBA2F64C9}" type="presOf" srcId="{19CB2404-C426-49C1-88A4-DA8A072746A2}" destId="{A724D013-F2DC-4872-B4FD-46D79C50F938}" srcOrd="1" destOrd="0" presId="urn:microsoft.com/office/officeart/2005/8/layout/vProcess5"/>
    <dgm:cxn modelId="{82E808CC-9DA0-4636-A916-821061BEB012}" type="presOf" srcId="{17D961CB-6CFF-4A5A-9B95-77B73BBC9F83}" destId="{94E54262-8408-4802-8B4A-11B2FEB345DE}" srcOrd="0" destOrd="0" presId="urn:microsoft.com/office/officeart/2005/8/layout/vProcess5"/>
    <dgm:cxn modelId="{7F397FCE-29B6-4B89-9572-46B1F31E9BE2}" type="presOf" srcId="{057A8990-EB4A-4AB6-930A-2D072FDFDC3A}" destId="{A055D2FB-EE89-41A1-8D6A-74C195951847}" srcOrd="0" destOrd="0" presId="urn:microsoft.com/office/officeart/2005/8/layout/vProcess5"/>
    <dgm:cxn modelId="{AB90A1D3-2F43-46A5-9CA0-0C32BADD4ADC}" srcId="{0360C1E1-1D8A-419A-80F3-6A661697B60E}" destId="{17D961CB-6CFF-4A5A-9B95-77B73BBC9F83}" srcOrd="0" destOrd="0" parTransId="{91CF51F4-BFF5-464C-9D70-15EB84EED3F1}" sibTransId="{36B608F1-C585-497B-ABA0-AEAEC10B0DED}"/>
    <dgm:cxn modelId="{B4F7F7DF-D5F9-4CE8-A645-CAB92D1EBC7A}" type="presOf" srcId="{9001A890-C48C-40D5-B0E9-77A943D3CE74}" destId="{3957114C-3BFC-4244-936D-01F450130BC0}" srcOrd="0" destOrd="0" presId="urn:microsoft.com/office/officeart/2005/8/layout/vProcess5"/>
    <dgm:cxn modelId="{3C274AED-98A0-4E06-A4DE-19C05366B22D}" type="presOf" srcId="{A93F45D5-2F4F-4E33-8EEB-98B8C6C9CC58}" destId="{1A859273-9D1A-46A6-B0B1-5AB94C0A807B}" srcOrd="0" destOrd="0" presId="urn:microsoft.com/office/officeart/2005/8/layout/vProcess5"/>
    <dgm:cxn modelId="{A7C2C4FB-74D7-40D7-A210-96462F9AA7CE}" srcId="{0360C1E1-1D8A-419A-80F3-6A661697B60E}" destId="{9001A890-C48C-40D5-B0E9-77A943D3CE74}" srcOrd="1" destOrd="0" parTransId="{3B8F41C5-9B13-4AD6-AC70-8868F035C50B}" sibTransId="{0429E1A7-40FA-42C7-AF4E-09DF3B2EDFD6}"/>
    <dgm:cxn modelId="{09138EA7-0F72-4876-B21B-4CD4C0C231AB}" type="presParOf" srcId="{D2D498B7-48EE-46FB-8C71-8D8EB6F52A13}" destId="{12EB05EE-17EB-405C-92A8-CB956E339953}" srcOrd="0" destOrd="0" presId="urn:microsoft.com/office/officeart/2005/8/layout/vProcess5"/>
    <dgm:cxn modelId="{F6FBC1EA-E079-4A99-B6A6-3954E9ACA5FF}" type="presParOf" srcId="{D2D498B7-48EE-46FB-8C71-8D8EB6F52A13}" destId="{94E54262-8408-4802-8B4A-11B2FEB345DE}" srcOrd="1" destOrd="0" presId="urn:microsoft.com/office/officeart/2005/8/layout/vProcess5"/>
    <dgm:cxn modelId="{8B6EE115-96B9-4390-A9D8-6A9140C826AF}" type="presParOf" srcId="{D2D498B7-48EE-46FB-8C71-8D8EB6F52A13}" destId="{3957114C-3BFC-4244-936D-01F450130BC0}" srcOrd="2" destOrd="0" presId="urn:microsoft.com/office/officeart/2005/8/layout/vProcess5"/>
    <dgm:cxn modelId="{030ACF13-EE88-41BB-81AD-F5265B4DE396}" type="presParOf" srcId="{D2D498B7-48EE-46FB-8C71-8D8EB6F52A13}" destId="{491B68C5-409C-4628-9D85-05569BD24FFF}" srcOrd="3" destOrd="0" presId="urn:microsoft.com/office/officeart/2005/8/layout/vProcess5"/>
    <dgm:cxn modelId="{0678063E-02FA-4403-9A6B-B6FBAB1BAE20}" type="presParOf" srcId="{D2D498B7-48EE-46FB-8C71-8D8EB6F52A13}" destId="{1A859273-9D1A-46A6-B0B1-5AB94C0A807B}" srcOrd="4" destOrd="0" presId="urn:microsoft.com/office/officeart/2005/8/layout/vProcess5"/>
    <dgm:cxn modelId="{F8E9AE00-DCE9-4385-A834-541CF702E54F}" type="presParOf" srcId="{D2D498B7-48EE-46FB-8C71-8D8EB6F52A13}" destId="{6C6D4F2C-16E5-4B75-A802-DE8454FB76A6}" srcOrd="5" destOrd="0" presId="urn:microsoft.com/office/officeart/2005/8/layout/vProcess5"/>
    <dgm:cxn modelId="{1FA341BD-D3C4-44BE-966E-518495035FAB}" type="presParOf" srcId="{D2D498B7-48EE-46FB-8C71-8D8EB6F52A13}" destId="{482098D3-C1AB-4C6C-8BF1-33FB1F068CAC}" srcOrd="6" destOrd="0" presId="urn:microsoft.com/office/officeart/2005/8/layout/vProcess5"/>
    <dgm:cxn modelId="{9A49EE6E-E921-45C4-A7E3-B4468CA41A8B}" type="presParOf" srcId="{D2D498B7-48EE-46FB-8C71-8D8EB6F52A13}" destId="{A055D2FB-EE89-41A1-8D6A-74C195951847}" srcOrd="7" destOrd="0" presId="urn:microsoft.com/office/officeart/2005/8/layout/vProcess5"/>
    <dgm:cxn modelId="{D8A3853C-E530-4353-B82C-88DC7C47768E}" type="presParOf" srcId="{D2D498B7-48EE-46FB-8C71-8D8EB6F52A13}" destId="{FE497F70-7519-4BE8-B760-F2FABDF038F5}" srcOrd="8" destOrd="0" presId="urn:microsoft.com/office/officeart/2005/8/layout/vProcess5"/>
    <dgm:cxn modelId="{21BC0452-50C5-4582-8993-1F64F0108518}" type="presParOf" srcId="{D2D498B7-48EE-46FB-8C71-8D8EB6F52A13}" destId="{76A52499-8A9B-4606-99AA-8282E64102B9}" srcOrd="9" destOrd="0" presId="urn:microsoft.com/office/officeart/2005/8/layout/vProcess5"/>
    <dgm:cxn modelId="{764DF891-48A7-4D55-834F-6441756F41F1}" type="presParOf" srcId="{D2D498B7-48EE-46FB-8C71-8D8EB6F52A13}" destId="{A724D013-F2DC-4872-B4FD-46D79C50F938}" srcOrd="10" destOrd="0" presId="urn:microsoft.com/office/officeart/2005/8/layout/vProcess5"/>
    <dgm:cxn modelId="{BFA38702-DD09-43E2-AB71-63847889B66B}" type="presParOf" srcId="{D2D498B7-48EE-46FB-8C71-8D8EB6F52A13}" destId="{5ABB7473-EB6F-466E-987B-9492615D830E}" srcOrd="11"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B23E5AA-B602-42EB-8F6F-BCAFA2377EA7}" type="doc">
      <dgm:prSet loTypeId="urn:microsoft.com/office/officeart/2005/8/layout/list1" loCatId="list" qsTypeId="urn:microsoft.com/office/officeart/2005/8/quickstyle/simple1" qsCatId="simple" csTypeId="urn:microsoft.com/office/officeart/2005/8/colors/colorful1" csCatId="colorful" phldr="1"/>
      <dgm:spPr/>
      <dgm:t>
        <a:bodyPr/>
        <a:lstStyle/>
        <a:p>
          <a:endParaRPr lang="en-US"/>
        </a:p>
      </dgm:t>
    </dgm:pt>
    <dgm:pt modelId="{F0C67FC4-4A1B-4EB6-AB6C-328E4C5E0BE2}">
      <dgm:prSet custT="1"/>
      <dgm:spPr>
        <a:solidFill>
          <a:schemeClr val="accent6">
            <a:lumMod val="20000"/>
            <a:lumOff val="80000"/>
          </a:schemeClr>
        </a:solidFill>
        <a:ln>
          <a:solidFill>
            <a:schemeClr val="accent6">
              <a:lumMod val="60000"/>
              <a:lumOff val="40000"/>
            </a:schemeClr>
          </a:solidFill>
        </a:ln>
        <a:effectLst>
          <a:glow rad="63500">
            <a:schemeClr val="accent5">
              <a:satMod val="175000"/>
              <a:alpha val="40000"/>
            </a:schemeClr>
          </a:glow>
        </a:effectLst>
      </dgm:spPr>
      <dgm:t>
        <a:bodyPr/>
        <a:lstStyle/>
        <a:p>
          <a:r>
            <a:rPr lang="en-US" sz="1800" dirty="0">
              <a:solidFill>
                <a:schemeClr val="tx1"/>
              </a:solidFill>
            </a:rPr>
            <a:t>4. Highlighted regional and gender-based risks</a:t>
          </a:r>
        </a:p>
      </dgm:t>
    </dgm:pt>
    <dgm:pt modelId="{71562F97-CCDD-43AC-B913-EB3D8812D65C}" type="parTrans" cxnId="{E59B9AC4-13A8-43C5-9D80-A7B772C77967}">
      <dgm:prSet/>
      <dgm:spPr/>
      <dgm:t>
        <a:bodyPr/>
        <a:lstStyle/>
        <a:p>
          <a:endParaRPr lang="en-US"/>
        </a:p>
      </dgm:t>
    </dgm:pt>
    <dgm:pt modelId="{2335B22F-A1CA-4EAC-AA18-E3078D2ADFFC}" type="sibTrans" cxnId="{E59B9AC4-13A8-43C5-9D80-A7B772C77967}">
      <dgm:prSet/>
      <dgm:spPr/>
      <dgm:t>
        <a:bodyPr/>
        <a:lstStyle/>
        <a:p>
          <a:endParaRPr lang="en-US"/>
        </a:p>
      </dgm:t>
    </dgm:pt>
    <dgm:pt modelId="{F8D1DB66-19E9-459E-B8EE-2FE4D89D652E}">
      <dgm:prSet custT="1"/>
      <dgm:spPr>
        <a:solidFill>
          <a:schemeClr val="bg2"/>
        </a:solidFill>
        <a:effectLst>
          <a:glow rad="63500">
            <a:schemeClr val="accent4">
              <a:satMod val="175000"/>
              <a:alpha val="40000"/>
            </a:schemeClr>
          </a:glow>
        </a:effectLst>
      </dgm:spPr>
      <dgm:t>
        <a:bodyPr/>
        <a:lstStyle/>
        <a:p>
          <a:r>
            <a:rPr lang="en-US" sz="1800" dirty="0">
              <a:solidFill>
                <a:schemeClr val="tx1"/>
              </a:solidFill>
            </a:rPr>
            <a:t>5. Mapped employment and debt categories against bad rate</a:t>
          </a:r>
        </a:p>
      </dgm:t>
    </dgm:pt>
    <dgm:pt modelId="{E8D96A6A-9348-4849-B395-F2285E4F7CD4}" type="parTrans" cxnId="{5ABEDED1-1811-481D-9EDA-B0087404314E}">
      <dgm:prSet/>
      <dgm:spPr/>
      <dgm:t>
        <a:bodyPr/>
        <a:lstStyle/>
        <a:p>
          <a:endParaRPr lang="en-US"/>
        </a:p>
      </dgm:t>
    </dgm:pt>
    <dgm:pt modelId="{BC552B02-AAF3-4646-A02F-14E0D1CE858C}" type="sibTrans" cxnId="{5ABEDED1-1811-481D-9EDA-B0087404314E}">
      <dgm:prSet/>
      <dgm:spPr/>
      <dgm:t>
        <a:bodyPr/>
        <a:lstStyle/>
        <a:p>
          <a:endParaRPr lang="en-US"/>
        </a:p>
      </dgm:t>
    </dgm:pt>
    <dgm:pt modelId="{17EA3132-475E-48AF-9498-43B8396389B1}">
      <dgm:prSet custT="1"/>
      <dgm:spPr>
        <a:solidFill>
          <a:schemeClr val="accent1">
            <a:lumMod val="20000"/>
            <a:lumOff val="80000"/>
          </a:schemeClr>
        </a:solidFill>
        <a:effectLst>
          <a:glow rad="63500">
            <a:schemeClr val="accent1">
              <a:satMod val="175000"/>
              <a:alpha val="40000"/>
            </a:schemeClr>
          </a:glow>
        </a:effectLst>
      </dgm:spPr>
      <dgm:t>
        <a:bodyPr/>
        <a:lstStyle/>
        <a:p>
          <a:r>
            <a:rPr lang="en-US" sz="1800" dirty="0">
              <a:solidFill>
                <a:schemeClr val="tx1"/>
              </a:solidFill>
            </a:rPr>
            <a:t>3. Compared average behaviors of numeric variables</a:t>
          </a:r>
        </a:p>
      </dgm:t>
    </dgm:pt>
    <dgm:pt modelId="{AF41FF2F-3549-4F4C-9980-129A29F57748}" type="parTrans" cxnId="{D4D83EA7-4823-4ADE-B8BE-3A411AEF2B65}">
      <dgm:prSet/>
      <dgm:spPr/>
      <dgm:t>
        <a:bodyPr/>
        <a:lstStyle/>
        <a:p>
          <a:endParaRPr lang="en-US"/>
        </a:p>
      </dgm:t>
    </dgm:pt>
    <dgm:pt modelId="{6AB06D46-4281-488C-95BD-0C10C94C122A}" type="sibTrans" cxnId="{D4D83EA7-4823-4ADE-B8BE-3A411AEF2B65}">
      <dgm:prSet/>
      <dgm:spPr/>
      <dgm:t>
        <a:bodyPr/>
        <a:lstStyle/>
        <a:p>
          <a:endParaRPr lang="en-US"/>
        </a:p>
      </dgm:t>
    </dgm:pt>
    <dgm:pt modelId="{B99227BA-FB29-44AD-BDA0-01560B596F32}">
      <dgm:prSet custT="1"/>
      <dgm:spPr>
        <a:solidFill>
          <a:schemeClr val="bg2"/>
        </a:solidFill>
        <a:effectLst>
          <a:glow rad="63500">
            <a:schemeClr val="accent6">
              <a:satMod val="175000"/>
              <a:alpha val="40000"/>
            </a:schemeClr>
          </a:glow>
        </a:effectLst>
      </dgm:spPr>
      <dgm:t>
        <a:bodyPr/>
        <a:lstStyle/>
        <a:p>
          <a:r>
            <a:rPr lang="en-US" sz="1800" b="0" dirty="0">
              <a:solidFill>
                <a:schemeClr val="tx1"/>
              </a:solidFill>
            </a:rPr>
            <a:t>2. Identified bad rates across categorical groups</a:t>
          </a:r>
          <a:endParaRPr lang="en-US" sz="1800" dirty="0">
            <a:solidFill>
              <a:schemeClr val="tx1"/>
            </a:solidFill>
          </a:endParaRPr>
        </a:p>
      </dgm:t>
    </dgm:pt>
    <dgm:pt modelId="{2CC33966-9FF0-45C6-840E-05F314029F31}" type="sibTrans" cxnId="{529A79E3-53D0-43E0-A8CF-B8188B129ADD}">
      <dgm:prSet/>
      <dgm:spPr/>
      <dgm:t>
        <a:bodyPr/>
        <a:lstStyle/>
        <a:p>
          <a:endParaRPr lang="en-US"/>
        </a:p>
      </dgm:t>
    </dgm:pt>
    <dgm:pt modelId="{73B6CF06-29D7-4268-AC74-FF27EE4996FC}" type="parTrans" cxnId="{529A79E3-53D0-43E0-A8CF-B8188B129ADD}">
      <dgm:prSet/>
      <dgm:spPr/>
      <dgm:t>
        <a:bodyPr/>
        <a:lstStyle/>
        <a:p>
          <a:endParaRPr lang="en-US"/>
        </a:p>
      </dgm:t>
    </dgm:pt>
    <dgm:pt modelId="{DE23C61E-9B58-4AC1-9EBD-929AA60E51CB}">
      <dgm:prSet custT="1"/>
      <dgm:spPr>
        <a:solidFill>
          <a:schemeClr val="accent2">
            <a:lumMod val="40000"/>
            <a:lumOff val="60000"/>
          </a:schemeClr>
        </a:solidFill>
        <a:effectLst>
          <a:glow rad="63500">
            <a:schemeClr val="accent2">
              <a:satMod val="175000"/>
              <a:alpha val="40000"/>
            </a:schemeClr>
          </a:glow>
        </a:effectLst>
      </dgm:spPr>
      <dgm:t>
        <a:bodyPr/>
        <a:lstStyle/>
        <a:p>
          <a:r>
            <a:rPr lang="en-US" sz="1800" b="0" dirty="0">
              <a:solidFill>
                <a:schemeClr val="tx1"/>
              </a:solidFill>
            </a:rPr>
            <a:t>1. Analyzed distribution of numeric variables by default status</a:t>
          </a:r>
        </a:p>
      </dgm:t>
    </dgm:pt>
    <dgm:pt modelId="{AF2B56AE-11F1-47F8-93DE-D1887E01ACDB}" type="sibTrans" cxnId="{E63FA021-64FE-4C30-A799-456C57EE0123}">
      <dgm:prSet/>
      <dgm:spPr/>
      <dgm:t>
        <a:bodyPr/>
        <a:lstStyle/>
        <a:p>
          <a:endParaRPr lang="en-US"/>
        </a:p>
      </dgm:t>
    </dgm:pt>
    <dgm:pt modelId="{7B8201F1-490D-4A05-8C63-BF542947463B}" type="parTrans" cxnId="{E63FA021-64FE-4C30-A799-456C57EE0123}">
      <dgm:prSet/>
      <dgm:spPr/>
      <dgm:t>
        <a:bodyPr/>
        <a:lstStyle/>
        <a:p>
          <a:endParaRPr lang="en-US"/>
        </a:p>
      </dgm:t>
    </dgm:pt>
    <dgm:pt modelId="{8C5A45EC-7CFB-471F-A6DB-10FC17B8B8B2}">
      <dgm:prSet custT="1"/>
      <dgm:spPr>
        <a:solidFill>
          <a:schemeClr val="accent6">
            <a:lumMod val="40000"/>
            <a:lumOff val="60000"/>
          </a:schemeClr>
        </a:solidFill>
        <a:effectLst>
          <a:glow rad="63500">
            <a:schemeClr val="accent6">
              <a:satMod val="175000"/>
              <a:alpha val="40000"/>
            </a:schemeClr>
          </a:glow>
        </a:effectLst>
      </dgm:spPr>
      <dgm:t>
        <a:bodyPr/>
        <a:lstStyle/>
        <a:p>
          <a:r>
            <a:rPr lang="en-US" sz="1800" b="0" dirty="0">
              <a:solidFill>
                <a:schemeClr val="tx1"/>
              </a:solidFill>
            </a:rPr>
            <a:t>6. Explored how age and credit card debt relate to risk</a:t>
          </a:r>
          <a:endParaRPr lang="en-US" sz="1800" dirty="0">
            <a:solidFill>
              <a:schemeClr val="tx1"/>
            </a:solidFill>
          </a:endParaRPr>
        </a:p>
      </dgm:t>
    </dgm:pt>
    <dgm:pt modelId="{8B36149A-0ABE-47CA-B5C8-46708D305F97}" type="parTrans" cxnId="{194D09EE-2FDD-4F26-A972-6B502713297E}">
      <dgm:prSet/>
      <dgm:spPr/>
      <dgm:t>
        <a:bodyPr/>
        <a:lstStyle/>
        <a:p>
          <a:endParaRPr lang="en-US"/>
        </a:p>
      </dgm:t>
    </dgm:pt>
    <dgm:pt modelId="{463DC7CE-2BD7-4CDB-BFB4-2AA9B61B9B54}" type="sibTrans" cxnId="{194D09EE-2FDD-4F26-A972-6B502713297E}">
      <dgm:prSet/>
      <dgm:spPr/>
      <dgm:t>
        <a:bodyPr/>
        <a:lstStyle/>
        <a:p>
          <a:endParaRPr lang="en-US"/>
        </a:p>
      </dgm:t>
    </dgm:pt>
    <dgm:pt modelId="{FBCCDE1A-7D77-408A-9BCE-3D2701692335}" type="pres">
      <dgm:prSet presAssocID="{9B23E5AA-B602-42EB-8F6F-BCAFA2377EA7}" presName="linear" presStyleCnt="0">
        <dgm:presLayoutVars>
          <dgm:dir/>
          <dgm:animLvl val="lvl"/>
          <dgm:resizeHandles val="exact"/>
        </dgm:presLayoutVars>
      </dgm:prSet>
      <dgm:spPr/>
    </dgm:pt>
    <dgm:pt modelId="{094BD3CE-D294-45D5-8824-04EA21F5123A}" type="pres">
      <dgm:prSet presAssocID="{DE23C61E-9B58-4AC1-9EBD-929AA60E51CB}" presName="parentLin" presStyleCnt="0"/>
      <dgm:spPr/>
    </dgm:pt>
    <dgm:pt modelId="{FC222DA4-C474-421E-B5BB-AA489525EAC0}" type="pres">
      <dgm:prSet presAssocID="{DE23C61E-9B58-4AC1-9EBD-929AA60E51CB}" presName="parentLeftMargin" presStyleLbl="node1" presStyleIdx="0" presStyleCnt="6"/>
      <dgm:spPr/>
    </dgm:pt>
    <dgm:pt modelId="{50EB53D5-5F2C-4F27-8267-A0F5F872B2DB}" type="pres">
      <dgm:prSet presAssocID="{DE23C61E-9B58-4AC1-9EBD-929AA60E51CB}" presName="parentText" presStyleLbl="node1" presStyleIdx="0" presStyleCnt="6" custScaleX="100000">
        <dgm:presLayoutVars>
          <dgm:chMax val="0"/>
          <dgm:bulletEnabled val="1"/>
        </dgm:presLayoutVars>
      </dgm:prSet>
      <dgm:spPr/>
    </dgm:pt>
    <dgm:pt modelId="{B2063D0F-781E-42BE-A993-97C1C5F57FFD}" type="pres">
      <dgm:prSet presAssocID="{DE23C61E-9B58-4AC1-9EBD-929AA60E51CB}" presName="negativeSpace" presStyleCnt="0"/>
      <dgm:spPr/>
    </dgm:pt>
    <dgm:pt modelId="{E6DF53B9-63EA-4B80-A0ED-E3401AD6254B}" type="pres">
      <dgm:prSet presAssocID="{DE23C61E-9B58-4AC1-9EBD-929AA60E51CB}" presName="childText" presStyleLbl="conFgAcc1" presStyleIdx="0" presStyleCnt="6">
        <dgm:presLayoutVars>
          <dgm:bulletEnabled val="1"/>
        </dgm:presLayoutVars>
      </dgm:prSet>
      <dgm:spPr/>
    </dgm:pt>
    <dgm:pt modelId="{1084D6E4-D700-4FC0-A021-90C2EC80FA67}" type="pres">
      <dgm:prSet presAssocID="{AF2B56AE-11F1-47F8-93DE-D1887E01ACDB}" presName="spaceBetweenRectangles" presStyleCnt="0"/>
      <dgm:spPr/>
    </dgm:pt>
    <dgm:pt modelId="{CBBCEB24-17DD-4029-857E-927A09DDBD3A}" type="pres">
      <dgm:prSet presAssocID="{B99227BA-FB29-44AD-BDA0-01560B596F32}" presName="parentLin" presStyleCnt="0"/>
      <dgm:spPr/>
    </dgm:pt>
    <dgm:pt modelId="{03B1E8C8-6F52-40A2-B619-13335436F280}" type="pres">
      <dgm:prSet presAssocID="{B99227BA-FB29-44AD-BDA0-01560B596F32}" presName="parentLeftMargin" presStyleLbl="node1" presStyleIdx="0" presStyleCnt="6"/>
      <dgm:spPr/>
    </dgm:pt>
    <dgm:pt modelId="{8B792915-7856-44F8-8A68-5F3CDD6805D5}" type="pres">
      <dgm:prSet presAssocID="{B99227BA-FB29-44AD-BDA0-01560B596F32}" presName="parentText" presStyleLbl="node1" presStyleIdx="1" presStyleCnt="6" custScaleX="99799">
        <dgm:presLayoutVars>
          <dgm:chMax val="0"/>
          <dgm:bulletEnabled val="1"/>
        </dgm:presLayoutVars>
      </dgm:prSet>
      <dgm:spPr/>
    </dgm:pt>
    <dgm:pt modelId="{C5E1F79E-7CDE-470E-BC04-04BDD623878B}" type="pres">
      <dgm:prSet presAssocID="{B99227BA-FB29-44AD-BDA0-01560B596F32}" presName="negativeSpace" presStyleCnt="0"/>
      <dgm:spPr/>
    </dgm:pt>
    <dgm:pt modelId="{9D467116-E88B-4AA1-B152-BD2A908F9025}" type="pres">
      <dgm:prSet presAssocID="{B99227BA-FB29-44AD-BDA0-01560B596F32}" presName="childText" presStyleLbl="conFgAcc1" presStyleIdx="1" presStyleCnt="6">
        <dgm:presLayoutVars>
          <dgm:bulletEnabled val="1"/>
        </dgm:presLayoutVars>
      </dgm:prSet>
      <dgm:spPr/>
    </dgm:pt>
    <dgm:pt modelId="{C14A69E4-D4CA-4AFA-AB08-ED7038CBFF24}" type="pres">
      <dgm:prSet presAssocID="{2CC33966-9FF0-45C6-840E-05F314029F31}" presName="spaceBetweenRectangles" presStyleCnt="0"/>
      <dgm:spPr/>
    </dgm:pt>
    <dgm:pt modelId="{C46700D3-3C33-4CEF-A272-9332C771DE50}" type="pres">
      <dgm:prSet presAssocID="{17EA3132-475E-48AF-9498-43B8396389B1}" presName="parentLin" presStyleCnt="0"/>
      <dgm:spPr/>
    </dgm:pt>
    <dgm:pt modelId="{B5499CDE-7C07-4A5A-9109-B817EFE5DC1D}" type="pres">
      <dgm:prSet presAssocID="{17EA3132-475E-48AF-9498-43B8396389B1}" presName="parentLeftMargin" presStyleLbl="node1" presStyleIdx="1" presStyleCnt="6"/>
      <dgm:spPr/>
    </dgm:pt>
    <dgm:pt modelId="{A23A1440-DFE6-4176-9D12-81B7B9C28DFF}" type="pres">
      <dgm:prSet presAssocID="{17EA3132-475E-48AF-9498-43B8396389B1}" presName="parentText" presStyleLbl="node1" presStyleIdx="2" presStyleCnt="6" custScaleX="99505">
        <dgm:presLayoutVars>
          <dgm:chMax val="0"/>
          <dgm:bulletEnabled val="1"/>
        </dgm:presLayoutVars>
      </dgm:prSet>
      <dgm:spPr/>
    </dgm:pt>
    <dgm:pt modelId="{079F2D94-368F-42A6-9EE7-266963FB9AC3}" type="pres">
      <dgm:prSet presAssocID="{17EA3132-475E-48AF-9498-43B8396389B1}" presName="negativeSpace" presStyleCnt="0"/>
      <dgm:spPr/>
    </dgm:pt>
    <dgm:pt modelId="{DC3208FA-24FD-478C-A81E-9F30127EC411}" type="pres">
      <dgm:prSet presAssocID="{17EA3132-475E-48AF-9498-43B8396389B1}" presName="childText" presStyleLbl="conFgAcc1" presStyleIdx="2" presStyleCnt="6">
        <dgm:presLayoutVars>
          <dgm:bulletEnabled val="1"/>
        </dgm:presLayoutVars>
      </dgm:prSet>
      <dgm:spPr/>
    </dgm:pt>
    <dgm:pt modelId="{5AE5CD6B-339E-4307-BD56-B4CF17F0AC53}" type="pres">
      <dgm:prSet presAssocID="{6AB06D46-4281-488C-95BD-0C10C94C122A}" presName="spaceBetweenRectangles" presStyleCnt="0"/>
      <dgm:spPr/>
    </dgm:pt>
    <dgm:pt modelId="{9681BF98-4124-41BE-B3EA-5AE0DBAE98D1}" type="pres">
      <dgm:prSet presAssocID="{F0C67FC4-4A1B-4EB6-AB6C-328E4C5E0BE2}" presName="parentLin" presStyleCnt="0"/>
      <dgm:spPr/>
    </dgm:pt>
    <dgm:pt modelId="{4A23FF82-682F-4E99-A549-024C3EF806F2}" type="pres">
      <dgm:prSet presAssocID="{F0C67FC4-4A1B-4EB6-AB6C-328E4C5E0BE2}" presName="parentLeftMargin" presStyleLbl="node1" presStyleIdx="2" presStyleCnt="6"/>
      <dgm:spPr/>
    </dgm:pt>
    <dgm:pt modelId="{CB8578B8-AB72-48D9-A6B7-548ECE09B630}" type="pres">
      <dgm:prSet presAssocID="{F0C67FC4-4A1B-4EB6-AB6C-328E4C5E0BE2}" presName="parentText" presStyleLbl="node1" presStyleIdx="3" presStyleCnt="6" custScaleX="100112">
        <dgm:presLayoutVars>
          <dgm:chMax val="0"/>
          <dgm:bulletEnabled val="1"/>
        </dgm:presLayoutVars>
      </dgm:prSet>
      <dgm:spPr/>
    </dgm:pt>
    <dgm:pt modelId="{B6598BB3-AB0A-485E-874A-385A712EC64A}" type="pres">
      <dgm:prSet presAssocID="{F0C67FC4-4A1B-4EB6-AB6C-328E4C5E0BE2}" presName="negativeSpace" presStyleCnt="0"/>
      <dgm:spPr/>
    </dgm:pt>
    <dgm:pt modelId="{9491DB4C-78E5-44C5-AFC8-CF8BEDC9DB0E}" type="pres">
      <dgm:prSet presAssocID="{F0C67FC4-4A1B-4EB6-AB6C-328E4C5E0BE2}" presName="childText" presStyleLbl="conFgAcc1" presStyleIdx="3" presStyleCnt="6">
        <dgm:presLayoutVars>
          <dgm:bulletEnabled val="1"/>
        </dgm:presLayoutVars>
      </dgm:prSet>
      <dgm:spPr/>
    </dgm:pt>
    <dgm:pt modelId="{242078F7-B6E5-4939-98AF-B98A638BD6AA}" type="pres">
      <dgm:prSet presAssocID="{2335B22F-A1CA-4EAC-AA18-E3078D2ADFFC}" presName="spaceBetweenRectangles" presStyleCnt="0"/>
      <dgm:spPr/>
    </dgm:pt>
    <dgm:pt modelId="{BCD15FF6-C8CB-48B1-9575-D0187D21E24C}" type="pres">
      <dgm:prSet presAssocID="{F8D1DB66-19E9-459E-B8EE-2FE4D89D652E}" presName="parentLin" presStyleCnt="0"/>
      <dgm:spPr/>
    </dgm:pt>
    <dgm:pt modelId="{72D6B850-911A-4700-BC3E-0CA26B8DD2C5}" type="pres">
      <dgm:prSet presAssocID="{F8D1DB66-19E9-459E-B8EE-2FE4D89D652E}" presName="parentLeftMargin" presStyleLbl="node1" presStyleIdx="3" presStyleCnt="6"/>
      <dgm:spPr/>
    </dgm:pt>
    <dgm:pt modelId="{537D6303-1CFD-48A7-BBBC-EBDAA437E65D}" type="pres">
      <dgm:prSet presAssocID="{F8D1DB66-19E9-459E-B8EE-2FE4D89D652E}" presName="parentText" presStyleLbl="node1" presStyleIdx="4" presStyleCnt="6">
        <dgm:presLayoutVars>
          <dgm:chMax val="0"/>
          <dgm:bulletEnabled val="1"/>
        </dgm:presLayoutVars>
      </dgm:prSet>
      <dgm:spPr/>
    </dgm:pt>
    <dgm:pt modelId="{C11097B2-656B-4210-89C8-CFE63D48D651}" type="pres">
      <dgm:prSet presAssocID="{F8D1DB66-19E9-459E-B8EE-2FE4D89D652E}" presName="negativeSpace" presStyleCnt="0"/>
      <dgm:spPr/>
    </dgm:pt>
    <dgm:pt modelId="{F7EAC954-B739-4884-B653-EBAA2937B56A}" type="pres">
      <dgm:prSet presAssocID="{F8D1DB66-19E9-459E-B8EE-2FE4D89D652E}" presName="childText" presStyleLbl="conFgAcc1" presStyleIdx="4" presStyleCnt="6">
        <dgm:presLayoutVars>
          <dgm:bulletEnabled val="1"/>
        </dgm:presLayoutVars>
      </dgm:prSet>
      <dgm:spPr/>
    </dgm:pt>
    <dgm:pt modelId="{E3BF0154-32CA-42DF-B22D-C739C632F1C2}" type="pres">
      <dgm:prSet presAssocID="{BC552B02-AAF3-4646-A02F-14E0D1CE858C}" presName="spaceBetweenRectangles" presStyleCnt="0"/>
      <dgm:spPr/>
    </dgm:pt>
    <dgm:pt modelId="{789493B3-D69F-4842-A4FD-DF1167120F1D}" type="pres">
      <dgm:prSet presAssocID="{8C5A45EC-7CFB-471F-A6DB-10FC17B8B8B2}" presName="parentLin" presStyleCnt="0"/>
      <dgm:spPr/>
    </dgm:pt>
    <dgm:pt modelId="{C4906258-30BC-440E-A238-05B1EFFC0303}" type="pres">
      <dgm:prSet presAssocID="{8C5A45EC-7CFB-471F-A6DB-10FC17B8B8B2}" presName="parentLeftMargin" presStyleLbl="node1" presStyleIdx="4" presStyleCnt="6"/>
      <dgm:spPr/>
    </dgm:pt>
    <dgm:pt modelId="{F0A5F47D-90C1-4C06-9451-65A371262326}" type="pres">
      <dgm:prSet presAssocID="{8C5A45EC-7CFB-471F-A6DB-10FC17B8B8B2}" presName="parentText" presStyleLbl="node1" presStyleIdx="5" presStyleCnt="6">
        <dgm:presLayoutVars>
          <dgm:chMax val="0"/>
          <dgm:bulletEnabled val="1"/>
        </dgm:presLayoutVars>
      </dgm:prSet>
      <dgm:spPr/>
    </dgm:pt>
    <dgm:pt modelId="{4278B685-F979-402D-86BD-DBC36D024CF9}" type="pres">
      <dgm:prSet presAssocID="{8C5A45EC-7CFB-471F-A6DB-10FC17B8B8B2}" presName="negativeSpace" presStyleCnt="0"/>
      <dgm:spPr/>
    </dgm:pt>
    <dgm:pt modelId="{CE9D7C8E-EDAC-4A2A-883D-D9AA0EF8E2DD}" type="pres">
      <dgm:prSet presAssocID="{8C5A45EC-7CFB-471F-A6DB-10FC17B8B8B2}" presName="childText" presStyleLbl="conFgAcc1" presStyleIdx="5" presStyleCnt="6">
        <dgm:presLayoutVars>
          <dgm:bulletEnabled val="1"/>
        </dgm:presLayoutVars>
      </dgm:prSet>
      <dgm:spPr/>
    </dgm:pt>
  </dgm:ptLst>
  <dgm:cxnLst>
    <dgm:cxn modelId="{72488E07-1EB4-48F2-BE18-19574500362A}" type="presOf" srcId="{17EA3132-475E-48AF-9498-43B8396389B1}" destId="{B5499CDE-7C07-4A5A-9109-B817EFE5DC1D}" srcOrd="0" destOrd="0" presId="urn:microsoft.com/office/officeart/2005/8/layout/list1"/>
    <dgm:cxn modelId="{E63FA021-64FE-4C30-A799-456C57EE0123}" srcId="{9B23E5AA-B602-42EB-8F6F-BCAFA2377EA7}" destId="{DE23C61E-9B58-4AC1-9EBD-929AA60E51CB}" srcOrd="0" destOrd="0" parTransId="{7B8201F1-490D-4A05-8C63-BF542947463B}" sibTransId="{AF2B56AE-11F1-47F8-93DE-D1887E01ACDB}"/>
    <dgm:cxn modelId="{D75A4C27-5A27-4C37-97EE-905F2329E1DF}" type="presOf" srcId="{DE23C61E-9B58-4AC1-9EBD-929AA60E51CB}" destId="{50EB53D5-5F2C-4F27-8267-A0F5F872B2DB}" srcOrd="1" destOrd="0" presId="urn:microsoft.com/office/officeart/2005/8/layout/list1"/>
    <dgm:cxn modelId="{D8C2B32C-1631-4A99-822E-F7CC628531F9}" type="presOf" srcId="{8C5A45EC-7CFB-471F-A6DB-10FC17B8B8B2}" destId="{F0A5F47D-90C1-4C06-9451-65A371262326}" srcOrd="1" destOrd="0" presId="urn:microsoft.com/office/officeart/2005/8/layout/list1"/>
    <dgm:cxn modelId="{9E621E60-DFF2-421C-92C5-673B8A8813D3}" type="presOf" srcId="{B99227BA-FB29-44AD-BDA0-01560B596F32}" destId="{03B1E8C8-6F52-40A2-B619-13335436F280}" srcOrd="0" destOrd="0" presId="urn:microsoft.com/office/officeart/2005/8/layout/list1"/>
    <dgm:cxn modelId="{AA304D66-6028-4821-8A53-088C259223B0}" type="presOf" srcId="{9B23E5AA-B602-42EB-8F6F-BCAFA2377EA7}" destId="{FBCCDE1A-7D77-408A-9BCE-3D2701692335}" srcOrd="0" destOrd="0" presId="urn:microsoft.com/office/officeart/2005/8/layout/list1"/>
    <dgm:cxn modelId="{48A73849-C767-4BF4-8EAA-D3F464DFD9CD}" type="presOf" srcId="{F8D1DB66-19E9-459E-B8EE-2FE4D89D652E}" destId="{537D6303-1CFD-48A7-BBBC-EBDAA437E65D}" srcOrd="1" destOrd="0" presId="urn:microsoft.com/office/officeart/2005/8/layout/list1"/>
    <dgm:cxn modelId="{1190087E-9BF8-4F2C-A600-8743714570A3}" type="presOf" srcId="{DE23C61E-9B58-4AC1-9EBD-929AA60E51CB}" destId="{FC222DA4-C474-421E-B5BB-AA489525EAC0}" srcOrd="0" destOrd="0" presId="urn:microsoft.com/office/officeart/2005/8/layout/list1"/>
    <dgm:cxn modelId="{B6A3CB8B-019B-4C8C-8856-257DDCD94354}" type="presOf" srcId="{17EA3132-475E-48AF-9498-43B8396389B1}" destId="{A23A1440-DFE6-4176-9D12-81B7B9C28DFF}" srcOrd="1" destOrd="0" presId="urn:microsoft.com/office/officeart/2005/8/layout/list1"/>
    <dgm:cxn modelId="{22398392-8930-460C-9AA9-A4D2534F5E2B}" type="presOf" srcId="{F0C67FC4-4A1B-4EB6-AB6C-328E4C5E0BE2}" destId="{CB8578B8-AB72-48D9-A6B7-548ECE09B630}" srcOrd="1" destOrd="0" presId="urn:microsoft.com/office/officeart/2005/8/layout/list1"/>
    <dgm:cxn modelId="{8CF3AE9B-FE12-4BA6-A470-298D4BE2DA5B}" type="presOf" srcId="{B99227BA-FB29-44AD-BDA0-01560B596F32}" destId="{8B792915-7856-44F8-8A68-5F3CDD6805D5}" srcOrd="1" destOrd="0" presId="urn:microsoft.com/office/officeart/2005/8/layout/list1"/>
    <dgm:cxn modelId="{D4D83EA7-4823-4ADE-B8BE-3A411AEF2B65}" srcId="{9B23E5AA-B602-42EB-8F6F-BCAFA2377EA7}" destId="{17EA3132-475E-48AF-9498-43B8396389B1}" srcOrd="2" destOrd="0" parTransId="{AF41FF2F-3549-4F4C-9980-129A29F57748}" sibTransId="{6AB06D46-4281-488C-95BD-0C10C94C122A}"/>
    <dgm:cxn modelId="{C22161C0-0BAD-490D-B014-66ED24C802CB}" type="presOf" srcId="{F0C67FC4-4A1B-4EB6-AB6C-328E4C5E0BE2}" destId="{4A23FF82-682F-4E99-A549-024C3EF806F2}" srcOrd="0" destOrd="0" presId="urn:microsoft.com/office/officeart/2005/8/layout/list1"/>
    <dgm:cxn modelId="{E59B9AC4-13A8-43C5-9D80-A7B772C77967}" srcId="{9B23E5AA-B602-42EB-8F6F-BCAFA2377EA7}" destId="{F0C67FC4-4A1B-4EB6-AB6C-328E4C5E0BE2}" srcOrd="3" destOrd="0" parTransId="{71562F97-CCDD-43AC-B913-EB3D8812D65C}" sibTransId="{2335B22F-A1CA-4EAC-AA18-E3078D2ADFFC}"/>
    <dgm:cxn modelId="{5ABEDED1-1811-481D-9EDA-B0087404314E}" srcId="{9B23E5AA-B602-42EB-8F6F-BCAFA2377EA7}" destId="{F8D1DB66-19E9-459E-B8EE-2FE4D89D652E}" srcOrd="4" destOrd="0" parTransId="{E8D96A6A-9348-4849-B395-F2285E4F7CD4}" sibTransId="{BC552B02-AAF3-4646-A02F-14E0D1CE858C}"/>
    <dgm:cxn modelId="{44B97EE0-8091-45E7-983C-58474405D05A}" type="presOf" srcId="{F8D1DB66-19E9-459E-B8EE-2FE4D89D652E}" destId="{72D6B850-911A-4700-BC3E-0CA26B8DD2C5}" srcOrd="0" destOrd="0" presId="urn:microsoft.com/office/officeart/2005/8/layout/list1"/>
    <dgm:cxn modelId="{529A79E3-53D0-43E0-A8CF-B8188B129ADD}" srcId="{9B23E5AA-B602-42EB-8F6F-BCAFA2377EA7}" destId="{B99227BA-FB29-44AD-BDA0-01560B596F32}" srcOrd="1" destOrd="0" parTransId="{73B6CF06-29D7-4268-AC74-FF27EE4996FC}" sibTransId="{2CC33966-9FF0-45C6-840E-05F314029F31}"/>
    <dgm:cxn modelId="{194D09EE-2FDD-4F26-A972-6B502713297E}" srcId="{9B23E5AA-B602-42EB-8F6F-BCAFA2377EA7}" destId="{8C5A45EC-7CFB-471F-A6DB-10FC17B8B8B2}" srcOrd="5" destOrd="0" parTransId="{8B36149A-0ABE-47CA-B5C8-46708D305F97}" sibTransId="{463DC7CE-2BD7-4CDB-BFB4-2AA9B61B9B54}"/>
    <dgm:cxn modelId="{7175ABFA-21B3-4B47-BBAE-22905DFCE3EC}" type="presOf" srcId="{8C5A45EC-7CFB-471F-A6DB-10FC17B8B8B2}" destId="{C4906258-30BC-440E-A238-05B1EFFC0303}" srcOrd="0" destOrd="0" presId="urn:microsoft.com/office/officeart/2005/8/layout/list1"/>
    <dgm:cxn modelId="{66C958F9-FB46-4A86-BFC9-6648B3E1AF56}" type="presParOf" srcId="{FBCCDE1A-7D77-408A-9BCE-3D2701692335}" destId="{094BD3CE-D294-45D5-8824-04EA21F5123A}" srcOrd="0" destOrd="0" presId="urn:microsoft.com/office/officeart/2005/8/layout/list1"/>
    <dgm:cxn modelId="{2EAE91F6-3B68-44DD-A4DA-8B6EE1303078}" type="presParOf" srcId="{094BD3CE-D294-45D5-8824-04EA21F5123A}" destId="{FC222DA4-C474-421E-B5BB-AA489525EAC0}" srcOrd="0" destOrd="0" presId="urn:microsoft.com/office/officeart/2005/8/layout/list1"/>
    <dgm:cxn modelId="{83E069E4-E3A2-4F26-83A0-21271854590A}" type="presParOf" srcId="{094BD3CE-D294-45D5-8824-04EA21F5123A}" destId="{50EB53D5-5F2C-4F27-8267-A0F5F872B2DB}" srcOrd="1" destOrd="0" presId="urn:microsoft.com/office/officeart/2005/8/layout/list1"/>
    <dgm:cxn modelId="{F9698F2D-2A02-402E-AF1F-F5B16322CEB5}" type="presParOf" srcId="{FBCCDE1A-7D77-408A-9BCE-3D2701692335}" destId="{B2063D0F-781E-42BE-A993-97C1C5F57FFD}" srcOrd="1" destOrd="0" presId="urn:microsoft.com/office/officeart/2005/8/layout/list1"/>
    <dgm:cxn modelId="{6DC8B481-208E-47E1-A508-D8B52CE9275B}" type="presParOf" srcId="{FBCCDE1A-7D77-408A-9BCE-3D2701692335}" destId="{E6DF53B9-63EA-4B80-A0ED-E3401AD6254B}" srcOrd="2" destOrd="0" presId="urn:microsoft.com/office/officeart/2005/8/layout/list1"/>
    <dgm:cxn modelId="{DA633061-677C-439F-A693-2BBE580B3445}" type="presParOf" srcId="{FBCCDE1A-7D77-408A-9BCE-3D2701692335}" destId="{1084D6E4-D700-4FC0-A021-90C2EC80FA67}" srcOrd="3" destOrd="0" presId="urn:microsoft.com/office/officeart/2005/8/layout/list1"/>
    <dgm:cxn modelId="{99B15A4C-1960-40C7-B2AE-A1FA747F4ECA}" type="presParOf" srcId="{FBCCDE1A-7D77-408A-9BCE-3D2701692335}" destId="{CBBCEB24-17DD-4029-857E-927A09DDBD3A}" srcOrd="4" destOrd="0" presId="urn:microsoft.com/office/officeart/2005/8/layout/list1"/>
    <dgm:cxn modelId="{0D0AA5F6-F59F-4A6E-A007-2A3B3792DE08}" type="presParOf" srcId="{CBBCEB24-17DD-4029-857E-927A09DDBD3A}" destId="{03B1E8C8-6F52-40A2-B619-13335436F280}" srcOrd="0" destOrd="0" presId="urn:microsoft.com/office/officeart/2005/8/layout/list1"/>
    <dgm:cxn modelId="{42E27631-1911-46B3-AB28-8041880815BE}" type="presParOf" srcId="{CBBCEB24-17DD-4029-857E-927A09DDBD3A}" destId="{8B792915-7856-44F8-8A68-5F3CDD6805D5}" srcOrd="1" destOrd="0" presId="urn:microsoft.com/office/officeart/2005/8/layout/list1"/>
    <dgm:cxn modelId="{7C0711D1-8E51-4433-92D9-43828BEA46FE}" type="presParOf" srcId="{FBCCDE1A-7D77-408A-9BCE-3D2701692335}" destId="{C5E1F79E-7CDE-470E-BC04-04BDD623878B}" srcOrd="5" destOrd="0" presId="urn:microsoft.com/office/officeart/2005/8/layout/list1"/>
    <dgm:cxn modelId="{764A90B7-3319-4030-A3CE-3C81422007DE}" type="presParOf" srcId="{FBCCDE1A-7D77-408A-9BCE-3D2701692335}" destId="{9D467116-E88B-4AA1-B152-BD2A908F9025}" srcOrd="6" destOrd="0" presId="urn:microsoft.com/office/officeart/2005/8/layout/list1"/>
    <dgm:cxn modelId="{E46F38EA-2EC7-4264-BD55-A2A7B194E7E2}" type="presParOf" srcId="{FBCCDE1A-7D77-408A-9BCE-3D2701692335}" destId="{C14A69E4-D4CA-4AFA-AB08-ED7038CBFF24}" srcOrd="7" destOrd="0" presId="urn:microsoft.com/office/officeart/2005/8/layout/list1"/>
    <dgm:cxn modelId="{5E801BB1-A65A-429E-8088-9F982114B933}" type="presParOf" srcId="{FBCCDE1A-7D77-408A-9BCE-3D2701692335}" destId="{C46700D3-3C33-4CEF-A272-9332C771DE50}" srcOrd="8" destOrd="0" presId="urn:microsoft.com/office/officeart/2005/8/layout/list1"/>
    <dgm:cxn modelId="{B90B3CB9-A020-4A6F-B14F-CBBF1EB756C3}" type="presParOf" srcId="{C46700D3-3C33-4CEF-A272-9332C771DE50}" destId="{B5499CDE-7C07-4A5A-9109-B817EFE5DC1D}" srcOrd="0" destOrd="0" presId="urn:microsoft.com/office/officeart/2005/8/layout/list1"/>
    <dgm:cxn modelId="{5DF00CC4-4A13-4828-8F4F-C5C4E3A2BCC2}" type="presParOf" srcId="{C46700D3-3C33-4CEF-A272-9332C771DE50}" destId="{A23A1440-DFE6-4176-9D12-81B7B9C28DFF}" srcOrd="1" destOrd="0" presId="urn:microsoft.com/office/officeart/2005/8/layout/list1"/>
    <dgm:cxn modelId="{32F2AA59-D1E5-4E57-87D7-583D70A73050}" type="presParOf" srcId="{FBCCDE1A-7D77-408A-9BCE-3D2701692335}" destId="{079F2D94-368F-42A6-9EE7-266963FB9AC3}" srcOrd="9" destOrd="0" presId="urn:microsoft.com/office/officeart/2005/8/layout/list1"/>
    <dgm:cxn modelId="{AFA9DAF4-0B0F-4FE8-AC06-5D787655FDB3}" type="presParOf" srcId="{FBCCDE1A-7D77-408A-9BCE-3D2701692335}" destId="{DC3208FA-24FD-478C-A81E-9F30127EC411}" srcOrd="10" destOrd="0" presId="urn:microsoft.com/office/officeart/2005/8/layout/list1"/>
    <dgm:cxn modelId="{CB7A2802-D7BB-478E-9284-B05C7F15A6FA}" type="presParOf" srcId="{FBCCDE1A-7D77-408A-9BCE-3D2701692335}" destId="{5AE5CD6B-339E-4307-BD56-B4CF17F0AC53}" srcOrd="11" destOrd="0" presId="urn:microsoft.com/office/officeart/2005/8/layout/list1"/>
    <dgm:cxn modelId="{FA089111-A0A0-4862-BE11-0FE47C9E2792}" type="presParOf" srcId="{FBCCDE1A-7D77-408A-9BCE-3D2701692335}" destId="{9681BF98-4124-41BE-B3EA-5AE0DBAE98D1}" srcOrd="12" destOrd="0" presId="urn:microsoft.com/office/officeart/2005/8/layout/list1"/>
    <dgm:cxn modelId="{A480235E-4D4F-4C78-B930-4732B4AB951A}" type="presParOf" srcId="{9681BF98-4124-41BE-B3EA-5AE0DBAE98D1}" destId="{4A23FF82-682F-4E99-A549-024C3EF806F2}" srcOrd="0" destOrd="0" presId="urn:microsoft.com/office/officeart/2005/8/layout/list1"/>
    <dgm:cxn modelId="{0F94687F-DFDA-477A-B77D-2F1946223B3A}" type="presParOf" srcId="{9681BF98-4124-41BE-B3EA-5AE0DBAE98D1}" destId="{CB8578B8-AB72-48D9-A6B7-548ECE09B630}" srcOrd="1" destOrd="0" presId="urn:microsoft.com/office/officeart/2005/8/layout/list1"/>
    <dgm:cxn modelId="{AF205B0E-04AD-4792-8C2B-8097CCA3B343}" type="presParOf" srcId="{FBCCDE1A-7D77-408A-9BCE-3D2701692335}" destId="{B6598BB3-AB0A-485E-874A-385A712EC64A}" srcOrd="13" destOrd="0" presId="urn:microsoft.com/office/officeart/2005/8/layout/list1"/>
    <dgm:cxn modelId="{23953317-5B6B-4B1C-8134-33BB0499E9C1}" type="presParOf" srcId="{FBCCDE1A-7D77-408A-9BCE-3D2701692335}" destId="{9491DB4C-78E5-44C5-AFC8-CF8BEDC9DB0E}" srcOrd="14" destOrd="0" presId="urn:microsoft.com/office/officeart/2005/8/layout/list1"/>
    <dgm:cxn modelId="{9BB37E35-B005-48E1-982A-F02DA378C93F}" type="presParOf" srcId="{FBCCDE1A-7D77-408A-9BCE-3D2701692335}" destId="{242078F7-B6E5-4939-98AF-B98A638BD6AA}" srcOrd="15" destOrd="0" presId="urn:microsoft.com/office/officeart/2005/8/layout/list1"/>
    <dgm:cxn modelId="{58BA1492-E41D-4055-A7B9-2BBE3FC9F058}" type="presParOf" srcId="{FBCCDE1A-7D77-408A-9BCE-3D2701692335}" destId="{BCD15FF6-C8CB-48B1-9575-D0187D21E24C}" srcOrd="16" destOrd="0" presId="urn:microsoft.com/office/officeart/2005/8/layout/list1"/>
    <dgm:cxn modelId="{BCDAA62A-56EB-4747-8107-867F88A7AB53}" type="presParOf" srcId="{BCD15FF6-C8CB-48B1-9575-D0187D21E24C}" destId="{72D6B850-911A-4700-BC3E-0CA26B8DD2C5}" srcOrd="0" destOrd="0" presId="urn:microsoft.com/office/officeart/2005/8/layout/list1"/>
    <dgm:cxn modelId="{90891ABF-8EE4-450B-B030-08373F046C42}" type="presParOf" srcId="{BCD15FF6-C8CB-48B1-9575-D0187D21E24C}" destId="{537D6303-1CFD-48A7-BBBC-EBDAA437E65D}" srcOrd="1" destOrd="0" presId="urn:microsoft.com/office/officeart/2005/8/layout/list1"/>
    <dgm:cxn modelId="{80766632-D1A5-49CA-8C61-1EBCAA045DE1}" type="presParOf" srcId="{FBCCDE1A-7D77-408A-9BCE-3D2701692335}" destId="{C11097B2-656B-4210-89C8-CFE63D48D651}" srcOrd="17" destOrd="0" presId="urn:microsoft.com/office/officeart/2005/8/layout/list1"/>
    <dgm:cxn modelId="{EF40E103-CF9D-4BC8-A35B-C85245D674EB}" type="presParOf" srcId="{FBCCDE1A-7D77-408A-9BCE-3D2701692335}" destId="{F7EAC954-B739-4884-B653-EBAA2937B56A}" srcOrd="18" destOrd="0" presId="urn:microsoft.com/office/officeart/2005/8/layout/list1"/>
    <dgm:cxn modelId="{3B591A0B-4E9D-4122-8204-7F9ABE7DC953}" type="presParOf" srcId="{FBCCDE1A-7D77-408A-9BCE-3D2701692335}" destId="{E3BF0154-32CA-42DF-B22D-C739C632F1C2}" srcOrd="19" destOrd="0" presId="urn:microsoft.com/office/officeart/2005/8/layout/list1"/>
    <dgm:cxn modelId="{72F7EA45-39EE-4400-9921-A314DF7E3A02}" type="presParOf" srcId="{FBCCDE1A-7D77-408A-9BCE-3D2701692335}" destId="{789493B3-D69F-4842-A4FD-DF1167120F1D}" srcOrd="20" destOrd="0" presId="urn:microsoft.com/office/officeart/2005/8/layout/list1"/>
    <dgm:cxn modelId="{253C4CFB-688C-4660-92B3-2D46E359F26E}" type="presParOf" srcId="{789493B3-D69F-4842-A4FD-DF1167120F1D}" destId="{C4906258-30BC-440E-A238-05B1EFFC0303}" srcOrd="0" destOrd="0" presId="urn:microsoft.com/office/officeart/2005/8/layout/list1"/>
    <dgm:cxn modelId="{CD686E47-DF8A-486E-82CA-F805D552742B}" type="presParOf" srcId="{789493B3-D69F-4842-A4FD-DF1167120F1D}" destId="{F0A5F47D-90C1-4C06-9451-65A371262326}" srcOrd="1" destOrd="0" presId="urn:microsoft.com/office/officeart/2005/8/layout/list1"/>
    <dgm:cxn modelId="{A5DF9385-DC6C-47D1-94B5-AF70E23C3F89}" type="presParOf" srcId="{FBCCDE1A-7D77-408A-9BCE-3D2701692335}" destId="{4278B685-F979-402D-86BD-DBC36D024CF9}" srcOrd="21" destOrd="0" presId="urn:microsoft.com/office/officeart/2005/8/layout/list1"/>
    <dgm:cxn modelId="{F6FEDE42-8F07-4284-AFDD-1C55397018F3}" type="presParOf" srcId="{FBCCDE1A-7D77-408A-9BCE-3D2701692335}" destId="{CE9D7C8E-EDAC-4A2A-883D-D9AA0EF8E2DD}" srcOrd="2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364337-C5C8-47F1-B456-B960D183883A}">
      <dsp:nvSpPr>
        <dsp:cNvPr id="0" name=""/>
        <dsp:cNvSpPr/>
      </dsp:nvSpPr>
      <dsp:spPr>
        <a:xfrm>
          <a:off x="609606" y="813039"/>
          <a:ext cx="1098000" cy="1098000"/>
        </a:xfrm>
        <a:prstGeom prst="ellipse">
          <a:avLst/>
        </a:prstGeom>
        <a:solidFill>
          <a:schemeClr val="accent2">
            <a:hueOff val="0"/>
            <a:satOff val="0"/>
            <a:lumOff val="0"/>
            <a:alphaOff val="0"/>
          </a:schemeClr>
        </a:solidFill>
        <a:ln>
          <a:noFill/>
        </a:ln>
        <a:effectLst>
          <a:glow rad="228600">
            <a:schemeClr val="accent2">
              <a:satMod val="175000"/>
              <a:alpha val="40000"/>
            </a:schemeClr>
          </a:glow>
        </a:effectLst>
      </dsp:spPr>
      <dsp:style>
        <a:lnRef idx="0">
          <a:scrgbClr r="0" g="0" b="0"/>
        </a:lnRef>
        <a:fillRef idx="1">
          <a:scrgbClr r="0" g="0" b="0"/>
        </a:fillRef>
        <a:effectRef idx="0">
          <a:scrgbClr r="0" g="0" b="0"/>
        </a:effectRef>
        <a:fontRef idx="minor"/>
      </dsp:style>
    </dsp:sp>
    <dsp:sp modelId="{26CA7A21-07A0-4050-815B-D89F4FF6DBED}">
      <dsp:nvSpPr>
        <dsp:cNvPr id="0" name=""/>
        <dsp:cNvSpPr/>
      </dsp:nvSpPr>
      <dsp:spPr>
        <a:xfrm>
          <a:off x="843606" y="1047040"/>
          <a:ext cx="630000" cy="63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1C6254B-94DA-4890-8900-299C67B2EDEC}">
      <dsp:nvSpPr>
        <dsp:cNvPr id="0" name=""/>
        <dsp:cNvSpPr/>
      </dsp:nvSpPr>
      <dsp:spPr>
        <a:xfrm>
          <a:off x="258606" y="2253040"/>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cap="all"/>
          </a:pPr>
          <a:r>
            <a:rPr lang="en-US" sz="1400" b="0" kern="1200" dirty="0"/>
            <a:t>Analyze defaulters and associated factors</a:t>
          </a:r>
          <a:endParaRPr lang="en-US" sz="1400" kern="1200" dirty="0"/>
        </a:p>
      </dsp:txBody>
      <dsp:txXfrm>
        <a:off x="258606" y="2253040"/>
        <a:ext cx="1800000" cy="720000"/>
      </dsp:txXfrm>
    </dsp:sp>
    <dsp:sp modelId="{6D4BC3BA-A323-4E85-B43D-35B28292F031}">
      <dsp:nvSpPr>
        <dsp:cNvPr id="0" name=""/>
        <dsp:cNvSpPr/>
      </dsp:nvSpPr>
      <dsp:spPr>
        <a:xfrm>
          <a:off x="2903184" y="732234"/>
          <a:ext cx="1098000" cy="1098000"/>
        </a:xfrm>
        <a:prstGeom prst="ellipse">
          <a:avLst/>
        </a:prstGeom>
        <a:solidFill>
          <a:schemeClr val="accent3">
            <a:hueOff val="0"/>
            <a:satOff val="0"/>
            <a:lumOff val="0"/>
            <a:alphaOff val="0"/>
          </a:schemeClr>
        </a:solidFill>
        <a:ln>
          <a:noFill/>
        </a:ln>
        <a:effectLst>
          <a:glow rad="228600">
            <a:schemeClr val="accent3">
              <a:satMod val="175000"/>
              <a:alpha val="40000"/>
            </a:schemeClr>
          </a:glow>
        </a:effectLst>
      </dsp:spPr>
      <dsp:style>
        <a:lnRef idx="0">
          <a:scrgbClr r="0" g="0" b="0"/>
        </a:lnRef>
        <a:fillRef idx="1">
          <a:scrgbClr r="0" g="0" b="0"/>
        </a:fillRef>
        <a:effectRef idx="0">
          <a:scrgbClr r="0" g="0" b="0"/>
        </a:effectRef>
        <a:fontRef idx="minor"/>
      </dsp:style>
    </dsp:sp>
    <dsp:sp modelId="{C9B569CA-DE3F-4436-B508-0358815C4B78}">
      <dsp:nvSpPr>
        <dsp:cNvPr id="0" name=""/>
        <dsp:cNvSpPr/>
      </dsp:nvSpPr>
      <dsp:spPr>
        <a:xfrm>
          <a:off x="3137184" y="966234"/>
          <a:ext cx="630000" cy="63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E12697A-4B20-436E-BE0A-1769D65960D0}">
      <dsp:nvSpPr>
        <dsp:cNvPr id="0" name=""/>
        <dsp:cNvSpPr/>
      </dsp:nvSpPr>
      <dsp:spPr>
        <a:xfrm>
          <a:off x="2362626" y="2271716"/>
          <a:ext cx="2157156" cy="10432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cap="all"/>
          </a:pPr>
          <a:r>
            <a:rPr lang="en-US" sz="1400" b="0" kern="1200" dirty="0"/>
            <a:t>Develop a credit scorecard using Binary logistic regression</a:t>
          </a:r>
          <a:endParaRPr lang="en-US" sz="1400" kern="1200" dirty="0"/>
        </a:p>
      </dsp:txBody>
      <dsp:txXfrm>
        <a:off x="2362626" y="2271716"/>
        <a:ext cx="2157156" cy="1043222"/>
      </dsp:txXfrm>
    </dsp:sp>
    <dsp:sp modelId="{17DB6CDB-015A-439D-AB90-A187ADC298F1}">
      <dsp:nvSpPr>
        <dsp:cNvPr id="0" name=""/>
        <dsp:cNvSpPr/>
      </dsp:nvSpPr>
      <dsp:spPr>
        <a:xfrm>
          <a:off x="5196762" y="813039"/>
          <a:ext cx="1098000" cy="1098000"/>
        </a:xfrm>
        <a:prstGeom prst="ellipse">
          <a:avLst/>
        </a:prstGeom>
        <a:solidFill>
          <a:schemeClr val="accent4">
            <a:hueOff val="0"/>
            <a:satOff val="0"/>
            <a:lumOff val="0"/>
            <a:alphaOff val="0"/>
          </a:schemeClr>
        </a:solidFill>
        <a:ln>
          <a:noFill/>
        </a:ln>
        <a:effectLst>
          <a:glow rad="228600">
            <a:schemeClr val="accent4">
              <a:satMod val="175000"/>
              <a:alpha val="40000"/>
            </a:schemeClr>
          </a:glow>
        </a:effectLst>
      </dsp:spPr>
      <dsp:style>
        <a:lnRef idx="0">
          <a:scrgbClr r="0" g="0" b="0"/>
        </a:lnRef>
        <a:fillRef idx="1">
          <a:scrgbClr r="0" g="0" b="0"/>
        </a:fillRef>
        <a:effectRef idx="0">
          <a:scrgbClr r="0" g="0" b="0"/>
        </a:effectRef>
        <a:fontRef idx="minor"/>
      </dsp:style>
    </dsp:sp>
    <dsp:sp modelId="{25DF9346-6CE6-428A-914C-F563D0354E1D}">
      <dsp:nvSpPr>
        <dsp:cNvPr id="0" name=""/>
        <dsp:cNvSpPr/>
      </dsp:nvSpPr>
      <dsp:spPr>
        <a:xfrm>
          <a:off x="5430762" y="1047039"/>
          <a:ext cx="630000" cy="63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D435751-F298-4BCD-9849-EF1642FE296F}">
      <dsp:nvSpPr>
        <dsp:cNvPr id="0" name=""/>
        <dsp:cNvSpPr/>
      </dsp:nvSpPr>
      <dsp:spPr>
        <a:xfrm>
          <a:off x="4845762" y="2253040"/>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cap="all"/>
          </a:pPr>
          <a:r>
            <a:rPr lang="en-US" sz="1400" b="0" kern="1200" dirty="0"/>
            <a:t>Compare model performance with ML methods</a:t>
          </a:r>
          <a:endParaRPr lang="en-US" sz="1400" kern="1200" dirty="0"/>
        </a:p>
      </dsp:txBody>
      <dsp:txXfrm>
        <a:off x="4845762" y="2253040"/>
        <a:ext cx="1800000" cy="720000"/>
      </dsp:txXfrm>
    </dsp:sp>
    <dsp:sp modelId="{A2F66DD8-6544-4DA3-AA5F-B92C84D4B19D}">
      <dsp:nvSpPr>
        <dsp:cNvPr id="0" name=""/>
        <dsp:cNvSpPr/>
      </dsp:nvSpPr>
      <dsp:spPr>
        <a:xfrm>
          <a:off x="7311762" y="813039"/>
          <a:ext cx="1098000" cy="1098000"/>
        </a:xfrm>
        <a:prstGeom prst="ellipse">
          <a:avLst/>
        </a:prstGeom>
        <a:solidFill>
          <a:schemeClr val="accent5">
            <a:hueOff val="0"/>
            <a:satOff val="0"/>
            <a:lumOff val="0"/>
            <a:alphaOff val="0"/>
          </a:schemeClr>
        </a:solidFill>
        <a:ln>
          <a:noFill/>
        </a:ln>
        <a:effectLst>
          <a:glow rad="228600">
            <a:schemeClr val="accent5">
              <a:satMod val="175000"/>
              <a:alpha val="40000"/>
            </a:schemeClr>
          </a:glow>
        </a:effectLst>
      </dsp:spPr>
      <dsp:style>
        <a:lnRef idx="0">
          <a:scrgbClr r="0" g="0" b="0"/>
        </a:lnRef>
        <a:fillRef idx="1">
          <a:scrgbClr r="0" g="0" b="0"/>
        </a:fillRef>
        <a:effectRef idx="0">
          <a:scrgbClr r="0" g="0" b="0"/>
        </a:effectRef>
        <a:fontRef idx="minor"/>
      </dsp:style>
    </dsp:sp>
    <dsp:sp modelId="{758181C2-5C96-4432-9600-925971BC1094}">
      <dsp:nvSpPr>
        <dsp:cNvPr id="0" name=""/>
        <dsp:cNvSpPr/>
      </dsp:nvSpPr>
      <dsp:spPr>
        <a:xfrm>
          <a:off x="7545762" y="1047039"/>
          <a:ext cx="630000" cy="63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802B678-1446-4E1C-83DD-3983002CCD44}">
      <dsp:nvSpPr>
        <dsp:cNvPr id="0" name=""/>
        <dsp:cNvSpPr/>
      </dsp:nvSpPr>
      <dsp:spPr>
        <a:xfrm>
          <a:off x="6960762" y="2253040"/>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cap="all"/>
          </a:pPr>
          <a:r>
            <a:rPr lang="en-US" sz="1400" b="0" kern="1200" dirty="0"/>
            <a:t>Analyze customer feedback using text mining</a:t>
          </a:r>
          <a:endParaRPr lang="en-US" sz="1400" kern="1200" dirty="0"/>
        </a:p>
      </dsp:txBody>
      <dsp:txXfrm>
        <a:off x="6960762" y="2253040"/>
        <a:ext cx="180000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794C02-ED3F-4C40-818C-34791F3589D3}">
      <dsp:nvSpPr>
        <dsp:cNvPr id="0" name=""/>
        <dsp:cNvSpPr/>
      </dsp:nvSpPr>
      <dsp:spPr>
        <a:xfrm>
          <a:off x="7565" y="595520"/>
          <a:ext cx="1824855" cy="547456"/>
        </a:xfrm>
        <a:prstGeom prst="chevron">
          <a:avLst>
            <a:gd name="adj" fmla="val 30000"/>
          </a:avLst>
        </a:prstGeom>
        <a:solidFill>
          <a:schemeClr val="accent2">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7596" tIns="67596" rIns="67596" bIns="67596" numCol="1" spcCol="1270" anchor="ctr" anchorCtr="0">
          <a:noAutofit/>
        </a:bodyPr>
        <a:lstStyle/>
        <a:p>
          <a:pPr marL="0" lvl="0" indent="0" algn="ctr" defTabSz="1244600">
            <a:lnSpc>
              <a:spcPct val="90000"/>
            </a:lnSpc>
            <a:spcBef>
              <a:spcPct val="0"/>
            </a:spcBef>
            <a:spcAft>
              <a:spcPct val="35000"/>
            </a:spcAft>
            <a:buNone/>
          </a:pPr>
          <a:r>
            <a:rPr lang="en-US" sz="2800" kern="1200"/>
            <a:t>Phase 1</a:t>
          </a:r>
        </a:p>
      </dsp:txBody>
      <dsp:txXfrm>
        <a:off x="171802" y="595520"/>
        <a:ext cx="1496381" cy="547456"/>
      </dsp:txXfrm>
    </dsp:sp>
    <dsp:sp modelId="{97538F0B-5C70-46AD-A92E-2D9726157F97}">
      <dsp:nvSpPr>
        <dsp:cNvPr id="0" name=""/>
        <dsp:cNvSpPr/>
      </dsp:nvSpPr>
      <dsp:spPr>
        <a:xfrm>
          <a:off x="7565" y="1142976"/>
          <a:ext cx="1660618" cy="1452742"/>
        </a:xfrm>
        <a:prstGeom prst="rect">
          <a:avLst/>
        </a:prstGeom>
        <a:solidFill>
          <a:schemeClr val="accent2">
            <a:tint val="40000"/>
            <a:alpha val="90000"/>
            <a:hueOff val="0"/>
            <a:satOff val="0"/>
            <a:lumOff val="0"/>
            <a:alphaOff val="0"/>
          </a:schemeClr>
        </a:solidFill>
        <a:ln w="15875"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1226" tIns="131226" rIns="131226" bIns="262451" numCol="1" spcCol="1270" anchor="t" anchorCtr="0">
          <a:noAutofit/>
        </a:bodyPr>
        <a:lstStyle/>
        <a:p>
          <a:pPr marL="0" lvl="0" indent="0" algn="l" defTabSz="889000">
            <a:lnSpc>
              <a:spcPct val="90000"/>
            </a:lnSpc>
            <a:spcBef>
              <a:spcPct val="0"/>
            </a:spcBef>
            <a:spcAft>
              <a:spcPct val="35000"/>
            </a:spcAft>
            <a:buNone/>
          </a:pPr>
          <a:endParaRPr lang="en-US" sz="2000" kern="1200" dirty="0"/>
        </a:p>
        <a:p>
          <a:pPr marL="171450" lvl="1" indent="-171450" algn="l" defTabSz="711200">
            <a:lnSpc>
              <a:spcPct val="90000"/>
            </a:lnSpc>
            <a:spcBef>
              <a:spcPct val="0"/>
            </a:spcBef>
            <a:spcAft>
              <a:spcPct val="15000"/>
            </a:spcAft>
            <a:buChar char="•"/>
          </a:pPr>
          <a:r>
            <a:rPr lang="en-US" sz="1600" kern="1200"/>
            <a:t>Data Management</a:t>
          </a:r>
        </a:p>
      </dsp:txBody>
      <dsp:txXfrm>
        <a:off x="7565" y="1142976"/>
        <a:ext cx="1660618" cy="1452742"/>
      </dsp:txXfrm>
    </dsp:sp>
    <dsp:sp modelId="{0D5B2275-AB55-4BA7-9519-DDA9145C9F6E}">
      <dsp:nvSpPr>
        <dsp:cNvPr id="0" name=""/>
        <dsp:cNvSpPr/>
      </dsp:nvSpPr>
      <dsp:spPr>
        <a:xfrm>
          <a:off x="1787662" y="595520"/>
          <a:ext cx="1824855" cy="547456"/>
        </a:xfrm>
        <a:prstGeom prst="chevron">
          <a:avLst>
            <a:gd name="adj" fmla="val 30000"/>
          </a:avLst>
        </a:prstGeom>
        <a:solidFill>
          <a:schemeClr val="accent3">
            <a:hueOff val="0"/>
            <a:satOff val="0"/>
            <a:lumOff val="0"/>
            <a:alphaOff val="0"/>
          </a:schemeClr>
        </a:solidFill>
        <a:ln w="15875"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7596" tIns="67596" rIns="67596" bIns="67596" numCol="1" spcCol="1270" anchor="ctr" anchorCtr="0">
          <a:noAutofit/>
        </a:bodyPr>
        <a:lstStyle/>
        <a:p>
          <a:pPr marL="0" lvl="0" indent="0" algn="ctr" defTabSz="1244600">
            <a:lnSpc>
              <a:spcPct val="90000"/>
            </a:lnSpc>
            <a:spcBef>
              <a:spcPct val="0"/>
            </a:spcBef>
            <a:spcAft>
              <a:spcPct val="35000"/>
            </a:spcAft>
            <a:buNone/>
          </a:pPr>
          <a:r>
            <a:rPr lang="en-US" sz="2800" kern="1200"/>
            <a:t>Phase 2</a:t>
          </a:r>
        </a:p>
      </dsp:txBody>
      <dsp:txXfrm>
        <a:off x="1951899" y="595520"/>
        <a:ext cx="1496381" cy="547456"/>
      </dsp:txXfrm>
    </dsp:sp>
    <dsp:sp modelId="{E18A421E-C1F4-46D7-9351-3FA317D564AA}">
      <dsp:nvSpPr>
        <dsp:cNvPr id="0" name=""/>
        <dsp:cNvSpPr/>
      </dsp:nvSpPr>
      <dsp:spPr>
        <a:xfrm>
          <a:off x="1787662" y="1142976"/>
          <a:ext cx="1660618" cy="1452742"/>
        </a:xfrm>
        <a:prstGeom prst="rect">
          <a:avLst/>
        </a:prstGeom>
        <a:solidFill>
          <a:schemeClr val="accent3">
            <a:tint val="40000"/>
            <a:alpha val="90000"/>
            <a:hueOff val="0"/>
            <a:satOff val="0"/>
            <a:lumOff val="0"/>
            <a:alphaOff val="0"/>
          </a:schemeClr>
        </a:solidFill>
        <a:ln w="15875"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1226" tIns="131226" rIns="131226" bIns="262451" numCol="1" spcCol="1270" anchor="t" anchorCtr="0">
          <a:noAutofit/>
        </a:bodyPr>
        <a:lstStyle/>
        <a:p>
          <a:pPr marL="0" lvl="0" indent="0" algn="l" defTabSz="889000">
            <a:lnSpc>
              <a:spcPct val="90000"/>
            </a:lnSpc>
            <a:spcBef>
              <a:spcPct val="0"/>
            </a:spcBef>
            <a:spcAft>
              <a:spcPct val="35000"/>
            </a:spcAft>
            <a:buNone/>
          </a:pPr>
          <a:endParaRPr lang="en-US" sz="2000" kern="1200" dirty="0"/>
        </a:p>
        <a:p>
          <a:pPr marL="171450" lvl="1" indent="-171450" algn="l" defTabSz="711200">
            <a:lnSpc>
              <a:spcPct val="90000"/>
            </a:lnSpc>
            <a:spcBef>
              <a:spcPct val="0"/>
            </a:spcBef>
            <a:spcAft>
              <a:spcPct val="15000"/>
            </a:spcAft>
            <a:buChar char="•"/>
          </a:pPr>
          <a:r>
            <a:rPr lang="en-US" sz="1600" kern="1200"/>
            <a:t>Exploratory Data Analysis (EDA)</a:t>
          </a:r>
        </a:p>
      </dsp:txBody>
      <dsp:txXfrm>
        <a:off x="1787662" y="1142976"/>
        <a:ext cx="1660618" cy="1452742"/>
      </dsp:txXfrm>
    </dsp:sp>
    <dsp:sp modelId="{1000C6E5-1E7C-44E3-87A0-C347C0206093}">
      <dsp:nvSpPr>
        <dsp:cNvPr id="0" name=""/>
        <dsp:cNvSpPr/>
      </dsp:nvSpPr>
      <dsp:spPr>
        <a:xfrm>
          <a:off x="3567759" y="595520"/>
          <a:ext cx="1824855" cy="547456"/>
        </a:xfrm>
        <a:prstGeom prst="chevron">
          <a:avLst>
            <a:gd name="adj" fmla="val 30000"/>
          </a:avLst>
        </a:prstGeom>
        <a:solidFill>
          <a:schemeClr val="accent4">
            <a:hueOff val="0"/>
            <a:satOff val="0"/>
            <a:lumOff val="0"/>
            <a:alphaOff val="0"/>
          </a:schemeClr>
        </a:solidFill>
        <a:ln w="15875"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7596" tIns="67596" rIns="67596" bIns="67596" numCol="1" spcCol="1270" anchor="ctr" anchorCtr="0">
          <a:noAutofit/>
        </a:bodyPr>
        <a:lstStyle/>
        <a:p>
          <a:pPr marL="0" lvl="0" indent="0" algn="ctr" defTabSz="1244600">
            <a:lnSpc>
              <a:spcPct val="90000"/>
            </a:lnSpc>
            <a:spcBef>
              <a:spcPct val="0"/>
            </a:spcBef>
            <a:spcAft>
              <a:spcPct val="35000"/>
            </a:spcAft>
            <a:buNone/>
          </a:pPr>
          <a:r>
            <a:rPr lang="en-US" sz="2800" kern="1200"/>
            <a:t>Phase 3</a:t>
          </a:r>
        </a:p>
      </dsp:txBody>
      <dsp:txXfrm>
        <a:off x="3731996" y="595520"/>
        <a:ext cx="1496381" cy="547456"/>
      </dsp:txXfrm>
    </dsp:sp>
    <dsp:sp modelId="{DD26709B-6574-40EF-ACA5-84E858C0E7BC}">
      <dsp:nvSpPr>
        <dsp:cNvPr id="0" name=""/>
        <dsp:cNvSpPr/>
      </dsp:nvSpPr>
      <dsp:spPr>
        <a:xfrm>
          <a:off x="3567759" y="1142976"/>
          <a:ext cx="1660618" cy="1452742"/>
        </a:xfrm>
        <a:prstGeom prst="rect">
          <a:avLst/>
        </a:prstGeom>
        <a:solidFill>
          <a:schemeClr val="accent4">
            <a:tint val="40000"/>
            <a:alpha val="90000"/>
            <a:hueOff val="0"/>
            <a:satOff val="0"/>
            <a:lumOff val="0"/>
            <a:alphaOff val="0"/>
          </a:schemeClr>
        </a:solidFill>
        <a:ln w="15875"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1226" tIns="131226" rIns="131226" bIns="262451" numCol="1" spcCol="1270" anchor="t" anchorCtr="0">
          <a:noAutofit/>
        </a:bodyPr>
        <a:lstStyle/>
        <a:p>
          <a:pPr marL="0" lvl="0" indent="0" algn="l" defTabSz="889000">
            <a:lnSpc>
              <a:spcPct val="90000"/>
            </a:lnSpc>
            <a:spcBef>
              <a:spcPct val="0"/>
            </a:spcBef>
            <a:spcAft>
              <a:spcPct val="35000"/>
            </a:spcAft>
            <a:buNone/>
          </a:pPr>
          <a:endParaRPr lang="en-US" sz="2000" kern="1200" dirty="0"/>
        </a:p>
        <a:p>
          <a:pPr marL="171450" lvl="1" indent="-171450" algn="l" defTabSz="711200">
            <a:lnSpc>
              <a:spcPct val="90000"/>
            </a:lnSpc>
            <a:spcBef>
              <a:spcPct val="0"/>
            </a:spcBef>
            <a:spcAft>
              <a:spcPct val="15000"/>
            </a:spcAft>
            <a:buChar char="•"/>
          </a:pPr>
          <a:r>
            <a:rPr lang="en-US" sz="1600" kern="1200"/>
            <a:t>Binary Logistic Regression Modeling</a:t>
          </a:r>
        </a:p>
      </dsp:txBody>
      <dsp:txXfrm>
        <a:off x="3567759" y="1142976"/>
        <a:ext cx="1660618" cy="1452742"/>
      </dsp:txXfrm>
    </dsp:sp>
    <dsp:sp modelId="{3DBC1740-B1E5-401B-8983-BE2104B191D3}">
      <dsp:nvSpPr>
        <dsp:cNvPr id="0" name=""/>
        <dsp:cNvSpPr/>
      </dsp:nvSpPr>
      <dsp:spPr>
        <a:xfrm>
          <a:off x="5347856" y="595520"/>
          <a:ext cx="1824855" cy="547456"/>
        </a:xfrm>
        <a:prstGeom prst="chevron">
          <a:avLst>
            <a:gd name="adj" fmla="val 30000"/>
          </a:avLst>
        </a:prstGeom>
        <a:solidFill>
          <a:schemeClr val="accent5">
            <a:hueOff val="0"/>
            <a:satOff val="0"/>
            <a:lumOff val="0"/>
            <a:alphaOff val="0"/>
          </a:schemeClr>
        </a:solidFill>
        <a:ln w="15875"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7596" tIns="67596" rIns="67596" bIns="67596" numCol="1" spcCol="1270" anchor="ctr" anchorCtr="0">
          <a:noAutofit/>
        </a:bodyPr>
        <a:lstStyle/>
        <a:p>
          <a:pPr marL="0" lvl="0" indent="0" algn="ctr" defTabSz="1244600">
            <a:lnSpc>
              <a:spcPct val="90000"/>
            </a:lnSpc>
            <a:spcBef>
              <a:spcPct val="0"/>
            </a:spcBef>
            <a:spcAft>
              <a:spcPct val="35000"/>
            </a:spcAft>
            <a:buNone/>
          </a:pPr>
          <a:r>
            <a:rPr lang="en-US" sz="2800" kern="1200"/>
            <a:t>Phase 4</a:t>
          </a:r>
        </a:p>
      </dsp:txBody>
      <dsp:txXfrm>
        <a:off x="5512093" y="595520"/>
        <a:ext cx="1496381" cy="547456"/>
      </dsp:txXfrm>
    </dsp:sp>
    <dsp:sp modelId="{04066C28-B17E-4D1C-B5E5-9DCC0170CE2B}">
      <dsp:nvSpPr>
        <dsp:cNvPr id="0" name=""/>
        <dsp:cNvSpPr/>
      </dsp:nvSpPr>
      <dsp:spPr>
        <a:xfrm>
          <a:off x="5347856" y="1142976"/>
          <a:ext cx="1660618" cy="1452742"/>
        </a:xfrm>
        <a:prstGeom prst="rect">
          <a:avLst/>
        </a:prstGeom>
        <a:solidFill>
          <a:schemeClr val="accent5">
            <a:tint val="40000"/>
            <a:alpha val="90000"/>
            <a:hueOff val="0"/>
            <a:satOff val="0"/>
            <a:lumOff val="0"/>
            <a:alphaOff val="0"/>
          </a:schemeClr>
        </a:solidFill>
        <a:ln w="15875"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1226" tIns="131226" rIns="131226" bIns="262451" numCol="1" spcCol="1270" anchor="t" anchorCtr="0">
          <a:noAutofit/>
        </a:bodyPr>
        <a:lstStyle/>
        <a:p>
          <a:pPr marL="0" lvl="0" indent="0" algn="l" defTabSz="889000">
            <a:lnSpc>
              <a:spcPct val="90000"/>
            </a:lnSpc>
            <a:spcBef>
              <a:spcPct val="0"/>
            </a:spcBef>
            <a:spcAft>
              <a:spcPct val="35000"/>
            </a:spcAft>
            <a:buNone/>
          </a:pPr>
          <a:endParaRPr lang="en-US" sz="2000" kern="1200" dirty="0"/>
        </a:p>
        <a:p>
          <a:pPr marL="171450" lvl="1" indent="-171450" algn="l" defTabSz="711200">
            <a:lnSpc>
              <a:spcPct val="90000"/>
            </a:lnSpc>
            <a:spcBef>
              <a:spcPct val="0"/>
            </a:spcBef>
            <a:spcAft>
              <a:spcPct val="15000"/>
            </a:spcAft>
            <a:buChar char="•"/>
          </a:pPr>
          <a:r>
            <a:rPr lang="en-US" sz="1600" kern="1200"/>
            <a:t>Machine Learning Comparison</a:t>
          </a:r>
        </a:p>
      </dsp:txBody>
      <dsp:txXfrm>
        <a:off x="5347856" y="1142976"/>
        <a:ext cx="1660618" cy="1452742"/>
      </dsp:txXfrm>
    </dsp:sp>
    <dsp:sp modelId="{95726F78-F2D0-4636-A830-53B4EBFEF901}">
      <dsp:nvSpPr>
        <dsp:cNvPr id="0" name=""/>
        <dsp:cNvSpPr/>
      </dsp:nvSpPr>
      <dsp:spPr>
        <a:xfrm>
          <a:off x="7127953" y="595520"/>
          <a:ext cx="1824855" cy="547456"/>
        </a:xfrm>
        <a:prstGeom prst="chevron">
          <a:avLst>
            <a:gd name="adj" fmla="val 30000"/>
          </a:avLst>
        </a:prstGeom>
        <a:solidFill>
          <a:schemeClr val="accent6">
            <a:hueOff val="0"/>
            <a:satOff val="0"/>
            <a:lumOff val="0"/>
            <a:alphaOff val="0"/>
          </a:schemeClr>
        </a:solidFill>
        <a:ln w="15875" cap="flat"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7596" tIns="67596" rIns="67596" bIns="67596" numCol="1" spcCol="1270" anchor="ctr" anchorCtr="0">
          <a:noAutofit/>
        </a:bodyPr>
        <a:lstStyle/>
        <a:p>
          <a:pPr marL="0" lvl="0" indent="0" algn="ctr" defTabSz="1244600">
            <a:lnSpc>
              <a:spcPct val="90000"/>
            </a:lnSpc>
            <a:spcBef>
              <a:spcPct val="0"/>
            </a:spcBef>
            <a:spcAft>
              <a:spcPct val="35000"/>
            </a:spcAft>
            <a:buNone/>
          </a:pPr>
          <a:r>
            <a:rPr lang="en-US" sz="2800" kern="1200"/>
            <a:t>Phase 5</a:t>
          </a:r>
        </a:p>
      </dsp:txBody>
      <dsp:txXfrm>
        <a:off x="7292190" y="595520"/>
        <a:ext cx="1496381" cy="547456"/>
      </dsp:txXfrm>
    </dsp:sp>
    <dsp:sp modelId="{64D8039E-1A4A-49C0-9E2F-E1942B8FC98A}">
      <dsp:nvSpPr>
        <dsp:cNvPr id="0" name=""/>
        <dsp:cNvSpPr/>
      </dsp:nvSpPr>
      <dsp:spPr>
        <a:xfrm>
          <a:off x="7127953" y="1142976"/>
          <a:ext cx="1660618" cy="1452742"/>
        </a:xfrm>
        <a:prstGeom prst="rect">
          <a:avLst/>
        </a:prstGeom>
        <a:solidFill>
          <a:schemeClr val="accent6">
            <a:tint val="40000"/>
            <a:alpha val="90000"/>
            <a:hueOff val="0"/>
            <a:satOff val="0"/>
            <a:lumOff val="0"/>
            <a:alphaOff val="0"/>
          </a:schemeClr>
        </a:solidFill>
        <a:ln w="15875" cap="flat" cmpd="sng" algn="ctr">
          <a:solidFill>
            <a:schemeClr val="accent6">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1226" tIns="131226" rIns="131226" bIns="262451" numCol="1" spcCol="1270" anchor="t" anchorCtr="0">
          <a:noAutofit/>
        </a:bodyPr>
        <a:lstStyle/>
        <a:p>
          <a:pPr marL="0" lvl="0" indent="0" algn="l" defTabSz="889000">
            <a:lnSpc>
              <a:spcPct val="90000"/>
            </a:lnSpc>
            <a:spcBef>
              <a:spcPct val="0"/>
            </a:spcBef>
            <a:spcAft>
              <a:spcPct val="35000"/>
            </a:spcAft>
            <a:buNone/>
          </a:pPr>
          <a:endParaRPr lang="en-US" sz="2000" kern="1200" dirty="0"/>
        </a:p>
        <a:p>
          <a:pPr marL="171450" lvl="1" indent="-171450" algn="l" defTabSz="711200">
            <a:lnSpc>
              <a:spcPct val="90000"/>
            </a:lnSpc>
            <a:spcBef>
              <a:spcPct val="0"/>
            </a:spcBef>
            <a:spcAft>
              <a:spcPct val="15000"/>
            </a:spcAft>
            <a:buChar char="•"/>
          </a:pPr>
          <a:r>
            <a:rPr lang="en-US" sz="1600" kern="1200"/>
            <a:t>Text Mining Analysis</a:t>
          </a:r>
        </a:p>
      </dsp:txBody>
      <dsp:txXfrm>
        <a:off x="7127953" y="1142976"/>
        <a:ext cx="1660618" cy="145274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E54262-8408-4802-8B4A-11B2FEB345DE}">
      <dsp:nvSpPr>
        <dsp:cNvPr id="0" name=""/>
        <dsp:cNvSpPr/>
      </dsp:nvSpPr>
      <dsp:spPr>
        <a:xfrm>
          <a:off x="-39331" y="0"/>
          <a:ext cx="3417928" cy="830629"/>
        </a:xfrm>
        <a:prstGeom prst="roundRect">
          <a:avLst>
            <a:gd name="adj" fmla="val 10000"/>
          </a:avLst>
        </a:prstGeom>
        <a:solidFill>
          <a:schemeClr val="accent1">
            <a:lumMod val="40000"/>
            <a:lumOff val="60000"/>
          </a:schemeClr>
        </a:solidFill>
        <a:ln w="15875" cap="flat" cmpd="sng" algn="ctr">
          <a:solidFill>
            <a:schemeClr val="accent1">
              <a:lumMod val="75000"/>
            </a:schemeClr>
          </a:solidFill>
          <a:prstDash val="solid"/>
        </a:ln>
        <a:effectLst>
          <a:glow rad="101600">
            <a:schemeClr val="accent4">
              <a:satMod val="175000"/>
              <a:alpha val="40000"/>
            </a:schemeClr>
          </a:glow>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0" kern="1200" dirty="0">
              <a:solidFill>
                <a:schemeClr val="tx1"/>
              </a:solidFill>
            </a:rPr>
            <a:t>1. Imported and merged  structured datasets into master data</a:t>
          </a:r>
          <a:endParaRPr lang="en-US" sz="1600" kern="1200" dirty="0">
            <a:solidFill>
              <a:schemeClr val="tx1"/>
            </a:solidFill>
          </a:endParaRPr>
        </a:p>
      </dsp:txBody>
      <dsp:txXfrm>
        <a:off x="-15003" y="24328"/>
        <a:ext cx="2451426" cy="781973"/>
      </dsp:txXfrm>
    </dsp:sp>
    <dsp:sp modelId="{3957114C-3BFC-4244-936D-01F450130BC0}">
      <dsp:nvSpPr>
        <dsp:cNvPr id="0" name=""/>
        <dsp:cNvSpPr/>
      </dsp:nvSpPr>
      <dsp:spPr>
        <a:xfrm>
          <a:off x="246919" y="981652"/>
          <a:ext cx="3417928" cy="830629"/>
        </a:xfrm>
        <a:prstGeom prst="roundRect">
          <a:avLst>
            <a:gd name="adj" fmla="val 10000"/>
          </a:avLst>
        </a:prstGeom>
        <a:solidFill>
          <a:schemeClr val="accent1">
            <a:lumMod val="40000"/>
            <a:lumOff val="60000"/>
          </a:schemeClr>
        </a:solidFill>
        <a:ln w="15875" cap="flat" cmpd="sng" algn="ctr">
          <a:solidFill>
            <a:schemeClr val="accent1">
              <a:lumMod val="75000"/>
            </a:schemeClr>
          </a:solidFill>
          <a:prstDash val="solid"/>
        </a:ln>
        <a:effectLst>
          <a:glow rad="101600">
            <a:schemeClr val="accent4">
              <a:satMod val="175000"/>
              <a:alpha val="40000"/>
            </a:schemeClr>
          </a:glow>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0" kern="1200" dirty="0">
              <a:solidFill>
                <a:schemeClr val="tx1"/>
              </a:solidFill>
            </a:rPr>
            <a:t>2. Cleaned missing values and duplicates</a:t>
          </a:r>
          <a:endParaRPr lang="en-US" sz="1600" kern="1200" dirty="0">
            <a:solidFill>
              <a:schemeClr val="tx1"/>
            </a:solidFill>
          </a:endParaRPr>
        </a:p>
      </dsp:txBody>
      <dsp:txXfrm>
        <a:off x="271247" y="1005980"/>
        <a:ext cx="2543111" cy="781973"/>
      </dsp:txXfrm>
    </dsp:sp>
    <dsp:sp modelId="{491B68C5-409C-4628-9D85-05569BD24FFF}">
      <dsp:nvSpPr>
        <dsp:cNvPr id="0" name=""/>
        <dsp:cNvSpPr/>
      </dsp:nvSpPr>
      <dsp:spPr>
        <a:xfrm>
          <a:off x="454046" y="1963305"/>
          <a:ext cx="3567633" cy="830629"/>
        </a:xfrm>
        <a:prstGeom prst="roundRect">
          <a:avLst>
            <a:gd name="adj" fmla="val 10000"/>
          </a:avLst>
        </a:prstGeom>
        <a:solidFill>
          <a:schemeClr val="accent1">
            <a:lumMod val="40000"/>
            <a:lumOff val="60000"/>
          </a:schemeClr>
        </a:solidFill>
        <a:ln w="15875" cap="flat" cmpd="sng" algn="ctr">
          <a:solidFill>
            <a:schemeClr val="accent1">
              <a:lumMod val="75000"/>
            </a:schemeClr>
          </a:solidFill>
          <a:prstDash val="solid"/>
        </a:ln>
        <a:effectLst>
          <a:glow rad="101600">
            <a:schemeClr val="accent4">
              <a:satMod val="175000"/>
              <a:alpha val="40000"/>
            </a:schemeClr>
          </a:glow>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0" kern="1200" dirty="0">
              <a:solidFill>
                <a:schemeClr val="tx1"/>
              </a:solidFill>
            </a:rPr>
            <a:t>3. Recoded numerical variables into categories</a:t>
          </a:r>
          <a:endParaRPr lang="en-US" sz="1600" kern="1200" dirty="0">
            <a:solidFill>
              <a:schemeClr val="tx1"/>
            </a:solidFill>
          </a:endParaRPr>
        </a:p>
      </dsp:txBody>
      <dsp:txXfrm>
        <a:off x="478374" y="1987633"/>
        <a:ext cx="2661090" cy="781973"/>
      </dsp:txXfrm>
    </dsp:sp>
    <dsp:sp modelId="{1A859273-9D1A-46A6-B0B1-5AB94C0A807B}">
      <dsp:nvSpPr>
        <dsp:cNvPr id="0" name=""/>
        <dsp:cNvSpPr/>
      </dsp:nvSpPr>
      <dsp:spPr>
        <a:xfrm>
          <a:off x="736486" y="2944958"/>
          <a:ext cx="3575255" cy="830629"/>
        </a:xfrm>
        <a:prstGeom prst="roundRect">
          <a:avLst>
            <a:gd name="adj" fmla="val 10000"/>
          </a:avLst>
        </a:prstGeom>
        <a:solidFill>
          <a:schemeClr val="accent1">
            <a:lumMod val="40000"/>
            <a:lumOff val="60000"/>
          </a:schemeClr>
        </a:solidFill>
        <a:ln w="15875" cap="flat" cmpd="sng" algn="ctr">
          <a:solidFill>
            <a:schemeClr val="accent1">
              <a:lumMod val="75000"/>
            </a:schemeClr>
          </a:solidFill>
          <a:prstDash val="solid"/>
        </a:ln>
        <a:effectLst>
          <a:glow rad="101600">
            <a:schemeClr val="accent4">
              <a:satMod val="175000"/>
              <a:alpha val="40000"/>
            </a:schemeClr>
          </a:glow>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0" kern="1200" dirty="0">
              <a:solidFill>
                <a:schemeClr val="tx1"/>
              </a:solidFill>
            </a:rPr>
            <a:t>4. Calculated overall Bad Rate</a:t>
          </a:r>
          <a:endParaRPr lang="en-US" sz="1600" kern="1200" dirty="0">
            <a:solidFill>
              <a:schemeClr val="tx1"/>
            </a:solidFill>
          </a:endParaRPr>
        </a:p>
      </dsp:txBody>
      <dsp:txXfrm>
        <a:off x="760814" y="2969286"/>
        <a:ext cx="2662410" cy="781973"/>
      </dsp:txXfrm>
    </dsp:sp>
    <dsp:sp modelId="{6C6D4F2C-16E5-4B75-A802-DE8454FB76A6}">
      <dsp:nvSpPr>
        <dsp:cNvPr id="0" name=""/>
        <dsp:cNvSpPr/>
      </dsp:nvSpPr>
      <dsp:spPr>
        <a:xfrm>
          <a:off x="2838687" y="636186"/>
          <a:ext cx="539909" cy="539909"/>
        </a:xfrm>
        <a:prstGeom prst="downArrow">
          <a:avLst>
            <a:gd name="adj1" fmla="val 55000"/>
            <a:gd name="adj2" fmla="val 45000"/>
          </a:avLst>
        </a:prstGeom>
        <a:solidFill>
          <a:schemeClr val="accent2">
            <a:alpha val="90000"/>
          </a:schemeClr>
        </a:solidFill>
        <a:ln w="15875" cap="flat" cmpd="sng" algn="ctr">
          <a:solidFill>
            <a:schemeClr val="accent2">
              <a:lumMod val="75000"/>
              <a:alpha val="90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endParaRPr lang="en-US" sz="2400" kern="1200"/>
        </a:p>
      </dsp:txBody>
      <dsp:txXfrm>
        <a:off x="2960167" y="636186"/>
        <a:ext cx="296949" cy="406282"/>
      </dsp:txXfrm>
    </dsp:sp>
    <dsp:sp modelId="{482098D3-C1AB-4C6C-8BF1-33FB1F068CAC}">
      <dsp:nvSpPr>
        <dsp:cNvPr id="0" name=""/>
        <dsp:cNvSpPr/>
      </dsp:nvSpPr>
      <dsp:spPr>
        <a:xfrm>
          <a:off x="3124938" y="1617839"/>
          <a:ext cx="539909" cy="539909"/>
        </a:xfrm>
        <a:prstGeom prst="downArrow">
          <a:avLst>
            <a:gd name="adj1" fmla="val 55000"/>
            <a:gd name="adj2" fmla="val 45000"/>
          </a:avLst>
        </a:prstGeom>
        <a:solidFill>
          <a:schemeClr val="accent2">
            <a:alpha val="90000"/>
          </a:schemeClr>
        </a:solidFill>
        <a:ln w="15875" cap="flat" cmpd="sng" algn="ctr">
          <a:solidFill>
            <a:schemeClr val="accent2">
              <a:lumMod val="75000"/>
              <a:alpha val="90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endParaRPr lang="en-US" sz="2400" kern="1200"/>
        </a:p>
      </dsp:txBody>
      <dsp:txXfrm>
        <a:off x="3246418" y="1617839"/>
        <a:ext cx="296949" cy="406282"/>
      </dsp:txXfrm>
    </dsp:sp>
    <dsp:sp modelId="{A055D2FB-EE89-41A1-8D6A-74C195951847}">
      <dsp:nvSpPr>
        <dsp:cNvPr id="0" name=""/>
        <dsp:cNvSpPr/>
      </dsp:nvSpPr>
      <dsp:spPr>
        <a:xfrm>
          <a:off x="3406917" y="2599492"/>
          <a:ext cx="539909" cy="539909"/>
        </a:xfrm>
        <a:prstGeom prst="downArrow">
          <a:avLst>
            <a:gd name="adj1" fmla="val 55000"/>
            <a:gd name="adj2" fmla="val 45000"/>
          </a:avLst>
        </a:prstGeom>
        <a:solidFill>
          <a:schemeClr val="accent2">
            <a:alpha val="90000"/>
          </a:schemeClr>
        </a:solidFill>
        <a:ln w="15875" cap="flat" cmpd="sng" algn="ctr">
          <a:solidFill>
            <a:schemeClr val="accent2">
              <a:lumMod val="75000"/>
              <a:alpha val="90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endParaRPr lang="en-US" sz="2400" kern="1200"/>
        </a:p>
      </dsp:txBody>
      <dsp:txXfrm>
        <a:off x="3528397" y="2599492"/>
        <a:ext cx="296949" cy="40628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DF53B9-63EA-4B80-A0ED-E3401AD6254B}">
      <dsp:nvSpPr>
        <dsp:cNvPr id="0" name=""/>
        <dsp:cNvSpPr/>
      </dsp:nvSpPr>
      <dsp:spPr>
        <a:xfrm>
          <a:off x="0" y="314790"/>
          <a:ext cx="8969519" cy="352800"/>
        </a:xfrm>
        <a:prstGeom prst="rect">
          <a:avLst/>
        </a:prstGeom>
        <a:solidFill>
          <a:schemeClr val="lt1">
            <a:alpha val="90000"/>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0EB53D5-5F2C-4F27-8267-A0F5F872B2DB}">
      <dsp:nvSpPr>
        <dsp:cNvPr id="0" name=""/>
        <dsp:cNvSpPr/>
      </dsp:nvSpPr>
      <dsp:spPr>
        <a:xfrm>
          <a:off x="448475" y="108150"/>
          <a:ext cx="6278663" cy="413280"/>
        </a:xfrm>
        <a:prstGeom prst="roundRect">
          <a:avLst/>
        </a:prstGeom>
        <a:solidFill>
          <a:schemeClr val="accent2">
            <a:lumMod val="40000"/>
            <a:lumOff val="60000"/>
          </a:schemeClr>
        </a:solidFill>
        <a:ln w="15875" cap="flat" cmpd="sng" algn="ctr">
          <a:solidFill>
            <a:schemeClr val="lt1">
              <a:hueOff val="0"/>
              <a:satOff val="0"/>
              <a:lumOff val="0"/>
              <a:alphaOff val="0"/>
            </a:schemeClr>
          </a:solidFill>
          <a:prstDash val="solid"/>
        </a:ln>
        <a:effectLst>
          <a:glow rad="63500">
            <a:schemeClr val="accent2">
              <a:satMod val="175000"/>
              <a:alpha val="40000"/>
            </a:schemeClr>
          </a:glow>
        </a:effectLst>
      </dsp:spPr>
      <dsp:style>
        <a:lnRef idx="2">
          <a:scrgbClr r="0" g="0" b="0"/>
        </a:lnRef>
        <a:fillRef idx="1">
          <a:scrgbClr r="0" g="0" b="0"/>
        </a:fillRef>
        <a:effectRef idx="0">
          <a:scrgbClr r="0" g="0" b="0"/>
        </a:effectRef>
        <a:fontRef idx="minor">
          <a:schemeClr val="lt1"/>
        </a:fontRef>
      </dsp:style>
      <dsp:txBody>
        <a:bodyPr spcFirstLastPara="0" vert="horz" wrap="square" lIns="237319" tIns="0" rIns="237319" bIns="0" numCol="1" spcCol="1270" anchor="ctr" anchorCtr="0">
          <a:noAutofit/>
        </a:bodyPr>
        <a:lstStyle/>
        <a:p>
          <a:pPr marL="0" lvl="0" indent="0" algn="l" defTabSz="800100">
            <a:lnSpc>
              <a:spcPct val="90000"/>
            </a:lnSpc>
            <a:spcBef>
              <a:spcPct val="0"/>
            </a:spcBef>
            <a:spcAft>
              <a:spcPct val="35000"/>
            </a:spcAft>
            <a:buNone/>
          </a:pPr>
          <a:r>
            <a:rPr lang="en-US" sz="1800" b="0" kern="1200" dirty="0">
              <a:solidFill>
                <a:schemeClr val="tx1"/>
              </a:solidFill>
            </a:rPr>
            <a:t>1. Analyzed distribution of numeric variables by default status</a:t>
          </a:r>
        </a:p>
      </dsp:txBody>
      <dsp:txXfrm>
        <a:off x="468650" y="128325"/>
        <a:ext cx="6238313" cy="372930"/>
      </dsp:txXfrm>
    </dsp:sp>
    <dsp:sp modelId="{9D467116-E88B-4AA1-B152-BD2A908F9025}">
      <dsp:nvSpPr>
        <dsp:cNvPr id="0" name=""/>
        <dsp:cNvSpPr/>
      </dsp:nvSpPr>
      <dsp:spPr>
        <a:xfrm>
          <a:off x="0" y="949830"/>
          <a:ext cx="8969519" cy="352800"/>
        </a:xfrm>
        <a:prstGeom prst="rect">
          <a:avLst/>
        </a:prstGeom>
        <a:solidFill>
          <a:schemeClr val="lt1">
            <a:alpha val="90000"/>
            <a:hueOff val="0"/>
            <a:satOff val="0"/>
            <a:lumOff val="0"/>
            <a:alphaOff val="0"/>
          </a:schemeClr>
        </a:solidFill>
        <a:ln w="15875"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B792915-7856-44F8-8A68-5F3CDD6805D5}">
      <dsp:nvSpPr>
        <dsp:cNvPr id="0" name=""/>
        <dsp:cNvSpPr/>
      </dsp:nvSpPr>
      <dsp:spPr>
        <a:xfrm>
          <a:off x="448475" y="743190"/>
          <a:ext cx="6266043" cy="413280"/>
        </a:xfrm>
        <a:prstGeom prst="roundRect">
          <a:avLst/>
        </a:prstGeom>
        <a:solidFill>
          <a:schemeClr val="bg2"/>
        </a:solidFill>
        <a:ln w="15875" cap="flat" cmpd="sng" algn="ctr">
          <a:solidFill>
            <a:schemeClr val="lt1">
              <a:hueOff val="0"/>
              <a:satOff val="0"/>
              <a:lumOff val="0"/>
              <a:alphaOff val="0"/>
            </a:schemeClr>
          </a:solidFill>
          <a:prstDash val="solid"/>
        </a:ln>
        <a:effectLst>
          <a:glow rad="63500">
            <a:schemeClr val="accent6">
              <a:satMod val="175000"/>
              <a:alpha val="40000"/>
            </a:schemeClr>
          </a:glow>
        </a:effectLst>
      </dsp:spPr>
      <dsp:style>
        <a:lnRef idx="2">
          <a:scrgbClr r="0" g="0" b="0"/>
        </a:lnRef>
        <a:fillRef idx="1">
          <a:scrgbClr r="0" g="0" b="0"/>
        </a:fillRef>
        <a:effectRef idx="0">
          <a:scrgbClr r="0" g="0" b="0"/>
        </a:effectRef>
        <a:fontRef idx="minor">
          <a:schemeClr val="lt1"/>
        </a:fontRef>
      </dsp:style>
      <dsp:txBody>
        <a:bodyPr spcFirstLastPara="0" vert="horz" wrap="square" lIns="237319" tIns="0" rIns="237319" bIns="0" numCol="1" spcCol="1270" anchor="ctr" anchorCtr="0">
          <a:noAutofit/>
        </a:bodyPr>
        <a:lstStyle/>
        <a:p>
          <a:pPr marL="0" lvl="0" indent="0" algn="l" defTabSz="800100">
            <a:lnSpc>
              <a:spcPct val="90000"/>
            </a:lnSpc>
            <a:spcBef>
              <a:spcPct val="0"/>
            </a:spcBef>
            <a:spcAft>
              <a:spcPct val="35000"/>
            </a:spcAft>
            <a:buNone/>
          </a:pPr>
          <a:r>
            <a:rPr lang="en-US" sz="1800" b="0" kern="1200" dirty="0">
              <a:solidFill>
                <a:schemeClr val="tx1"/>
              </a:solidFill>
            </a:rPr>
            <a:t>2. Identified bad rates across categorical groups</a:t>
          </a:r>
          <a:endParaRPr lang="en-US" sz="1800" kern="1200" dirty="0">
            <a:solidFill>
              <a:schemeClr val="tx1"/>
            </a:solidFill>
          </a:endParaRPr>
        </a:p>
      </dsp:txBody>
      <dsp:txXfrm>
        <a:off x="468650" y="763365"/>
        <a:ext cx="6225693" cy="372930"/>
      </dsp:txXfrm>
    </dsp:sp>
    <dsp:sp modelId="{DC3208FA-24FD-478C-A81E-9F30127EC411}">
      <dsp:nvSpPr>
        <dsp:cNvPr id="0" name=""/>
        <dsp:cNvSpPr/>
      </dsp:nvSpPr>
      <dsp:spPr>
        <a:xfrm>
          <a:off x="0" y="1584870"/>
          <a:ext cx="8969519" cy="352800"/>
        </a:xfrm>
        <a:prstGeom prst="rect">
          <a:avLst/>
        </a:prstGeom>
        <a:solidFill>
          <a:schemeClr val="lt1">
            <a:alpha val="90000"/>
            <a:hueOff val="0"/>
            <a:satOff val="0"/>
            <a:lumOff val="0"/>
            <a:alphaOff val="0"/>
          </a:schemeClr>
        </a:solidFill>
        <a:ln w="15875"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23A1440-DFE6-4176-9D12-81B7B9C28DFF}">
      <dsp:nvSpPr>
        <dsp:cNvPr id="0" name=""/>
        <dsp:cNvSpPr/>
      </dsp:nvSpPr>
      <dsp:spPr>
        <a:xfrm>
          <a:off x="448475" y="1378231"/>
          <a:ext cx="6247583" cy="413280"/>
        </a:xfrm>
        <a:prstGeom prst="roundRect">
          <a:avLst/>
        </a:prstGeom>
        <a:solidFill>
          <a:schemeClr val="accent1">
            <a:lumMod val="20000"/>
            <a:lumOff val="80000"/>
          </a:schemeClr>
        </a:solidFill>
        <a:ln w="15875" cap="flat" cmpd="sng" algn="ctr">
          <a:solidFill>
            <a:schemeClr val="lt1">
              <a:hueOff val="0"/>
              <a:satOff val="0"/>
              <a:lumOff val="0"/>
              <a:alphaOff val="0"/>
            </a:schemeClr>
          </a:solidFill>
          <a:prstDash val="solid"/>
        </a:ln>
        <a:effectLst>
          <a:glow rad="63500">
            <a:schemeClr val="accent1">
              <a:satMod val="175000"/>
              <a:alpha val="40000"/>
            </a:schemeClr>
          </a:glow>
        </a:effectLst>
      </dsp:spPr>
      <dsp:style>
        <a:lnRef idx="2">
          <a:scrgbClr r="0" g="0" b="0"/>
        </a:lnRef>
        <a:fillRef idx="1">
          <a:scrgbClr r="0" g="0" b="0"/>
        </a:fillRef>
        <a:effectRef idx="0">
          <a:scrgbClr r="0" g="0" b="0"/>
        </a:effectRef>
        <a:fontRef idx="minor">
          <a:schemeClr val="lt1"/>
        </a:fontRef>
      </dsp:style>
      <dsp:txBody>
        <a:bodyPr spcFirstLastPara="0" vert="horz" wrap="square" lIns="237319" tIns="0" rIns="237319" bIns="0" numCol="1" spcCol="1270" anchor="ctr" anchorCtr="0">
          <a:noAutofit/>
        </a:bodyPr>
        <a:lstStyle/>
        <a:p>
          <a:pPr marL="0" lvl="0" indent="0" algn="l" defTabSz="800100">
            <a:lnSpc>
              <a:spcPct val="90000"/>
            </a:lnSpc>
            <a:spcBef>
              <a:spcPct val="0"/>
            </a:spcBef>
            <a:spcAft>
              <a:spcPct val="35000"/>
            </a:spcAft>
            <a:buNone/>
          </a:pPr>
          <a:r>
            <a:rPr lang="en-US" sz="1800" kern="1200" dirty="0">
              <a:solidFill>
                <a:schemeClr val="tx1"/>
              </a:solidFill>
            </a:rPr>
            <a:t>3. Compared average behaviors of numeric variables</a:t>
          </a:r>
        </a:p>
      </dsp:txBody>
      <dsp:txXfrm>
        <a:off x="468650" y="1398406"/>
        <a:ext cx="6207233" cy="372930"/>
      </dsp:txXfrm>
    </dsp:sp>
    <dsp:sp modelId="{9491DB4C-78E5-44C5-AFC8-CF8BEDC9DB0E}">
      <dsp:nvSpPr>
        <dsp:cNvPr id="0" name=""/>
        <dsp:cNvSpPr/>
      </dsp:nvSpPr>
      <dsp:spPr>
        <a:xfrm>
          <a:off x="0" y="2219911"/>
          <a:ext cx="8969519" cy="352800"/>
        </a:xfrm>
        <a:prstGeom prst="rect">
          <a:avLst/>
        </a:prstGeom>
        <a:solidFill>
          <a:schemeClr val="lt1">
            <a:alpha val="90000"/>
            <a:hueOff val="0"/>
            <a:satOff val="0"/>
            <a:lumOff val="0"/>
            <a:alphaOff val="0"/>
          </a:schemeClr>
        </a:solidFill>
        <a:ln w="15875"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B8578B8-AB72-48D9-A6B7-548ECE09B630}">
      <dsp:nvSpPr>
        <dsp:cNvPr id="0" name=""/>
        <dsp:cNvSpPr/>
      </dsp:nvSpPr>
      <dsp:spPr>
        <a:xfrm>
          <a:off x="448475" y="2013271"/>
          <a:ext cx="6285695" cy="413280"/>
        </a:xfrm>
        <a:prstGeom prst="roundRect">
          <a:avLst/>
        </a:prstGeom>
        <a:solidFill>
          <a:schemeClr val="accent6">
            <a:lumMod val="20000"/>
            <a:lumOff val="80000"/>
          </a:schemeClr>
        </a:solidFill>
        <a:ln w="15875" cap="flat" cmpd="sng" algn="ctr">
          <a:solidFill>
            <a:schemeClr val="accent6">
              <a:lumMod val="60000"/>
              <a:lumOff val="40000"/>
            </a:schemeClr>
          </a:solidFill>
          <a:prstDash val="solid"/>
        </a:ln>
        <a:effectLst>
          <a:glow rad="63500">
            <a:schemeClr val="accent5">
              <a:satMod val="175000"/>
              <a:alpha val="40000"/>
            </a:schemeClr>
          </a:glow>
        </a:effectLst>
      </dsp:spPr>
      <dsp:style>
        <a:lnRef idx="2">
          <a:scrgbClr r="0" g="0" b="0"/>
        </a:lnRef>
        <a:fillRef idx="1">
          <a:scrgbClr r="0" g="0" b="0"/>
        </a:fillRef>
        <a:effectRef idx="0">
          <a:scrgbClr r="0" g="0" b="0"/>
        </a:effectRef>
        <a:fontRef idx="minor">
          <a:schemeClr val="lt1"/>
        </a:fontRef>
      </dsp:style>
      <dsp:txBody>
        <a:bodyPr spcFirstLastPara="0" vert="horz" wrap="square" lIns="237319" tIns="0" rIns="237319" bIns="0" numCol="1" spcCol="1270" anchor="ctr" anchorCtr="0">
          <a:noAutofit/>
        </a:bodyPr>
        <a:lstStyle/>
        <a:p>
          <a:pPr marL="0" lvl="0" indent="0" algn="l" defTabSz="800100">
            <a:lnSpc>
              <a:spcPct val="90000"/>
            </a:lnSpc>
            <a:spcBef>
              <a:spcPct val="0"/>
            </a:spcBef>
            <a:spcAft>
              <a:spcPct val="35000"/>
            </a:spcAft>
            <a:buNone/>
          </a:pPr>
          <a:r>
            <a:rPr lang="en-US" sz="1800" kern="1200" dirty="0">
              <a:solidFill>
                <a:schemeClr val="tx1"/>
              </a:solidFill>
            </a:rPr>
            <a:t>4. Highlighted regional and gender-based risks</a:t>
          </a:r>
        </a:p>
      </dsp:txBody>
      <dsp:txXfrm>
        <a:off x="468650" y="2033446"/>
        <a:ext cx="6245345" cy="372930"/>
      </dsp:txXfrm>
    </dsp:sp>
    <dsp:sp modelId="{F7EAC954-B739-4884-B653-EBAA2937B56A}">
      <dsp:nvSpPr>
        <dsp:cNvPr id="0" name=""/>
        <dsp:cNvSpPr/>
      </dsp:nvSpPr>
      <dsp:spPr>
        <a:xfrm>
          <a:off x="0" y="2854951"/>
          <a:ext cx="8969519" cy="352800"/>
        </a:xfrm>
        <a:prstGeom prst="rect">
          <a:avLst/>
        </a:prstGeom>
        <a:solidFill>
          <a:schemeClr val="lt1">
            <a:alpha val="90000"/>
            <a:hueOff val="0"/>
            <a:satOff val="0"/>
            <a:lumOff val="0"/>
            <a:alphaOff val="0"/>
          </a:schemeClr>
        </a:solidFill>
        <a:ln w="15875" cap="flat"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37D6303-1CFD-48A7-BBBC-EBDAA437E65D}">
      <dsp:nvSpPr>
        <dsp:cNvPr id="0" name=""/>
        <dsp:cNvSpPr/>
      </dsp:nvSpPr>
      <dsp:spPr>
        <a:xfrm>
          <a:off x="448475" y="2648310"/>
          <a:ext cx="6278663" cy="413280"/>
        </a:xfrm>
        <a:prstGeom prst="roundRect">
          <a:avLst/>
        </a:prstGeom>
        <a:solidFill>
          <a:schemeClr val="bg2"/>
        </a:solidFill>
        <a:ln w="15875" cap="flat" cmpd="sng" algn="ctr">
          <a:solidFill>
            <a:schemeClr val="lt1">
              <a:hueOff val="0"/>
              <a:satOff val="0"/>
              <a:lumOff val="0"/>
              <a:alphaOff val="0"/>
            </a:schemeClr>
          </a:solidFill>
          <a:prstDash val="solid"/>
        </a:ln>
        <a:effectLst>
          <a:glow rad="63500">
            <a:schemeClr val="accent4">
              <a:satMod val="175000"/>
              <a:alpha val="40000"/>
            </a:schemeClr>
          </a:glow>
        </a:effectLst>
      </dsp:spPr>
      <dsp:style>
        <a:lnRef idx="2">
          <a:scrgbClr r="0" g="0" b="0"/>
        </a:lnRef>
        <a:fillRef idx="1">
          <a:scrgbClr r="0" g="0" b="0"/>
        </a:fillRef>
        <a:effectRef idx="0">
          <a:scrgbClr r="0" g="0" b="0"/>
        </a:effectRef>
        <a:fontRef idx="minor">
          <a:schemeClr val="lt1"/>
        </a:fontRef>
      </dsp:style>
      <dsp:txBody>
        <a:bodyPr spcFirstLastPara="0" vert="horz" wrap="square" lIns="237319" tIns="0" rIns="237319" bIns="0" numCol="1" spcCol="1270" anchor="ctr" anchorCtr="0">
          <a:noAutofit/>
        </a:bodyPr>
        <a:lstStyle/>
        <a:p>
          <a:pPr marL="0" lvl="0" indent="0" algn="l" defTabSz="800100">
            <a:lnSpc>
              <a:spcPct val="90000"/>
            </a:lnSpc>
            <a:spcBef>
              <a:spcPct val="0"/>
            </a:spcBef>
            <a:spcAft>
              <a:spcPct val="35000"/>
            </a:spcAft>
            <a:buNone/>
          </a:pPr>
          <a:r>
            <a:rPr lang="en-US" sz="1800" kern="1200" dirty="0">
              <a:solidFill>
                <a:schemeClr val="tx1"/>
              </a:solidFill>
            </a:rPr>
            <a:t>5. Mapped employment and debt categories against bad rate</a:t>
          </a:r>
        </a:p>
      </dsp:txBody>
      <dsp:txXfrm>
        <a:off x="468650" y="2668485"/>
        <a:ext cx="6238313" cy="372930"/>
      </dsp:txXfrm>
    </dsp:sp>
    <dsp:sp modelId="{CE9D7C8E-EDAC-4A2A-883D-D9AA0EF8E2DD}">
      <dsp:nvSpPr>
        <dsp:cNvPr id="0" name=""/>
        <dsp:cNvSpPr/>
      </dsp:nvSpPr>
      <dsp:spPr>
        <a:xfrm>
          <a:off x="0" y="3489991"/>
          <a:ext cx="8969519" cy="352800"/>
        </a:xfrm>
        <a:prstGeom prst="rect">
          <a:avLst/>
        </a:prstGeom>
        <a:solidFill>
          <a:schemeClr val="lt1">
            <a:alpha val="90000"/>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0A5F47D-90C1-4C06-9451-65A371262326}">
      <dsp:nvSpPr>
        <dsp:cNvPr id="0" name=""/>
        <dsp:cNvSpPr/>
      </dsp:nvSpPr>
      <dsp:spPr>
        <a:xfrm>
          <a:off x="448475" y="3283351"/>
          <a:ext cx="6278663" cy="413280"/>
        </a:xfrm>
        <a:prstGeom prst="roundRect">
          <a:avLst/>
        </a:prstGeom>
        <a:solidFill>
          <a:schemeClr val="accent6">
            <a:lumMod val="40000"/>
            <a:lumOff val="60000"/>
          </a:schemeClr>
        </a:solidFill>
        <a:ln w="15875" cap="flat" cmpd="sng" algn="ctr">
          <a:solidFill>
            <a:schemeClr val="lt1">
              <a:hueOff val="0"/>
              <a:satOff val="0"/>
              <a:lumOff val="0"/>
              <a:alphaOff val="0"/>
            </a:schemeClr>
          </a:solidFill>
          <a:prstDash val="solid"/>
        </a:ln>
        <a:effectLst>
          <a:glow rad="63500">
            <a:schemeClr val="accent6">
              <a:satMod val="175000"/>
              <a:alpha val="40000"/>
            </a:schemeClr>
          </a:glow>
        </a:effectLst>
      </dsp:spPr>
      <dsp:style>
        <a:lnRef idx="2">
          <a:scrgbClr r="0" g="0" b="0"/>
        </a:lnRef>
        <a:fillRef idx="1">
          <a:scrgbClr r="0" g="0" b="0"/>
        </a:fillRef>
        <a:effectRef idx="0">
          <a:scrgbClr r="0" g="0" b="0"/>
        </a:effectRef>
        <a:fontRef idx="minor">
          <a:schemeClr val="lt1"/>
        </a:fontRef>
      </dsp:style>
      <dsp:txBody>
        <a:bodyPr spcFirstLastPara="0" vert="horz" wrap="square" lIns="237319" tIns="0" rIns="237319" bIns="0" numCol="1" spcCol="1270" anchor="ctr" anchorCtr="0">
          <a:noAutofit/>
        </a:bodyPr>
        <a:lstStyle/>
        <a:p>
          <a:pPr marL="0" lvl="0" indent="0" algn="l" defTabSz="800100">
            <a:lnSpc>
              <a:spcPct val="90000"/>
            </a:lnSpc>
            <a:spcBef>
              <a:spcPct val="0"/>
            </a:spcBef>
            <a:spcAft>
              <a:spcPct val="35000"/>
            </a:spcAft>
            <a:buNone/>
          </a:pPr>
          <a:r>
            <a:rPr lang="en-US" sz="1800" b="0" kern="1200" dirty="0">
              <a:solidFill>
                <a:schemeClr val="tx1"/>
              </a:solidFill>
            </a:rPr>
            <a:t>6. Explored how age and credit card debt relate to risk</a:t>
          </a:r>
          <a:endParaRPr lang="en-US" sz="1800" kern="1200" dirty="0">
            <a:solidFill>
              <a:schemeClr val="tx1"/>
            </a:solidFill>
          </a:endParaRPr>
        </a:p>
      </dsp:txBody>
      <dsp:txXfrm>
        <a:off x="468650" y="3303526"/>
        <a:ext cx="6238313" cy="372930"/>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16/7/layout/ChevronBlockProcess">
  <dgm:title val="Chevron Block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fact="0.6"/>
      <dgm:constr type="h" for="des" forName="composite" op="equ"/>
      <dgm:constr type="w" for="ch" forName="composite" refType="w"/>
      <dgm:constr type="w" for="des" forName="parTx"/>
      <dgm:constr type="h" for="des" forName="parTx" op="equ"/>
      <dgm:constr type="w" for="des" forName="desTx"/>
      <dgm:constr type="primFontSz" for="des" forName="parTx" val="28"/>
      <dgm:constr type="primFontSz" for="des" forName="desTx" refType="primFontSz" refFor="des" refForName="parTx" op="lte" fact="0.75"/>
      <dgm:constr type="h" for="des" forName="desTx" op="equ"/>
      <dgm:constr type="w" for="ch" forName="space" refType="w" op="equ" fact="-0.005"/>
    </dgm:constrLst>
    <dgm:ruleLst>
      <dgm:rule type="w" for="ch" forName="composite" val="0"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91"/>
              <dgm:constr type="t" for="ch" forName="desTx" refType="h" refFor="ch" refForName="parTx"/>
            </dgm:constrLst>
          </dgm:if>
          <dgm:else name="Name9">
            <dgm:constrLst>
              <dgm:constr type="l" for="ch" forName="parTx"/>
              <dgm:constr type="w" for="ch" forName="parTx" refType="w"/>
              <dgm:constr type="t" for="ch" forName="parTx"/>
              <dgm:constr type="l" for="ch" forName="desTx" refType="w" fact="0.09"/>
              <dgm:constr type="w" for="ch" forName="desTx" refType="w" refFor="ch" refForName="parTx" fact="0.91"/>
              <dgm:constr type="t" for="ch" forName="desTx" refType="h" refFor="ch" refForName="parTx"/>
            </dgm:constrLst>
          </dgm:else>
        </dgm:choose>
        <dgm:ruleLst>
          <dgm:rule type="h" val="INF" fact="NaN" max="NaN"/>
        </dgm:ruleLst>
        <dgm:layoutNode name="parTx" styleLbl="alignNode1">
          <dgm:varLst>
            <dgm:chMax val="0"/>
            <dgm:chPref val="0"/>
          </dgm:varLst>
          <dgm:alg type="tx"/>
          <dgm:choose name="Name10">
            <dgm:if name="Name11" func="var" arg="dir" op="equ" val="norm">
              <dgm:shape xmlns:r="http://schemas.openxmlformats.org/officeDocument/2006/relationships" type="chevron" r:blip="">
                <dgm:adjLst>
                  <dgm:adj idx="1" val="0.3"/>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3"/>
                <dgm:constr type="h"/>
                <dgm:constr type="tMarg" refType="w" fact="0.105"/>
                <dgm:constr type="bMarg" refType="w" fact="0.105"/>
                <dgm:constr type="lMarg" refType="w" fact="0.105"/>
                <dgm:constr type="rMarg" refType="w" fact="0.105"/>
              </dgm:constrLst>
            </dgm:if>
            <dgm:else name="Name15">
              <dgm:constrLst>
                <dgm:constr type="h" refType="w" op="lte" fact="0.3"/>
                <dgm:constr type="h"/>
                <dgm:constr type="tMarg" refType="w" fact="0.105"/>
                <dgm:constr type="bMarg" refType="w" fact="0.105"/>
                <dgm:constr type="lMarg" refType="w" fact="0.105"/>
                <dgm:constr type="rMarg" refType="w" fact="0.105"/>
              </dgm:constrLst>
            </dgm:else>
          </dgm:choose>
          <dgm:ruleLst>
            <dgm:rule type="h" val="INF" fact="NaN" max="NaN"/>
            <dgm:rule type="primFontSz" val="14" fact="NaN" max="NaN"/>
          </dgm:ruleLst>
        </dgm:layoutNode>
        <dgm:layoutNode name="desTx" styleLbl="alignAccFollowNode1">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primFontSz" val="20"/>
            <dgm:constr type="tMarg" refType="w" fact="0.224"/>
            <dgm:constr type="bMarg" refType="w" fact="0.448"/>
            <dgm:constr type="lMarg" refType="w" fact="0.224"/>
            <dgm:constr type="rMarg" refType="w" fact="0.224"/>
          </dgm:constrLst>
          <dgm:ruleLst>
            <dgm:rule type="h" val="INF" fact="NaN" max="NaN"/>
            <dgm:rule type="primFontSz" val="11"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7"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7"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9" name="Straight Connector 8"/>
          <p:cNvCxnSpPr/>
          <p:nvPr/>
        </p:nvCxnSpPr>
        <p:spPr>
          <a:xfrm>
            <a:off x="1207659"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94883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016487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7"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7"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9" name="Straight Connector 8"/>
          <p:cNvCxnSpPr/>
          <p:nvPr/>
        </p:nvCxnSpPr>
        <p:spPr>
          <a:xfrm>
            <a:off x="1207659"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14428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5"/>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7"/>
            <a:ext cx="493776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12/18/2025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76800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5"/>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12/18/2025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924454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12/18/2025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465960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7"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7"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BCAD085-E8A6-8845-BD4E-CB4CCA059FC4}" type="datetimeFigureOut">
              <a:rPr lang="en-US" smtClean="0"/>
              <a:t>12/18/2025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218536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8"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613650" y="731520"/>
            <a:ext cx="6679191"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3" y="6459787"/>
            <a:ext cx="2618511" cy="365125"/>
          </a:xfrm>
        </p:spPr>
        <p:txBody>
          <a:bodyPr/>
          <a:lstStyle>
            <a:lvl1pPr algn="l">
              <a:defRPr/>
            </a:lvl1pPr>
          </a:lstStyle>
          <a:p>
            <a:fld id="{5BCAD085-E8A6-8845-BD4E-CB4CCA059FC4}" type="datetimeFigureOut">
              <a:rPr lang="en-US" smtClean="0"/>
              <a:t>12/18/2025</a:t>
            </a:fld>
            <a:endParaRPr lang="en-US"/>
          </a:p>
        </p:txBody>
      </p:sp>
      <p:sp>
        <p:nvSpPr>
          <p:cNvPr id="6" name="Footer Placeholder 5"/>
          <p:cNvSpPr>
            <a:spLocks noGrp="1"/>
          </p:cNvSpPr>
          <p:nvPr>
            <p:ph type="ftr" sz="quarter" idx="11"/>
          </p:nvPr>
        </p:nvSpPr>
        <p:spPr>
          <a:xfrm>
            <a:off x="4800600" y="6459787"/>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9711392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1"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7"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936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7"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79" y="5907024"/>
            <a:ext cx="1011936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059579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316231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7"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7"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1" y="414780"/>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414779"/>
            <a:ext cx="7734300" cy="5757420"/>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543993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1" y="6334316"/>
            <a:ext cx="12192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5"/>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79" y="1845734"/>
            <a:ext cx="10058401"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2" y="6459787"/>
            <a:ext cx="2472271" cy="365125"/>
          </a:xfrm>
          <a:prstGeom prst="rect">
            <a:avLst/>
          </a:prstGeom>
        </p:spPr>
        <p:txBody>
          <a:bodyPr vert="horz" lIns="91440" tIns="45720" rIns="91440" bIns="45720" rtlCol="0" anchor="ctr"/>
          <a:lstStyle>
            <a:lvl1pPr algn="l">
              <a:defRPr sz="900">
                <a:solidFill>
                  <a:srgbClr val="FFFFFF"/>
                </a:solidFill>
              </a:defRPr>
            </a:lvl1pPr>
          </a:lstStyle>
          <a:p>
            <a:fld id="{5BCAD085-E8A6-8845-BD4E-CB4CCA059FC4}" type="datetimeFigureOut">
              <a:rPr lang="en-US" smtClean="0"/>
              <a:t>12/18/2025</a:t>
            </a:fld>
            <a:endParaRPr lang="en-US"/>
          </a:p>
        </p:txBody>
      </p:sp>
      <p:sp>
        <p:nvSpPr>
          <p:cNvPr id="5" name="Footer Placeholder 4"/>
          <p:cNvSpPr>
            <a:spLocks noGrp="1"/>
          </p:cNvSpPr>
          <p:nvPr>
            <p:ph type="ftr" sz="quarter" idx="3"/>
          </p:nvPr>
        </p:nvSpPr>
        <p:spPr>
          <a:xfrm>
            <a:off x="3686186" y="6459787"/>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60" y="6459787"/>
            <a:ext cx="1312025" cy="365125"/>
          </a:xfrm>
          <a:prstGeom prst="rect">
            <a:avLst/>
          </a:prstGeom>
        </p:spPr>
        <p:txBody>
          <a:bodyPr vert="horz" lIns="91440" tIns="45720" rIns="91440" bIns="45720" rtlCol="0" anchor="ctr"/>
          <a:lstStyle>
            <a:lvl1pPr algn="r">
              <a:defRPr sz="1050">
                <a:solidFill>
                  <a:srgbClr val="FFFFFF"/>
                </a:solidFill>
              </a:defRPr>
            </a:lvl1pPr>
          </a:lstStyle>
          <a:p>
            <a:fld id="{C1FF6DA9-008F-8B48-92A6-B652298478BF}"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240587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image" Target="../media/image15.png"/><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Layout" Target="../slideLayouts/slideLayout2.xml"/><Relationship Id="rId1" Type="http://schemas.openxmlformats.org/officeDocument/2006/relationships/themeOverride" Target="../theme/themeOverride1.xml"/><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Desk with productivity items">
            <a:extLst>
              <a:ext uri="{FF2B5EF4-FFF2-40B4-BE49-F238E27FC236}">
                <a16:creationId xmlns:a16="http://schemas.microsoft.com/office/drawing/2014/main" id="{D9651327-562B-368D-DE05-F8BA17DEACE0}"/>
              </a:ext>
            </a:extLst>
          </p:cNvPr>
          <p:cNvPicPr>
            <a:picLocks noChangeAspect="1"/>
          </p:cNvPicPr>
          <p:nvPr/>
        </p:nvPicPr>
        <p:blipFill>
          <a:blip r:embed="rId2">
            <a:duotone>
              <a:schemeClr val="bg2">
                <a:shade val="45000"/>
                <a:satMod val="135000"/>
              </a:schemeClr>
              <a:prstClr val="white"/>
            </a:duotone>
            <a:alphaModFix amt="35000"/>
          </a:blip>
          <a:srcRect b="15730"/>
          <a:stretch/>
        </p:blipFill>
        <p:spPr>
          <a:xfrm>
            <a:off x="20" y="10"/>
            <a:ext cx="12191980" cy="6857990"/>
          </a:xfrm>
          <a:prstGeom prst="rect">
            <a:avLst/>
          </a:prstGeom>
        </p:spPr>
      </p:pic>
      <p:sp>
        <p:nvSpPr>
          <p:cNvPr id="2" name="Title 1"/>
          <p:cNvSpPr>
            <a:spLocks noGrp="1"/>
          </p:cNvSpPr>
          <p:nvPr>
            <p:ph type="ctrTitle"/>
          </p:nvPr>
        </p:nvSpPr>
        <p:spPr>
          <a:xfrm>
            <a:off x="1097280" y="1861056"/>
            <a:ext cx="10058400" cy="2464055"/>
          </a:xfrm>
        </p:spPr>
        <p:txBody>
          <a:bodyPr>
            <a:normAutofit/>
          </a:bodyPr>
          <a:lstStyle/>
          <a:p>
            <a:r>
              <a:rPr lang="en-US" sz="8800" b="1" dirty="0">
                <a:solidFill>
                  <a:srgbClr val="002060"/>
                </a:solidFill>
                <a:latin typeface="Calibri Light"/>
              </a:rPr>
              <a:t>CREDIT SCORING</a:t>
            </a:r>
          </a:p>
        </p:txBody>
      </p:sp>
      <p:sp>
        <p:nvSpPr>
          <p:cNvPr id="3" name="Subtitle 2"/>
          <p:cNvSpPr>
            <a:spLocks noGrp="1"/>
          </p:cNvSpPr>
          <p:nvPr>
            <p:ph type="subTitle" idx="1"/>
          </p:nvPr>
        </p:nvSpPr>
        <p:spPr>
          <a:xfrm>
            <a:off x="9653568" y="5624162"/>
            <a:ext cx="2125478" cy="414334"/>
          </a:xfrm>
        </p:spPr>
        <p:txBody>
          <a:bodyPr>
            <a:normAutofit/>
          </a:bodyPr>
          <a:lstStyle/>
          <a:p>
            <a:r>
              <a:rPr lang="en-US" sz="1600" b="1" dirty="0">
                <a:solidFill>
                  <a:schemeClr val="tx1">
                    <a:lumMod val="85000"/>
                    <a:lumOff val="15000"/>
                  </a:schemeClr>
                </a:solidFill>
                <a:latin typeface="Calibri"/>
              </a:rPr>
              <a:t>Gowri ABINESH</a:t>
            </a:r>
          </a:p>
        </p:txBody>
      </p:sp>
      <p:cxnSp>
        <p:nvCxnSpPr>
          <p:cNvPr id="10" name="Straight Connector 9">
            <a:extLst>
              <a:ext uri="{FF2B5EF4-FFF2-40B4-BE49-F238E27FC236}">
                <a16:creationId xmlns:a16="http://schemas.microsoft.com/office/drawing/2014/main" id="{77AB95BF-57D0-4E49-9EF2-408B47C8D40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1C520CBD-F82E-44E4-BDA5-128716AD79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4618AE32-A526-42FC-A854-732740BD3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63A9E-63D2-2981-2546-FF2A8867B9A6}"/>
              </a:ext>
            </a:extLst>
          </p:cNvPr>
          <p:cNvSpPr>
            <a:spLocks noGrp="1"/>
          </p:cNvSpPr>
          <p:nvPr>
            <p:ph type="title"/>
          </p:nvPr>
        </p:nvSpPr>
        <p:spPr/>
        <p:txBody>
          <a:bodyPr/>
          <a:lstStyle/>
          <a:p>
            <a:r>
              <a:rPr lang="en-US" b="1" dirty="0">
                <a:solidFill>
                  <a:srgbClr val="002060"/>
                </a:solidFill>
              </a:rPr>
              <a:t>Background</a:t>
            </a:r>
          </a:p>
        </p:txBody>
      </p:sp>
      <p:sp>
        <p:nvSpPr>
          <p:cNvPr id="3" name="Content Placeholder 2">
            <a:extLst>
              <a:ext uri="{FF2B5EF4-FFF2-40B4-BE49-F238E27FC236}">
                <a16:creationId xmlns:a16="http://schemas.microsoft.com/office/drawing/2014/main" id="{7BF65CC3-E591-3A81-E866-3FD03427305E}"/>
              </a:ext>
            </a:extLst>
          </p:cNvPr>
          <p:cNvSpPr>
            <a:spLocks noGrp="1"/>
          </p:cNvSpPr>
          <p:nvPr>
            <p:ph idx="1"/>
          </p:nvPr>
        </p:nvSpPr>
        <p:spPr>
          <a:xfrm>
            <a:off x="1097280" y="1904512"/>
            <a:ext cx="9488785" cy="3723478"/>
          </a:xfrm>
        </p:spPr>
        <p:txBody>
          <a:bodyPr>
            <a:normAutofit lnSpcReduction="10000"/>
          </a:bodyPr>
          <a:lstStyle/>
          <a:p>
            <a:pPr marL="0" indent="0">
              <a:buNone/>
            </a:pPr>
            <a:endParaRPr lang="en-US" dirty="0"/>
          </a:p>
          <a:p>
            <a:pPr lvl="1">
              <a:buFont typeface="Arial" panose="020B0604020202020204" pitchFamily="34" charset="0"/>
              <a:buChar char="•"/>
            </a:pPr>
            <a:r>
              <a:rPr lang="en-US" sz="2000" dirty="0"/>
              <a:t>In today’s dynamic financial environment, accurately assessing creditworthiness is more critical than ever. Traditional credit evaluation methods often fall short in predicting default risk effectively.</a:t>
            </a:r>
          </a:p>
          <a:p>
            <a:pPr marL="201168" lvl="1" indent="0">
              <a:buNone/>
            </a:pPr>
            <a:endParaRPr lang="en-US" sz="2000" dirty="0"/>
          </a:p>
          <a:p>
            <a:pPr lvl="1">
              <a:buFont typeface="Arial" panose="020B0604020202020204" pitchFamily="34" charset="0"/>
              <a:buChar char="•"/>
            </a:pPr>
            <a:r>
              <a:rPr lang="en-US" sz="2000" dirty="0"/>
              <a:t>This project aims to strengthen credit scoring practices by analyzing demographic, financial and behavioral data to uncover key risk indicators. By integrating machine learning with statistical modeling, it explores innovative ways to build data-driven scorecards that better identify default risks.</a:t>
            </a:r>
          </a:p>
          <a:p>
            <a:pPr marL="201168" lvl="1" indent="0">
              <a:buNone/>
            </a:pPr>
            <a:endParaRPr lang="en-US" sz="2000" dirty="0"/>
          </a:p>
          <a:p>
            <a:pPr lvl="1">
              <a:buFont typeface="Arial" panose="020B0604020202020204" pitchFamily="34" charset="0"/>
              <a:buChar char="•"/>
            </a:pPr>
            <a:r>
              <a:rPr lang="en-US" sz="2000" dirty="0"/>
              <a:t>Additionally, customer feedback from Net Promoter Score (NPS) surveys is analyzed to understand customer sentiments and identify areas for service improvement around the loan and credit process.</a:t>
            </a:r>
          </a:p>
        </p:txBody>
      </p:sp>
    </p:spTree>
    <p:extLst>
      <p:ext uri="{BB962C8B-B14F-4D97-AF65-F5344CB8AC3E}">
        <p14:creationId xmlns:p14="http://schemas.microsoft.com/office/powerpoint/2010/main" val="40773005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88431" y="286604"/>
            <a:ext cx="7543800" cy="1450757"/>
          </a:xfrm>
        </p:spPr>
        <p:txBody>
          <a:bodyPr>
            <a:normAutofit/>
          </a:bodyPr>
          <a:lstStyle/>
          <a:p>
            <a:r>
              <a:rPr lang="en-US" b="1" dirty="0">
                <a:solidFill>
                  <a:srgbClr val="002060"/>
                </a:solidFill>
                <a:latin typeface="Calibri Light"/>
              </a:rPr>
              <a:t>Project Objectives</a:t>
            </a:r>
          </a:p>
        </p:txBody>
      </p:sp>
      <p:graphicFrame>
        <p:nvGraphicFramePr>
          <p:cNvPr id="15" name="Content Placeholder 2">
            <a:extLst>
              <a:ext uri="{FF2B5EF4-FFF2-40B4-BE49-F238E27FC236}">
                <a16:creationId xmlns:a16="http://schemas.microsoft.com/office/drawing/2014/main" id="{55031859-51D9-91D9-CD84-9734C4B87585}"/>
              </a:ext>
            </a:extLst>
          </p:cNvPr>
          <p:cNvGraphicFramePr>
            <a:graphicFrameLocks noGrp="1"/>
          </p:cNvGraphicFramePr>
          <p:nvPr>
            <p:ph idx="1"/>
            <p:extLst>
              <p:ext uri="{D42A27DB-BD31-4B8C-83A1-F6EECF244321}">
                <p14:modId xmlns:p14="http://schemas.microsoft.com/office/powerpoint/2010/main" val="3146823921"/>
              </p:ext>
            </p:extLst>
          </p:nvPr>
        </p:nvGraphicFramePr>
        <p:xfrm>
          <a:off x="1088431" y="2177173"/>
          <a:ext cx="9019369" cy="3786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13C22-B076-EAF6-4DA5-3254FE9EEE10}"/>
              </a:ext>
            </a:extLst>
          </p:cNvPr>
          <p:cNvSpPr>
            <a:spLocks noGrp="1"/>
          </p:cNvSpPr>
          <p:nvPr>
            <p:ph type="title"/>
          </p:nvPr>
        </p:nvSpPr>
        <p:spPr/>
        <p:txBody>
          <a:bodyPr/>
          <a:lstStyle/>
          <a:p>
            <a:r>
              <a:rPr lang="en-US" b="1" dirty="0">
                <a:solidFill>
                  <a:srgbClr val="002060"/>
                </a:solidFill>
              </a:rPr>
              <a:t>Data Source</a:t>
            </a:r>
          </a:p>
        </p:txBody>
      </p:sp>
      <p:sp>
        <p:nvSpPr>
          <p:cNvPr id="3" name="Content Placeholder 2">
            <a:extLst>
              <a:ext uri="{FF2B5EF4-FFF2-40B4-BE49-F238E27FC236}">
                <a16:creationId xmlns:a16="http://schemas.microsoft.com/office/drawing/2014/main" id="{83779B28-3E54-44B5-2671-1EA3F8C80F47}"/>
              </a:ext>
            </a:extLst>
          </p:cNvPr>
          <p:cNvSpPr>
            <a:spLocks noGrp="1"/>
          </p:cNvSpPr>
          <p:nvPr>
            <p:ph idx="1"/>
          </p:nvPr>
        </p:nvSpPr>
        <p:spPr>
          <a:xfrm>
            <a:off x="1206417" y="2390331"/>
            <a:ext cx="7543801" cy="2529621"/>
          </a:xfrm>
        </p:spPr>
        <p:txBody>
          <a:bodyPr/>
          <a:lstStyle/>
          <a:p>
            <a:pPr marL="0" indent="0">
              <a:buNone/>
            </a:pPr>
            <a:r>
              <a:rPr lang="en-US" sz="2400" dirty="0"/>
              <a:t>This analysis is based on four datasets:</a:t>
            </a:r>
          </a:p>
          <a:p>
            <a:pPr algn="l">
              <a:buFont typeface="Arial" panose="020B0604020202020204" pitchFamily="34" charset="0"/>
              <a:buChar char="•"/>
            </a:pPr>
            <a:r>
              <a:rPr lang="en-US" dirty="0"/>
              <a:t>  Customer Credit Details</a:t>
            </a:r>
          </a:p>
          <a:p>
            <a:pPr algn="l">
              <a:buFont typeface="Arial" panose="020B0604020202020204" pitchFamily="34" charset="0"/>
              <a:buChar char="•"/>
            </a:pPr>
            <a:r>
              <a:rPr lang="en-US" dirty="0"/>
              <a:t>  Customer Info</a:t>
            </a:r>
          </a:p>
          <a:p>
            <a:pPr algn="l">
              <a:buFont typeface="Arial" panose="020B0604020202020204" pitchFamily="34" charset="0"/>
              <a:buChar char="•"/>
            </a:pPr>
            <a:r>
              <a:rPr lang="en-US" dirty="0"/>
              <a:t>  Customer Profile</a:t>
            </a:r>
          </a:p>
          <a:p>
            <a:pPr algn="l">
              <a:buFont typeface="Arial" panose="020B0604020202020204" pitchFamily="34" charset="0"/>
              <a:buChar char="•"/>
            </a:pPr>
            <a:r>
              <a:rPr lang="en-US" dirty="0"/>
              <a:t>  Customer feedback in text format</a:t>
            </a:r>
          </a:p>
          <a:p>
            <a:endParaRPr lang="en-US" dirty="0"/>
          </a:p>
        </p:txBody>
      </p:sp>
    </p:spTree>
    <p:extLst>
      <p:ext uri="{BB962C8B-B14F-4D97-AF65-F5344CB8AC3E}">
        <p14:creationId xmlns:p14="http://schemas.microsoft.com/office/powerpoint/2010/main" val="39892117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AB61A-D589-49C2-3FF6-FD0CF8AD96F0}"/>
              </a:ext>
            </a:extLst>
          </p:cNvPr>
          <p:cNvSpPr>
            <a:spLocks noGrp="1"/>
          </p:cNvSpPr>
          <p:nvPr>
            <p:ph type="title"/>
          </p:nvPr>
        </p:nvSpPr>
        <p:spPr/>
        <p:txBody>
          <a:bodyPr/>
          <a:lstStyle/>
          <a:p>
            <a:r>
              <a:rPr lang="en-US" b="1" dirty="0">
                <a:solidFill>
                  <a:srgbClr val="002060"/>
                </a:solidFill>
              </a:rPr>
              <a:t>Data Snapshots</a:t>
            </a:r>
          </a:p>
        </p:txBody>
      </p:sp>
      <p:sp>
        <p:nvSpPr>
          <p:cNvPr id="4" name="Title 1">
            <a:extLst>
              <a:ext uri="{FF2B5EF4-FFF2-40B4-BE49-F238E27FC236}">
                <a16:creationId xmlns:a16="http://schemas.microsoft.com/office/drawing/2014/main" id="{0CA9F09B-8630-FD5D-C982-8CE70F255870}"/>
              </a:ext>
            </a:extLst>
          </p:cNvPr>
          <p:cNvSpPr txBox="1">
            <a:spLocks/>
          </p:cNvSpPr>
          <p:nvPr/>
        </p:nvSpPr>
        <p:spPr>
          <a:xfrm>
            <a:off x="1176640" y="1996551"/>
            <a:ext cx="2030359" cy="283343"/>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1400" b="1" dirty="0">
                <a:latin typeface="+mn-lt"/>
              </a:rPr>
              <a:t>Customer Credit Details</a:t>
            </a:r>
            <a:endParaRPr lang="en-US" sz="1400" b="1" dirty="0">
              <a:solidFill>
                <a:srgbClr val="282828"/>
              </a:solidFill>
              <a:latin typeface="+mn-lt"/>
            </a:endParaRPr>
          </a:p>
        </p:txBody>
      </p:sp>
      <p:sp>
        <p:nvSpPr>
          <p:cNvPr id="5" name="Title 1">
            <a:extLst>
              <a:ext uri="{FF2B5EF4-FFF2-40B4-BE49-F238E27FC236}">
                <a16:creationId xmlns:a16="http://schemas.microsoft.com/office/drawing/2014/main" id="{5FCA6327-52B8-7CDC-2415-2CA9710EAD8D}"/>
              </a:ext>
            </a:extLst>
          </p:cNvPr>
          <p:cNvSpPr txBox="1">
            <a:spLocks/>
          </p:cNvSpPr>
          <p:nvPr/>
        </p:nvSpPr>
        <p:spPr>
          <a:xfrm>
            <a:off x="5418349" y="1954707"/>
            <a:ext cx="2030359" cy="286466"/>
          </a:xfrm>
          <a:prstGeom prst="rect">
            <a:avLst/>
          </a:prstGeom>
        </p:spPr>
        <p:txBody>
          <a:bodyPr vert="horz" lIns="91440" tIns="45720" rIns="91440" bIns="45720" rtlCol="0" anchor="ctr">
            <a:normAutofit fontScale="250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endParaRPr lang="en-US" sz="1400" dirty="0">
              <a:solidFill>
                <a:srgbClr val="ACABAE"/>
              </a:solidFill>
            </a:endParaRPr>
          </a:p>
          <a:p>
            <a:pPr algn="l"/>
            <a:r>
              <a:rPr lang="en-US" sz="5600" b="1" dirty="0">
                <a:latin typeface="+mn-lt"/>
              </a:rPr>
              <a:t>Customer Info</a:t>
            </a:r>
          </a:p>
          <a:p>
            <a:pPr algn="l"/>
            <a:endParaRPr lang="en-US" sz="1400" dirty="0">
              <a:solidFill>
                <a:srgbClr val="282828"/>
              </a:solidFill>
            </a:endParaRPr>
          </a:p>
        </p:txBody>
      </p:sp>
      <p:pic>
        <p:nvPicPr>
          <p:cNvPr id="6" name="Picture 5">
            <a:extLst>
              <a:ext uri="{FF2B5EF4-FFF2-40B4-BE49-F238E27FC236}">
                <a16:creationId xmlns:a16="http://schemas.microsoft.com/office/drawing/2014/main" id="{659FA4E1-176B-3955-00F6-95CBF0FF69D5}"/>
              </a:ext>
            </a:extLst>
          </p:cNvPr>
          <p:cNvPicPr>
            <a:picLocks noChangeAspect="1"/>
          </p:cNvPicPr>
          <p:nvPr/>
        </p:nvPicPr>
        <p:blipFill>
          <a:blip r:embed="rId2"/>
          <a:stretch>
            <a:fillRect/>
          </a:stretch>
        </p:blipFill>
        <p:spPr>
          <a:xfrm>
            <a:off x="1255297" y="2358592"/>
            <a:ext cx="3208298" cy="1386960"/>
          </a:xfrm>
          <a:prstGeom prst="rect">
            <a:avLst/>
          </a:prstGeom>
          <a:ln>
            <a:solidFill>
              <a:schemeClr val="accent1"/>
            </a:solidFill>
          </a:ln>
          <a:effectLst>
            <a:glow rad="63500">
              <a:schemeClr val="accent2">
                <a:satMod val="175000"/>
                <a:alpha val="40000"/>
              </a:schemeClr>
            </a:glow>
          </a:effectLst>
        </p:spPr>
      </p:pic>
      <p:pic>
        <p:nvPicPr>
          <p:cNvPr id="7" name="Picture 6">
            <a:extLst>
              <a:ext uri="{FF2B5EF4-FFF2-40B4-BE49-F238E27FC236}">
                <a16:creationId xmlns:a16="http://schemas.microsoft.com/office/drawing/2014/main" id="{05A0EF85-388B-C6DF-4CE0-D9159B713AD1}"/>
              </a:ext>
            </a:extLst>
          </p:cNvPr>
          <p:cNvPicPr>
            <a:picLocks noChangeAspect="1"/>
          </p:cNvPicPr>
          <p:nvPr/>
        </p:nvPicPr>
        <p:blipFill>
          <a:blip r:embed="rId3"/>
          <a:stretch>
            <a:fillRect/>
          </a:stretch>
        </p:blipFill>
        <p:spPr>
          <a:xfrm>
            <a:off x="5418349" y="2316679"/>
            <a:ext cx="4816257" cy="1470787"/>
          </a:xfrm>
          <a:prstGeom prst="rect">
            <a:avLst/>
          </a:prstGeom>
          <a:ln>
            <a:solidFill>
              <a:schemeClr val="accent1"/>
            </a:solidFill>
          </a:ln>
          <a:effectLst>
            <a:glow rad="63500">
              <a:schemeClr val="accent2">
                <a:satMod val="175000"/>
                <a:alpha val="40000"/>
              </a:schemeClr>
            </a:glow>
          </a:effectLst>
        </p:spPr>
      </p:pic>
      <p:sp>
        <p:nvSpPr>
          <p:cNvPr id="8" name="Title 1">
            <a:extLst>
              <a:ext uri="{FF2B5EF4-FFF2-40B4-BE49-F238E27FC236}">
                <a16:creationId xmlns:a16="http://schemas.microsoft.com/office/drawing/2014/main" id="{573B3A6B-D64D-D0D7-3088-FD132EE40BC4}"/>
              </a:ext>
            </a:extLst>
          </p:cNvPr>
          <p:cNvSpPr txBox="1">
            <a:spLocks/>
          </p:cNvSpPr>
          <p:nvPr/>
        </p:nvSpPr>
        <p:spPr>
          <a:xfrm>
            <a:off x="1176640" y="4160367"/>
            <a:ext cx="2030359" cy="286466"/>
          </a:xfrm>
          <a:prstGeom prst="rect">
            <a:avLst/>
          </a:prstGeom>
        </p:spPr>
        <p:txBody>
          <a:bodyPr vert="horz" lIns="91440" tIns="45720" rIns="91440" bIns="45720" rtlCol="0" anchor="ctr">
            <a:normAutofit fontScale="250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endParaRPr lang="en-US" sz="1400" dirty="0">
              <a:solidFill>
                <a:srgbClr val="ACABAE"/>
              </a:solidFill>
            </a:endParaRPr>
          </a:p>
          <a:p>
            <a:pPr algn="l"/>
            <a:r>
              <a:rPr lang="en-US" sz="5600" b="1" dirty="0">
                <a:latin typeface="+mn-lt"/>
              </a:rPr>
              <a:t>Customer Profile</a:t>
            </a:r>
          </a:p>
          <a:p>
            <a:pPr algn="l"/>
            <a:endParaRPr lang="en-US" sz="1400" dirty="0">
              <a:solidFill>
                <a:srgbClr val="282828"/>
              </a:solidFill>
            </a:endParaRPr>
          </a:p>
        </p:txBody>
      </p:sp>
      <p:sp>
        <p:nvSpPr>
          <p:cNvPr id="9" name="Title 1">
            <a:extLst>
              <a:ext uri="{FF2B5EF4-FFF2-40B4-BE49-F238E27FC236}">
                <a16:creationId xmlns:a16="http://schemas.microsoft.com/office/drawing/2014/main" id="{9D7C763B-925E-DB3E-3E23-3C4EC1125BBE}"/>
              </a:ext>
            </a:extLst>
          </p:cNvPr>
          <p:cNvSpPr txBox="1">
            <a:spLocks/>
          </p:cNvSpPr>
          <p:nvPr/>
        </p:nvSpPr>
        <p:spPr>
          <a:xfrm>
            <a:off x="5418348" y="4183155"/>
            <a:ext cx="3057058" cy="286466"/>
          </a:xfrm>
          <a:prstGeom prst="rect">
            <a:avLst/>
          </a:prstGeom>
        </p:spPr>
        <p:txBody>
          <a:bodyPr vert="horz" lIns="91440" tIns="45720" rIns="91440" bIns="45720" rtlCol="0" anchor="ctr">
            <a:normAutofit fontScale="250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endParaRPr lang="en-US" sz="1400" dirty="0">
              <a:solidFill>
                <a:srgbClr val="ACABAE"/>
              </a:solidFill>
            </a:endParaRPr>
          </a:p>
          <a:p>
            <a:pPr algn="l"/>
            <a:r>
              <a:rPr lang="en-US" sz="5600" b="1" dirty="0">
                <a:latin typeface="+mn-lt"/>
              </a:rPr>
              <a:t>Customer feedback in text format</a:t>
            </a:r>
          </a:p>
          <a:p>
            <a:pPr algn="l"/>
            <a:endParaRPr lang="en-US" sz="1400" dirty="0">
              <a:solidFill>
                <a:srgbClr val="282828"/>
              </a:solidFill>
            </a:endParaRPr>
          </a:p>
        </p:txBody>
      </p:sp>
      <p:pic>
        <p:nvPicPr>
          <p:cNvPr id="10" name="Picture 9">
            <a:extLst>
              <a:ext uri="{FF2B5EF4-FFF2-40B4-BE49-F238E27FC236}">
                <a16:creationId xmlns:a16="http://schemas.microsoft.com/office/drawing/2014/main" id="{B5F2C382-31E3-1B7A-6FA8-49477988E687}"/>
              </a:ext>
            </a:extLst>
          </p:cNvPr>
          <p:cNvPicPr>
            <a:picLocks noChangeAspect="1"/>
          </p:cNvPicPr>
          <p:nvPr/>
        </p:nvPicPr>
        <p:blipFill>
          <a:blip r:embed="rId4"/>
          <a:stretch>
            <a:fillRect/>
          </a:stretch>
        </p:blipFill>
        <p:spPr>
          <a:xfrm>
            <a:off x="1255297" y="4482998"/>
            <a:ext cx="2918713" cy="1417443"/>
          </a:xfrm>
          <a:prstGeom prst="rect">
            <a:avLst/>
          </a:prstGeom>
          <a:ln>
            <a:solidFill>
              <a:schemeClr val="accent1"/>
            </a:solidFill>
          </a:ln>
          <a:effectLst>
            <a:glow rad="63500">
              <a:schemeClr val="accent2">
                <a:satMod val="175000"/>
                <a:alpha val="40000"/>
              </a:schemeClr>
            </a:glow>
          </a:effectLst>
        </p:spPr>
      </p:pic>
      <p:pic>
        <p:nvPicPr>
          <p:cNvPr id="22" name="Picture 21">
            <a:extLst>
              <a:ext uri="{FF2B5EF4-FFF2-40B4-BE49-F238E27FC236}">
                <a16:creationId xmlns:a16="http://schemas.microsoft.com/office/drawing/2014/main" id="{F99C40E7-FE05-A4BF-AB16-55A1C6198653}"/>
              </a:ext>
            </a:extLst>
          </p:cNvPr>
          <p:cNvPicPr>
            <a:picLocks noChangeAspect="1"/>
          </p:cNvPicPr>
          <p:nvPr/>
        </p:nvPicPr>
        <p:blipFill>
          <a:blip r:embed="rId5"/>
          <a:stretch>
            <a:fillRect/>
          </a:stretch>
        </p:blipFill>
        <p:spPr>
          <a:xfrm>
            <a:off x="5418349" y="4616828"/>
            <a:ext cx="5567776" cy="1183701"/>
          </a:xfrm>
          <a:prstGeom prst="rect">
            <a:avLst/>
          </a:prstGeom>
          <a:ln>
            <a:solidFill>
              <a:schemeClr val="accent1"/>
            </a:solidFill>
          </a:ln>
          <a:effectLst>
            <a:glow rad="63500">
              <a:schemeClr val="accent2">
                <a:satMod val="175000"/>
                <a:alpha val="40000"/>
              </a:schemeClr>
            </a:glow>
          </a:effectLst>
        </p:spPr>
      </p:pic>
    </p:spTree>
    <p:extLst>
      <p:ext uri="{BB962C8B-B14F-4D97-AF65-F5344CB8AC3E}">
        <p14:creationId xmlns:p14="http://schemas.microsoft.com/office/powerpoint/2010/main" val="6368381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78599" y="288073"/>
            <a:ext cx="7543800" cy="1450757"/>
          </a:xfrm>
        </p:spPr>
        <p:txBody>
          <a:bodyPr>
            <a:normAutofit/>
          </a:bodyPr>
          <a:lstStyle/>
          <a:p>
            <a:r>
              <a:rPr lang="en-US" b="1" dirty="0">
                <a:solidFill>
                  <a:srgbClr val="002060"/>
                </a:solidFill>
                <a:latin typeface="Calibri Light"/>
              </a:rPr>
              <a:t>Project Phases Overview</a:t>
            </a:r>
          </a:p>
        </p:txBody>
      </p:sp>
      <p:graphicFrame>
        <p:nvGraphicFramePr>
          <p:cNvPr id="15" name="Content Placeholder 2">
            <a:extLst>
              <a:ext uri="{FF2B5EF4-FFF2-40B4-BE49-F238E27FC236}">
                <a16:creationId xmlns:a16="http://schemas.microsoft.com/office/drawing/2014/main" id="{95799F3F-D377-4173-E01F-A833C51815A1}"/>
              </a:ext>
            </a:extLst>
          </p:cNvPr>
          <p:cNvGraphicFramePr/>
          <p:nvPr>
            <p:extLst>
              <p:ext uri="{D42A27DB-BD31-4B8C-83A1-F6EECF244321}">
                <p14:modId xmlns:p14="http://schemas.microsoft.com/office/powerpoint/2010/main" val="3108287767"/>
              </p:ext>
            </p:extLst>
          </p:nvPr>
        </p:nvGraphicFramePr>
        <p:xfrm>
          <a:off x="1245508" y="2098515"/>
          <a:ext cx="8960375" cy="31912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solidFill>
                  <a:srgbClr val="002060"/>
                </a:solidFill>
                <a:latin typeface="Calibri Light"/>
              </a:rPr>
              <a:t>Phase 1 - Data Management</a:t>
            </a:r>
          </a:p>
        </p:txBody>
      </p:sp>
      <p:graphicFrame>
        <p:nvGraphicFramePr>
          <p:cNvPr id="7" name="Content Placeholder 2">
            <a:extLst>
              <a:ext uri="{FF2B5EF4-FFF2-40B4-BE49-F238E27FC236}">
                <a16:creationId xmlns:a16="http://schemas.microsoft.com/office/drawing/2014/main" id="{2D0FCCBD-A6DA-E357-7A52-DCB0FE9700C6}"/>
              </a:ext>
            </a:extLst>
          </p:cNvPr>
          <p:cNvGraphicFramePr>
            <a:graphicFrameLocks noGrp="1"/>
          </p:cNvGraphicFramePr>
          <p:nvPr>
            <p:ph idx="1"/>
            <p:extLst>
              <p:ext uri="{D42A27DB-BD31-4B8C-83A1-F6EECF244321}">
                <p14:modId xmlns:p14="http://schemas.microsoft.com/office/powerpoint/2010/main" val="3025084353"/>
              </p:ext>
            </p:extLst>
          </p:nvPr>
        </p:nvGraphicFramePr>
        <p:xfrm>
          <a:off x="1253319" y="2113936"/>
          <a:ext cx="4272410" cy="37755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Picture 3">
            <a:extLst>
              <a:ext uri="{FF2B5EF4-FFF2-40B4-BE49-F238E27FC236}">
                <a16:creationId xmlns:a16="http://schemas.microsoft.com/office/drawing/2014/main" id="{29C3AC08-6316-A476-76CD-2065D51EA6FD}"/>
              </a:ext>
            </a:extLst>
          </p:cNvPr>
          <p:cNvPicPr>
            <a:picLocks noChangeAspect="1"/>
          </p:cNvPicPr>
          <p:nvPr/>
        </p:nvPicPr>
        <p:blipFill>
          <a:blip r:embed="rId7"/>
          <a:stretch>
            <a:fillRect/>
          </a:stretch>
        </p:blipFill>
        <p:spPr>
          <a:xfrm>
            <a:off x="6122534" y="1857287"/>
            <a:ext cx="5213644" cy="3383307"/>
          </a:xfrm>
          <a:prstGeom prst="rect">
            <a:avLst/>
          </a:prstGeom>
          <a:ln>
            <a:solidFill>
              <a:schemeClr val="bg1"/>
            </a:solidFill>
          </a:ln>
        </p:spPr>
      </p:pic>
      <p:grpSp>
        <p:nvGrpSpPr>
          <p:cNvPr id="5" name="Group 4">
            <a:extLst>
              <a:ext uri="{FF2B5EF4-FFF2-40B4-BE49-F238E27FC236}">
                <a16:creationId xmlns:a16="http://schemas.microsoft.com/office/drawing/2014/main" id="{AC8E7DC7-A526-C66A-F4DD-3C56BEBF9819}"/>
              </a:ext>
            </a:extLst>
          </p:cNvPr>
          <p:cNvGrpSpPr/>
          <p:nvPr/>
        </p:nvGrpSpPr>
        <p:grpSpPr>
          <a:xfrm>
            <a:off x="6126480" y="5437371"/>
            <a:ext cx="5224445" cy="710773"/>
            <a:chOff x="0" y="2824898"/>
            <a:chExt cx="1736229" cy="940857"/>
          </a:xfrm>
          <a:solidFill>
            <a:schemeClr val="accent5">
              <a:lumMod val="60000"/>
              <a:lumOff val="40000"/>
            </a:schemeClr>
          </a:solidFill>
          <a:effectLst>
            <a:glow rad="63500">
              <a:schemeClr val="accent4">
                <a:satMod val="175000"/>
                <a:alpha val="40000"/>
              </a:schemeClr>
            </a:glow>
          </a:effectLst>
        </p:grpSpPr>
        <p:sp>
          <p:nvSpPr>
            <p:cNvPr id="6" name="Rectangle: Rounded Corners 5">
              <a:extLst>
                <a:ext uri="{FF2B5EF4-FFF2-40B4-BE49-F238E27FC236}">
                  <a16:creationId xmlns:a16="http://schemas.microsoft.com/office/drawing/2014/main" id="{F843F689-AAF0-D061-AD9A-C2A144337CE0}"/>
                </a:ext>
              </a:extLst>
            </p:cNvPr>
            <p:cNvSpPr/>
            <p:nvPr/>
          </p:nvSpPr>
          <p:spPr>
            <a:xfrm>
              <a:off x="0" y="2824898"/>
              <a:ext cx="1736229" cy="940857"/>
            </a:xfrm>
            <a:prstGeom prst="roundRect">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solidFill>
                  <a:schemeClr val="tx1"/>
                </a:solidFill>
              </a:endParaRPr>
            </a:p>
          </p:txBody>
        </p:sp>
        <p:sp>
          <p:nvSpPr>
            <p:cNvPr id="8" name="Rectangle: Rounded Corners 4">
              <a:extLst>
                <a:ext uri="{FF2B5EF4-FFF2-40B4-BE49-F238E27FC236}">
                  <a16:creationId xmlns:a16="http://schemas.microsoft.com/office/drawing/2014/main" id="{9A0EF4EE-2D85-2A9A-64E1-DBC89A8EAF3E}"/>
                </a:ext>
              </a:extLst>
            </p:cNvPr>
            <p:cNvSpPr txBox="1"/>
            <p:nvPr/>
          </p:nvSpPr>
          <p:spPr>
            <a:xfrm>
              <a:off x="45929" y="2870827"/>
              <a:ext cx="1644371" cy="848999"/>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49530" tIns="24765" rIns="49530" bIns="24765" numCol="1" spcCol="1270" anchor="ctr" anchorCtr="0">
              <a:noAutofit/>
            </a:bodyPr>
            <a:lstStyle/>
            <a:p>
              <a:pPr defTabSz="577850">
                <a:lnSpc>
                  <a:spcPct val="90000"/>
                </a:lnSpc>
                <a:spcBef>
                  <a:spcPct val="0"/>
                </a:spcBef>
                <a:spcAft>
                  <a:spcPct val="35000"/>
                </a:spcAft>
              </a:pPr>
              <a:r>
                <a:rPr lang="en-US" sz="1500" dirty="0">
                  <a:solidFill>
                    <a:schemeClr val="tx1"/>
                  </a:solidFill>
                </a:rPr>
                <a:t>The cleaned dataset revealed notable outliers in debt-related variables and an overall defaulter rate of 13.2%, providing the preliminary understanding of default risk.</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98263" y="297905"/>
            <a:ext cx="7543800" cy="1450757"/>
          </a:xfrm>
        </p:spPr>
        <p:txBody>
          <a:bodyPr>
            <a:normAutofit/>
          </a:bodyPr>
          <a:lstStyle/>
          <a:p>
            <a:r>
              <a:rPr lang="en-US" sz="4000" b="1" dirty="0">
                <a:solidFill>
                  <a:srgbClr val="002060"/>
                </a:solidFill>
                <a:latin typeface="Calibri Light"/>
              </a:rPr>
              <a:t>Phase 2 - Exploratory Data Analysis</a:t>
            </a:r>
          </a:p>
        </p:txBody>
      </p:sp>
      <p:graphicFrame>
        <p:nvGraphicFramePr>
          <p:cNvPr id="14" name="Content Placeholder 2">
            <a:extLst>
              <a:ext uri="{FF2B5EF4-FFF2-40B4-BE49-F238E27FC236}">
                <a16:creationId xmlns:a16="http://schemas.microsoft.com/office/drawing/2014/main" id="{F85517A7-04B5-3E32-BCCF-E41FD008F5C1}"/>
              </a:ext>
            </a:extLst>
          </p:cNvPr>
          <p:cNvGraphicFramePr>
            <a:graphicFrameLocks noGrp="1"/>
          </p:cNvGraphicFramePr>
          <p:nvPr>
            <p:ph idx="1"/>
            <p:extLst>
              <p:ext uri="{D42A27DB-BD31-4B8C-83A1-F6EECF244321}">
                <p14:modId xmlns:p14="http://schemas.microsoft.com/office/powerpoint/2010/main" val="681425"/>
              </p:ext>
            </p:extLst>
          </p:nvPr>
        </p:nvGraphicFramePr>
        <p:xfrm>
          <a:off x="852907" y="2112337"/>
          <a:ext cx="8969519" cy="395094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3" name="Group 2">
            <a:extLst>
              <a:ext uri="{FF2B5EF4-FFF2-40B4-BE49-F238E27FC236}">
                <a16:creationId xmlns:a16="http://schemas.microsoft.com/office/drawing/2014/main" id="{5DBB7E2C-8A12-0B22-FAB1-736AFFCCF502}"/>
              </a:ext>
            </a:extLst>
          </p:cNvPr>
          <p:cNvGrpSpPr/>
          <p:nvPr/>
        </p:nvGrpSpPr>
        <p:grpSpPr>
          <a:xfrm>
            <a:off x="8339017" y="2238191"/>
            <a:ext cx="2137253" cy="386234"/>
            <a:chOff x="1756419" y="359677"/>
            <a:chExt cx="1476571" cy="1476571"/>
          </a:xfrm>
          <a:solidFill>
            <a:schemeClr val="accent5">
              <a:lumMod val="60000"/>
              <a:lumOff val="40000"/>
            </a:schemeClr>
          </a:solidFill>
          <a:effectLst>
            <a:glow rad="139700">
              <a:schemeClr val="accent6">
                <a:satMod val="175000"/>
                <a:alpha val="40000"/>
              </a:schemeClr>
            </a:glow>
          </a:effectLst>
        </p:grpSpPr>
        <p:sp>
          <p:nvSpPr>
            <p:cNvPr id="4" name="Rectangle: Rounded Corners 3">
              <a:extLst>
                <a:ext uri="{FF2B5EF4-FFF2-40B4-BE49-F238E27FC236}">
                  <a16:creationId xmlns:a16="http://schemas.microsoft.com/office/drawing/2014/main" id="{A8948A73-5C55-F7EC-8C47-AF334C62E7B6}"/>
                </a:ext>
              </a:extLst>
            </p:cNvPr>
            <p:cNvSpPr/>
            <p:nvPr/>
          </p:nvSpPr>
          <p:spPr>
            <a:xfrm>
              <a:off x="1756419" y="359677"/>
              <a:ext cx="1476571" cy="1476571"/>
            </a:xfrm>
            <a:prstGeom prst="roundRect">
              <a:avLst/>
            </a:prstGeom>
            <a:grpFill/>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a:lstStyle/>
            <a:p>
              <a:endParaRPr lang="en-US">
                <a:solidFill>
                  <a:schemeClr val="tx1"/>
                </a:solidFill>
              </a:endParaRPr>
            </a:p>
          </p:txBody>
        </p:sp>
        <p:sp>
          <p:nvSpPr>
            <p:cNvPr id="5" name="Rectangle: Rounded Corners 4">
              <a:extLst>
                <a:ext uri="{FF2B5EF4-FFF2-40B4-BE49-F238E27FC236}">
                  <a16:creationId xmlns:a16="http://schemas.microsoft.com/office/drawing/2014/main" id="{1578F595-6367-F042-3E80-D4B18E0310D1}"/>
                </a:ext>
              </a:extLst>
            </p:cNvPr>
            <p:cNvSpPr txBox="1"/>
            <p:nvPr/>
          </p:nvSpPr>
          <p:spPr>
            <a:xfrm>
              <a:off x="1828499" y="431757"/>
              <a:ext cx="1332411" cy="1332411"/>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64770" tIns="64770" rIns="64770" bIns="64770" numCol="1" spcCol="1270" anchor="ctr" anchorCtr="0">
              <a:noAutofit/>
            </a:bodyPr>
            <a:lstStyle/>
            <a:p>
              <a:pPr algn="ctr" defTabSz="755650">
                <a:lnSpc>
                  <a:spcPct val="90000"/>
                </a:lnSpc>
                <a:spcBef>
                  <a:spcPct val="0"/>
                </a:spcBef>
                <a:spcAft>
                  <a:spcPct val="35000"/>
                </a:spcAft>
              </a:pPr>
              <a:r>
                <a:rPr lang="en-US" sz="1700" dirty="0">
                  <a:solidFill>
                    <a:schemeClr val="tx1"/>
                  </a:solidFill>
                </a:rPr>
                <a:t>Box plot</a:t>
              </a:r>
              <a:endParaRPr lang="en-US" sz="1600" dirty="0">
                <a:solidFill>
                  <a:schemeClr val="tx1"/>
                </a:solidFill>
              </a:endParaRPr>
            </a:p>
          </p:txBody>
        </p:sp>
      </p:grpSp>
      <p:grpSp>
        <p:nvGrpSpPr>
          <p:cNvPr id="19" name="Group 18">
            <a:extLst>
              <a:ext uri="{FF2B5EF4-FFF2-40B4-BE49-F238E27FC236}">
                <a16:creationId xmlns:a16="http://schemas.microsoft.com/office/drawing/2014/main" id="{2E1E8DA6-46AF-EB5A-600D-5A21F581A788}"/>
              </a:ext>
            </a:extLst>
          </p:cNvPr>
          <p:cNvGrpSpPr/>
          <p:nvPr/>
        </p:nvGrpSpPr>
        <p:grpSpPr>
          <a:xfrm>
            <a:off x="8339018" y="2868628"/>
            <a:ext cx="2137252" cy="386234"/>
            <a:chOff x="1756419" y="359677"/>
            <a:chExt cx="1476571" cy="1476571"/>
          </a:xfrm>
          <a:solidFill>
            <a:schemeClr val="accent5">
              <a:lumMod val="60000"/>
              <a:lumOff val="40000"/>
            </a:schemeClr>
          </a:solidFill>
          <a:effectLst>
            <a:glow rad="139700">
              <a:schemeClr val="accent6">
                <a:satMod val="175000"/>
                <a:alpha val="40000"/>
              </a:schemeClr>
            </a:glow>
          </a:effectLst>
        </p:grpSpPr>
        <p:sp>
          <p:nvSpPr>
            <p:cNvPr id="20" name="Rectangle: Rounded Corners 19">
              <a:extLst>
                <a:ext uri="{FF2B5EF4-FFF2-40B4-BE49-F238E27FC236}">
                  <a16:creationId xmlns:a16="http://schemas.microsoft.com/office/drawing/2014/main" id="{D1EFE8F9-2E07-D117-013B-433D57A2CA3C}"/>
                </a:ext>
              </a:extLst>
            </p:cNvPr>
            <p:cNvSpPr/>
            <p:nvPr/>
          </p:nvSpPr>
          <p:spPr>
            <a:xfrm>
              <a:off x="1756419" y="359677"/>
              <a:ext cx="1476571" cy="1476571"/>
            </a:xfrm>
            <a:prstGeom prst="roundRect">
              <a:avLst/>
            </a:prstGeom>
            <a:grpFill/>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a:lstStyle/>
            <a:p>
              <a:endParaRPr lang="en-US">
                <a:solidFill>
                  <a:schemeClr val="tx1"/>
                </a:solidFill>
              </a:endParaRPr>
            </a:p>
          </p:txBody>
        </p:sp>
        <p:sp>
          <p:nvSpPr>
            <p:cNvPr id="21" name="Rectangle: Rounded Corners 4">
              <a:extLst>
                <a:ext uri="{FF2B5EF4-FFF2-40B4-BE49-F238E27FC236}">
                  <a16:creationId xmlns:a16="http://schemas.microsoft.com/office/drawing/2014/main" id="{FFAD584E-C421-40E5-14DA-0D125418ECA7}"/>
                </a:ext>
              </a:extLst>
            </p:cNvPr>
            <p:cNvSpPr txBox="1"/>
            <p:nvPr/>
          </p:nvSpPr>
          <p:spPr>
            <a:xfrm>
              <a:off x="1828499" y="431755"/>
              <a:ext cx="1332411" cy="1332410"/>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64770" tIns="64770" rIns="64770" bIns="64770" numCol="1" spcCol="1270" anchor="ctr" anchorCtr="0">
              <a:noAutofit/>
            </a:bodyPr>
            <a:lstStyle/>
            <a:p>
              <a:pPr algn="ctr" defTabSz="755650">
                <a:lnSpc>
                  <a:spcPct val="90000"/>
                </a:lnSpc>
                <a:spcBef>
                  <a:spcPct val="0"/>
                </a:spcBef>
                <a:spcAft>
                  <a:spcPct val="35000"/>
                </a:spcAft>
              </a:pPr>
              <a:r>
                <a:rPr lang="en-US" sz="1700" dirty="0">
                  <a:solidFill>
                    <a:schemeClr val="tx1"/>
                  </a:solidFill>
                </a:rPr>
                <a:t>Grouped Bar chart</a:t>
              </a:r>
              <a:endParaRPr lang="en-US" sz="1600" dirty="0">
                <a:solidFill>
                  <a:schemeClr val="tx1"/>
                </a:solidFill>
              </a:endParaRPr>
            </a:p>
          </p:txBody>
        </p:sp>
      </p:grpSp>
      <p:grpSp>
        <p:nvGrpSpPr>
          <p:cNvPr id="22" name="Group 21">
            <a:extLst>
              <a:ext uri="{FF2B5EF4-FFF2-40B4-BE49-F238E27FC236}">
                <a16:creationId xmlns:a16="http://schemas.microsoft.com/office/drawing/2014/main" id="{DEBCD349-5BB3-F7FD-97A0-DC74DD5F8777}"/>
              </a:ext>
            </a:extLst>
          </p:cNvPr>
          <p:cNvGrpSpPr/>
          <p:nvPr/>
        </p:nvGrpSpPr>
        <p:grpSpPr>
          <a:xfrm>
            <a:off x="8339018" y="3496503"/>
            <a:ext cx="2137252" cy="386234"/>
            <a:chOff x="1756419" y="359677"/>
            <a:chExt cx="1476571" cy="1476571"/>
          </a:xfrm>
          <a:solidFill>
            <a:schemeClr val="accent5">
              <a:lumMod val="60000"/>
              <a:lumOff val="40000"/>
            </a:schemeClr>
          </a:solidFill>
          <a:effectLst>
            <a:glow rad="139700">
              <a:schemeClr val="accent6">
                <a:satMod val="175000"/>
                <a:alpha val="40000"/>
              </a:schemeClr>
            </a:glow>
          </a:effectLst>
        </p:grpSpPr>
        <p:sp>
          <p:nvSpPr>
            <p:cNvPr id="23" name="Rectangle: Rounded Corners 22">
              <a:extLst>
                <a:ext uri="{FF2B5EF4-FFF2-40B4-BE49-F238E27FC236}">
                  <a16:creationId xmlns:a16="http://schemas.microsoft.com/office/drawing/2014/main" id="{A96F9D37-AF33-6B80-2F94-0B42F0F265D2}"/>
                </a:ext>
              </a:extLst>
            </p:cNvPr>
            <p:cNvSpPr/>
            <p:nvPr/>
          </p:nvSpPr>
          <p:spPr>
            <a:xfrm>
              <a:off x="1756419" y="359677"/>
              <a:ext cx="1476571" cy="1476571"/>
            </a:xfrm>
            <a:prstGeom prst="roundRect">
              <a:avLst/>
            </a:prstGeom>
            <a:grpFill/>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a:lstStyle/>
            <a:p>
              <a:endParaRPr lang="en-US">
                <a:solidFill>
                  <a:schemeClr val="tx1"/>
                </a:solidFill>
              </a:endParaRPr>
            </a:p>
          </p:txBody>
        </p:sp>
        <p:sp>
          <p:nvSpPr>
            <p:cNvPr id="24" name="Rectangle: Rounded Corners 4">
              <a:extLst>
                <a:ext uri="{FF2B5EF4-FFF2-40B4-BE49-F238E27FC236}">
                  <a16:creationId xmlns:a16="http://schemas.microsoft.com/office/drawing/2014/main" id="{501B3E33-B715-A71F-9074-C6264C569DE3}"/>
                </a:ext>
              </a:extLst>
            </p:cNvPr>
            <p:cNvSpPr txBox="1"/>
            <p:nvPr/>
          </p:nvSpPr>
          <p:spPr>
            <a:xfrm>
              <a:off x="1828499" y="431757"/>
              <a:ext cx="1332411" cy="1332411"/>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64770" tIns="64770" rIns="64770" bIns="64770" numCol="1" spcCol="1270" anchor="ctr" anchorCtr="0">
              <a:noAutofit/>
            </a:bodyPr>
            <a:lstStyle/>
            <a:p>
              <a:pPr algn="ctr" defTabSz="755650">
                <a:lnSpc>
                  <a:spcPct val="90000"/>
                </a:lnSpc>
                <a:spcBef>
                  <a:spcPct val="0"/>
                </a:spcBef>
                <a:spcAft>
                  <a:spcPct val="35000"/>
                </a:spcAft>
              </a:pPr>
              <a:r>
                <a:rPr lang="en-US" sz="1700" dirty="0">
                  <a:solidFill>
                    <a:schemeClr val="tx1"/>
                  </a:solidFill>
                </a:rPr>
                <a:t>Radial Bar chart</a:t>
              </a:r>
              <a:endParaRPr lang="en-US" sz="1600" dirty="0">
                <a:solidFill>
                  <a:schemeClr val="tx1"/>
                </a:solidFill>
              </a:endParaRPr>
            </a:p>
          </p:txBody>
        </p:sp>
      </p:grpSp>
      <p:grpSp>
        <p:nvGrpSpPr>
          <p:cNvPr id="25" name="Group 24">
            <a:extLst>
              <a:ext uri="{FF2B5EF4-FFF2-40B4-BE49-F238E27FC236}">
                <a16:creationId xmlns:a16="http://schemas.microsoft.com/office/drawing/2014/main" id="{0EFCAF9F-2EA3-0C07-BDB2-8440A8A5634E}"/>
              </a:ext>
            </a:extLst>
          </p:cNvPr>
          <p:cNvGrpSpPr/>
          <p:nvPr/>
        </p:nvGrpSpPr>
        <p:grpSpPr>
          <a:xfrm>
            <a:off x="8339018" y="4148598"/>
            <a:ext cx="2137252" cy="386234"/>
            <a:chOff x="1756419" y="359677"/>
            <a:chExt cx="1476571" cy="1476571"/>
          </a:xfrm>
          <a:solidFill>
            <a:schemeClr val="accent5">
              <a:lumMod val="60000"/>
              <a:lumOff val="40000"/>
            </a:schemeClr>
          </a:solidFill>
          <a:effectLst>
            <a:glow rad="139700">
              <a:schemeClr val="accent6">
                <a:satMod val="175000"/>
                <a:alpha val="40000"/>
              </a:schemeClr>
            </a:glow>
          </a:effectLst>
        </p:grpSpPr>
        <p:sp>
          <p:nvSpPr>
            <p:cNvPr id="26" name="Rectangle: Rounded Corners 25">
              <a:extLst>
                <a:ext uri="{FF2B5EF4-FFF2-40B4-BE49-F238E27FC236}">
                  <a16:creationId xmlns:a16="http://schemas.microsoft.com/office/drawing/2014/main" id="{A69D3B21-D297-798B-0106-90DBEDD7EA59}"/>
                </a:ext>
              </a:extLst>
            </p:cNvPr>
            <p:cNvSpPr/>
            <p:nvPr/>
          </p:nvSpPr>
          <p:spPr>
            <a:xfrm>
              <a:off x="1756419" y="359677"/>
              <a:ext cx="1476571" cy="1476571"/>
            </a:xfrm>
            <a:prstGeom prst="roundRect">
              <a:avLst/>
            </a:prstGeom>
            <a:grpFill/>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a:lstStyle/>
            <a:p>
              <a:endParaRPr lang="en-US">
                <a:solidFill>
                  <a:schemeClr val="tx1"/>
                </a:solidFill>
              </a:endParaRPr>
            </a:p>
          </p:txBody>
        </p:sp>
        <p:sp>
          <p:nvSpPr>
            <p:cNvPr id="27" name="Rectangle: Rounded Corners 4">
              <a:extLst>
                <a:ext uri="{FF2B5EF4-FFF2-40B4-BE49-F238E27FC236}">
                  <a16:creationId xmlns:a16="http://schemas.microsoft.com/office/drawing/2014/main" id="{9709878B-75B5-AD7C-86C5-2941CAACFE82}"/>
                </a:ext>
              </a:extLst>
            </p:cNvPr>
            <p:cNvSpPr txBox="1"/>
            <p:nvPr/>
          </p:nvSpPr>
          <p:spPr>
            <a:xfrm>
              <a:off x="1828499" y="431757"/>
              <a:ext cx="1332411" cy="1332411"/>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64770" tIns="64770" rIns="64770" bIns="64770" numCol="1" spcCol="1270" anchor="ctr" anchorCtr="0">
              <a:noAutofit/>
            </a:bodyPr>
            <a:lstStyle/>
            <a:p>
              <a:pPr algn="ctr" defTabSz="755650">
                <a:lnSpc>
                  <a:spcPct val="90000"/>
                </a:lnSpc>
                <a:spcBef>
                  <a:spcPct val="0"/>
                </a:spcBef>
                <a:spcAft>
                  <a:spcPct val="35000"/>
                </a:spcAft>
              </a:pPr>
              <a:r>
                <a:rPr lang="en-US" sz="1700" dirty="0">
                  <a:solidFill>
                    <a:schemeClr val="tx1"/>
                  </a:solidFill>
                </a:rPr>
                <a:t>Heatmap</a:t>
              </a:r>
              <a:endParaRPr lang="en-US" sz="1600" dirty="0">
                <a:solidFill>
                  <a:schemeClr val="tx1"/>
                </a:solidFill>
              </a:endParaRPr>
            </a:p>
          </p:txBody>
        </p:sp>
      </p:grpSp>
      <p:grpSp>
        <p:nvGrpSpPr>
          <p:cNvPr id="28" name="Group 27">
            <a:extLst>
              <a:ext uri="{FF2B5EF4-FFF2-40B4-BE49-F238E27FC236}">
                <a16:creationId xmlns:a16="http://schemas.microsoft.com/office/drawing/2014/main" id="{15EE65CB-576C-BCDD-E06C-CB63CA7D77CD}"/>
              </a:ext>
            </a:extLst>
          </p:cNvPr>
          <p:cNvGrpSpPr/>
          <p:nvPr/>
        </p:nvGrpSpPr>
        <p:grpSpPr>
          <a:xfrm>
            <a:off x="8339018" y="4808735"/>
            <a:ext cx="2137252" cy="386234"/>
            <a:chOff x="1756419" y="359677"/>
            <a:chExt cx="1476571" cy="1476571"/>
          </a:xfrm>
          <a:solidFill>
            <a:schemeClr val="accent5">
              <a:lumMod val="60000"/>
              <a:lumOff val="40000"/>
            </a:schemeClr>
          </a:solidFill>
          <a:effectLst>
            <a:glow rad="139700">
              <a:schemeClr val="accent6">
                <a:satMod val="175000"/>
                <a:alpha val="40000"/>
              </a:schemeClr>
            </a:glow>
          </a:effectLst>
        </p:grpSpPr>
        <p:sp>
          <p:nvSpPr>
            <p:cNvPr id="29" name="Rectangle: Rounded Corners 28">
              <a:extLst>
                <a:ext uri="{FF2B5EF4-FFF2-40B4-BE49-F238E27FC236}">
                  <a16:creationId xmlns:a16="http://schemas.microsoft.com/office/drawing/2014/main" id="{57E8ED62-A2F9-90A3-4592-AA17666D966B}"/>
                </a:ext>
              </a:extLst>
            </p:cNvPr>
            <p:cNvSpPr/>
            <p:nvPr/>
          </p:nvSpPr>
          <p:spPr>
            <a:xfrm>
              <a:off x="1756419" y="359677"/>
              <a:ext cx="1476571" cy="1476571"/>
            </a:xfrm>
            <a:prstGeom prst="roundRect">
              <a:avLst/>
            </a:prstGeom>
            <a:grpFill/>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a:lstStyle/>
            <a:p>
              <a:endParaRPr lang="en-US">
                <a:solidFill>
                  <a:schemeClr val="tx1"/>
                </a:solidFill>
              </a:endParaRPr>
            </a:p>
          </p:txBody>
        </p:sp>
        <p:sp>
          <p:nvSpPr>
            <p:cNvPr id="30" name="Rectangle: Rounded Corners 4">
              <a:extLst>
                <a:ext uri="{FF2B5EF4-FFF2-40B4-BE49-F238E27FC236}">
                  <a16:creationId xmlns:a16="http://schemas.microsoft.com/office/drawing/2014/main" id="{0098E4AF-796E-BCFB-6D51-E0E34C718502}"/>
                </a:ext>
              </a:extLst>
            </p:cNvPr>
            <p:cNvSpPr txBox="1"/>
            <p:nvPr/>
          </p:nvSpPr>
          <p:spPr>
            <a:xfrm>
              <a:off x="1828499" y="431757"/>
              <a:ext cx="1332411" cy="1332411"/>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64770" tIns="64770" rIns="64770" bIns="64770" numCol="1" spcCol="1270" anchor="ctr" anchorCtr="0">
              <a:noAutofit/>
            </a:bodyPr>
            <a:lstStyle/>
            <a:p>
              <a:pPr algn="ctr" defTabSz="755650">
                <a:lnSpc>
                  <a:spcPct val="90000"/>
                </a:lnSpc>
                <a:spcBef>
                  <a:spcPct val="0"/>
                </a:spcBef>
                <a:spcAft>
                  <a:spcPct val="35000"/>
                </a:spcAft>
              </a:pPr>
              <a:r>
                <a:rPr lang="en-US" sz="1700" dirty="0">
                  <a:solidFill>
                    <a:schemeClr val="tx1"/>
                  </a:solidFill>
                </a:rPr>
                <a:t>Bubble Matrix</a:t>
              </a:r>
              <a:endParaRPr lang="en-US" sz="1600" dirty="0">
                <a:solidFill>
                  <a:schemeClr val="tx1"/>
                </a:solidFill>
              </a:endParaRPr>
            </a:p>
          </p:txBody>
        </p:sp>
      </p:grpSp>
      <p:grpSp>
        <p:nvGrpSpPr>
          <p:cNvPr id="31" name="Group 30">
            <a:extLst>
              <a:ext uri="{FF2B5EF4-FFF2-40B4-BE49-F238E27FC236}">
                <a16:creationId xmlns:a16="http://schemas.microsoft.com/office/drawing/2014/main" id="{E6A36B08-C49D-ECF3-08B2-CD2C4BEFB3E4}"/>
              </a:ext>
            </a:extLst>
          </p:cNvPr>
          <p:cNvGrpSpPr/>
          <p:nvPr/>
        </p:nvGrpSpPr>
        <p:grpSpPr>
          <a:xfrm>
            <a:off x="8339018" y="5437573"/>
            <a:ext cx="2137252" cy="386234"/>
            <a:chOff x="1756419" y="359677"/>
            <a:chExt cx="1476571" cy="1476571"/>
          </a:xfrm>
          <a:solidFill>
            <a:schemeClr val="accent5">
              <a:lumMod val="60000"/>
              <a:lumOff val="40000"/>
            </a:schemeClr>
          </a:solidFill>
          <a:effectLst>
            <a:glow rad="139700">
              <a:schemeClr val="accent6">
                <a:satMod val="175000"/>
                <a:alpha val="40000"/>
              </a:schemeClr>
            </a:glow>
          </a:effectLst>
        </p:grpSpPr>
        <p:sp>
          <p:nvSpPr>
            <p:cNvPr id="32" name="Rectangle: Rounded Corners 31">
              <a:extLst>
                <a:ext uri="{FF2B5EF4-FFF2-40B4-BE49-F238E27FC236}">
                  <a16:creationId xmlns:a16="http://schemas.microsoft.com/office/drawing/2014/main" id="{B1D2DA11-2BAE-B8A9-9ECA-462B65948D0E}"/>
                </a:ext>
              </a:extLst>
            </p:cNvPr>
            <p:cNvSpPr/>
            <p:nvPr/>
          </p:nvSpPr>
          <p:spPr>
            <a:xfrm>
              <a:off x="1756419" y="359677"/>
              <a:ext cx="1476571" cy="1476571"/>
            </a:xfrm>
            <a:prstGeom prst="roundRect">
              <a:avLst/>
            </a:prstGeom>
            <a:grpFill/>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a:lstStyle/>
            <a:p>
              <a:endParaRPr lang="en-US">
                <a:solidFill>
                  <a:schemeClr val="tx1"/>
                </a:solidFill>
              </a:endParaRPr>
            </a:p>
          </p:txBody>
        </p:sp>
        <p:sp>
          <p:nvSpPr>
            <p:cNvPr id="33" name="Rectangle: Rounded Corners 4">
              <a:extLst>
                <a:ext uri="{FF2B5EF4-FFF2-40B4-BE49-F238E27FC236}">
                  <a16:creationId xmlns:a16="http://schemas.microsoft.com/office/drawing/2014/main" id="{BFF05D8F-34A8-15DF-634E-4E158B50E8F7}"/>
                </a:ext>
              </a:extLst>
            </p:cNvPr>
            <p:cNvSpPr txBox="1"/>
            <p:nvPr/>
          </p:nvSpPr>
          <p:spPr>
            <a:xfrm>
              <a:off x="1828499" y="431757"/>
              <a:ext cx="1332411" cy="1332411"/>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64770" tIns="64770" rIns="64770" bIns="64770" numCol="1" spcCol="1270" anchor="ctr" anchorCtr="0">
              <a:noAutofit/>
            </a:bodyPr>
            <a:lstStyle/>
            <a:p>
              <a:pPr algn="ctr" defTabSz="755650">
                <a:lnSpc>
                  <a:spcPct val="90000"/>
                </a:lnSpc>
                <a:spcBef>
                  <a:spcPct val="0"/>
                </a:spcBef>
                <a:spcAft>
                  <a:spcPct val="35000"/>
                </a:spcAft>
              </a:pPr>
              <a:r>
                <a:rPr lang="en-US" sz="1700" dirty="0">
                  <a:solidFill>
                    <a:schemeClr val="tx1"/>
                  </a:solidFill>
                </a:rPr>
                <a:t>Ridgeline Plot</a:t>
              </a:r>
              <a:endParaRPr lang="en-US" sz="1600" dirty="0">
                <a:solidFill>
                  <a:schemeClr val="tx1"/>
                </a:solidFill>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44CC594A-A820-450F-B363-C19201FCFE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59FAB3DA-E9ED-4574-ABCC-378BC0FF1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FAAB69CB-0AFC-ED4E-E20D-B5CABB75454B}"/>
              </a:ext>
            </a:extLst>
          </p:cNvPr>
          <p:cNvSpPr>
            <a:spLocks noGrp="1"/>
          </p:cNvSpPr>
          <p:nvPr>
            <p:ph type="title"/>
          </p:nvPr>
        </p:nvSpPr>
        <p:spPr>
          <a:xfrm>
            <a:off x="482989" y="996918"/>
            <a:ext cx="3084844" cy="2103875"/>
          </a:xfrm>
        </p:spPr>
        <p:txBody>
          <a:bodyPr>
            <a:normAutofit/>
          </a:bodyPr>
          <a:lstStyle/>
          <a:p>
            <a:r>
              <a:rPr lang="en-US" sz="3600" b="1" dirty="0">
                <a:solidFill>
                  <a:srgbClr val="FFFFFF"/>
                </a:solidFill>
              </a:rPr>
              <a:t>1. Distribution of Numeric Risk Indicators</a:t>
            </a:r>
            <a:endParaRPr lang="en-US" sz="3600" dirty="0">
              <a:solidFill>
                <a:srgbClr val="FFFFFF"/>
              </a:solidFill>
            </a:endParaRPr>
          </a:p>
        </p:txBody>
      </p:sp>
      <p:sp>
        <p:nvSpPr>
          <p:cNvPr id="10" name="TextBox 9">
            <a:extLst>
              <a:ext uri="{FF2B5EF4-FFF2-40B4-BE49-F238E27FC236}">
                <a16:creationId xmlns:a16="http://schemas.microsoft.com/office/drawing/2014/main" id="{0FE7692B-617F-ADEF-669E-0039C0AF2234}"/>
              </a:ext>
            </a:extLst>
          </p:cNvPr>
          <p:cNvSpPr txBox="1"/>
          <p:nvPr/>
        </p:nvSpPr>
        <p:spPr>
          <a:xfrm>
            <a:off x="482989" y="3642319"/>
            <a:ext cx="3256669" cy="1200329"/>
          </a:xfrm>
          <a:prstGeom prst="rect">
            <a:avLst/>
          </a:prstGeom>
          <a:noFill/>
        </p:spPr>
        <p:txBody>
          <a:bodyPr wrap="square" rtlCol="0">
            <a:spAutoFit/>
          </a:bodyPr>
          <a:lstStyle/>
          <a:p>
            <a:pPr defTabSz="914400">
              <a:lnSpc>
                <a:spcPct val="90000"/>
              </a:lnSpc>
              <a:spcAft>
                <a:spcPts val="600"/>
              </a:spcAft>
              <a:buClr>
                <a:schemeClr val="accent1"/>
              </a:buClr>
              <a:buFont typeface="Calibri" panose="020F0502020204030204" pitchFamily="34" charset="0"/>
            </a:pPr>
            <a:r>
              <a:rPr lang="en-US" sz="1600" dirty="0">
                <a:solidFill>
                  <a:srgbClr val="FFFFFF"/>
                </a:solidFill>
              </a:rPr>
              <a:t>Defaulters tend to have shorter employment and address histories and carried slightly higher levels of debt and loan-to-income ratios, compared to non-defaulters.</a:t>
            </a:r>
          </a:p>
        </p:txBody>
      </p:sp>
      <p:sp>
        <p:nvSpPr>
          <p:cNvPr id="30" name="Rectangle 29">
            <a:extLst>
              <a:ext uri="{FF2B5EF4-FFF2-40B4-BE49-F238E27FC236}">
                <a16:creationId xmlns:a16="http://schemas.microsoft.com/office/drawing/2014/main" id="{53B8D6B0-55D6-48DC-86D8-FD95D5F11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5" name="Picture 4">
            <a:extLst>
              <a:ext uri="{FF2B5EF4-FFF2-40B4-BE49-F238E27FC236}">
                <a16:creationId xmlns:a16="http://schemas.microsoft.com/office/drawing/2014/main" id="{F4C7B2B3-BD0A-34DB-4173-867CC70EAB12}"/>
              </a:ext>
            </a:extLst>
          </p:cNvPr>
          <p:cNvPicPr>
            <a:picLocks noChangeAspect="1"/>
          </p:cNvPicPr>
          <p:nvPr/>
        </p:nvPicPr>
        <p:blipFill>
          <a:blip r:embed="rId2"/>
          <a:stretch>
            <a:fillRect/>
          </a:stretch>
        </p:blipFill>
        <p:spPr>
          <a:xfrm>
            <a:off x="4278364" y="883920"/>
            <a:ext cx="7731540" cy="5516880"/>
          </a:xfrm>
          <a:prstGeom prst="rect">
            <a:avLst/>
          </a:prstGeom>
        </p:spPr>
      </p:pic>
    </p:spTree>
    <p:extLst>
      <p:ext uri="{BB962C8B-B14F-4D97-AF65-F5344CB8AC3E}">
        <p14:creationId xmlns:p14="http://schemas.microsoft.com/office/powerpoint/2010/main" val="25682503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4CC594A-A820-450F-B363-C19201FCFE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9FAB3DA-E9ED-4574-ABCC-378BC0FF1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26A4AD06-AC22-FD00-0C15-996193594E4C}"/>
              </a:ext>
            </a:extLst>
          </p:cNvPr>
          <p:cNvSpPr>
            <a:spLocks noGrp="1"/>
          </p:cNvSpPr>
          <p:nvPr>
            <p:ph type="title"/>
          </p:nvPr>
        </p:nvSpPr>
        <p:spPr>
          <a:xfrm>
            <a:off x="491917" y="1325125"/>
            <a:ext cx="3173032" cy="2103875"/>
          </a:xfrm>
        </p:spPr>
        <p:txBody>
          <a:bodyPr vert="horz" lIns="91440" tIns="45720" rIns="91440" bIns="45720" rtlCol="0" anchor="b">
            <a:normAutofit/>
          </a:bodyPr>
          <a:lstStyle/>
          <a:p>
            <a:r>
              <a:rPr lang="en-US" sz="3600" b="1" dirty="0">
                <a:solidFill>
                  <a:srgbClr val="FFFFFF"/>
                </a:solidFill>
              </a:rPr>
              <a:t>2. Bad Rates Across Demographic Segments</a:t>
            </a:r>
          </a:p>
        </p:txBody>
      </p:sp>
      <p:sp>
        <p:nvSpPr>
          <p:cNvPr id="5" name="TextBox 4">
            <a:extLst>
              <a:ext uri="{FF2B5EF4-FFF2-40B4-BE49-F238E27FC236}">
                <a16:creationId xmlns:a16="http://schemas.microsoft.com/office/drawing/2014/main" id="{AEB6CABC-EF68-6BFB-1850-A7538F3AB327}"/>
              </a:ext>
            </a:extLst>
          </p:cNvPr>
          <p:cNvSpPr txBox="1"/>
          <p:nvPr/>
        </p:nvSpPr>
        <p:spPr>
          <a:xfrm>
            <a:off x="580617" y="3864061"/>
            <a:ext cx="3368429" cy="1318760"/>
          </a:xfrm>
          <a:prstGeom prst="rect">
            <a:avLst/>
          </a:prstGeom>
        </p:spPr>
        <p:txBody>
          <a:bodyPr vert="horz" lIns="0" tIns="45720" rIns="0" bIns="45720" rtlCol="0">
            <a:normAutofit/>
          </a:bodyPr>
          <a:lstStyle/>
          <a:p>
            <a:pPr defTabSz="914400">
              <a:lnSpc>
                <a:spcPct val="90000"/>
              </a:lnSpc>
              <a:spcAft>
                <a:spcPts val="600"/>
              </a:spcAft>
              <a:buClr>
                <a:schemeClr val="accent1"/>
              </a:buClr>
              <a:buFont typeface="Calibri" panose="020F0502020204030204" pitchFamily="34" charset="0"/>
            </a:pPr>
            <a:r>
              <a:rPr lang="en-US" sz="1600" dirty="0">
                <a:solidFill>
                  <a:srgbClr val="FFFFFF"/>
                </a:solidFill>
              </a:rPr>
              <a:t>Slightly higher default rates were observed among younger individuals, males, singles and certain zones, suggesting subtle demographic influences on credit risk.</a:t>
            </a:r>
          </a:p>
        </p:txBody>
      </p:sp>
      <p:sp>
        <p:nvSpPr>
          <p:cNvPr id="14" name="Rectangle 13">
            <a:extLst>
              <a:ext uri="{FF2B5EF4-FFF2-40B4-BE49-F238E27FC236}">
                <a16:creationId xmlns:a16="http://schemas.microsoft.com/office/drawing/2014/main" id="{53B8D6B0-55D6-48DC-86D8-FD95D5F11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7" name="Picture 6">
            <a:extLst>
              <a:ext uri="{FF2B5EF4-FFF2-40B4-BE49-F238E27FC236}">
                <a16:creationId xmlns:a16="http://schemas.microsoft.com/office/drawing/2014/main" id="{9E3FBB11-E418-306A-A1D7-0542A48721DE}"/>
              </a:ext>
            </a:extLst>
          </p:cNvPr>
          <p:cNvPicPr>
            <a:picLocks noChangeAspect="1"/>
          </p:cNvPicPr>
          <p:nvPr/>
        </p:nvPicPr>
        <p:blipFill>
          <a:blip r:embed="rId2"/>
          <a:stretch>
            <a:fillRect/>
          </a:stretch>
        </p:blipFill>
        <p:spPr>
          <a:xfrm>
            <a:off x="4192977" y="751840"/>
            <a:ext cx="7902313" cy="5638799"/>
          </a:xfrm>
          <a:prstGeom prst="rect">
            <a:avLst/>
          </a:prstGeom>
        </p:spPr>
      </p:pic>
    </p:spTree>
    <p:extLst>
      <p:ext uri="{BB962C8B-B14F-4D97-AF65-F5344CB8AC3E}">
        <p14:creationId xmlns:p14="http://schemas.microsoft.com/office/powerpoint/2010/main" val="42621231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44CC594A-A820-450F-B363-C19201FCFE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9FAB3DA-E9ED-4574-ABCC-378BC0FF1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 name="Title 1">
            <a:extLst>
              <a:ext uri="{FF2B5EF4-FFF2-40B4-BE49-F238E27FC236}">
                <a16:creationId xmlns:a16="http://schemas.microsoft.com/office/drawing/2014/main" id="{E90977FC-C1B0-E9F2-B33F-7F06D5D7C90B}"/>
              </a:ext>
            </a:extLst>
          </p:cNvPr>
          <p:cNvSpPr>
            <a:spLocks noGrp="1"/>
          </p:cNvSpPr>
          <p:nvPr>
            <p:ph type="title"/>
          </p:nvPr>
        </p:nvSpPr>
        <p:spPr>
          <a:xfrm>
            <a:off x="492370" y="1304540"/>
            <a:ext cx="3084844" cy="2103875"/>
          </a:xfrm>
        </p:spPr>
        <p:txBody>
          <a:bodyPr vert="horz" lIns="91440" tIns="45720" rIns="91440" bIns="45720" rtlCol="0" anchor="b">
            <a:normAutofit/>
          </a:bodyPr>
          <a:lstStyle/>
          <a:p>
            <a:r>
              <a:rPr lang="en-US" sz="3600" b="1" dirty="0">
                <a:solidFill>
                  <a:srgbClr val="FFFFFF"/>
                </a:solidFill>
              </a:rPr>
              <a:t>3. Mean Comparison: Good vs Bad Customers</a:t>
            </a:r>
          </a:p>
        </p:txBody>
      </p:sp>
      <p:sp>
        <p:nvSpPr>
          <p:cNvPr id="6" name="TextBox 5">
            <a:extLst>
              <a:ext uri="{FF2B5EF4-FFF2-40B4-BE49-F238E27FC236}">
                <a16:creationId xmlns:a16="http://schemas.microsoft.com/office/drawing/2014/main" id="{95D96AB1-0036-0664-BCA2-1C19728160F1}"/>
              </a:ext>
            </a:extLst>
          </p:cNvPr>
          <p:cNvSpPr txBox="1"/>
          <p:nvPr/>
        </p:nvSpPr>
        <p:spPr>
          <a:xfrm>
            <a:off x="611613" y="3921209"/>
            <a:ext cx="3197029" cy="1583491"/>
          </a:xfrm>
          <a:prstGeom prst="rect">
            <a:avLst/>
          </a:prstGeom>
        </p:spPr>
        <p:txBody>
          <a:bodyPr vert="horz" lIns="0" tIns="45720" rIns="0" bIns="45720" rtlCol="0">
            <a:normAutofit/>
          </a:bodyPr>
          <a:lstStyle/>
          <a:p>
            <a:pPr defTabSz="914400">
              <a:lnSpc>
                <a:spcPct val="90000"/>
              </a:lnSpc>
              <a:spcAft>
                <a:spcPts val="600"/>
              </a:spcAft>
              <a:buClr>
                <a:schemeClr val="accent1"/>
              </a:buClr>
              <a:buFont typeface="Calibri" panose="020F0502020204030204" pitchFamily="34" charset="0"/>
            </a:pPr>
            <a:r>
              <a:rPr lang="en-US" sz="1600" dirty="0">
                <a:solidFill>
                  <a:srgbClr val="FFFFFF"/>
                </a:solidFill>
              </a:rPr>
              <a:t>Radial bar chart shows that the defaulters have noticeably higher average values in debt related variables and shorter durations in employment and address history.</a:t>
            </a:r>
          </a:p>
        </p:txBody>
      </p:sp>
      <p:sp>
        <p:nvSpPr>
          <p:cNvPr id="15" name="Rectangle 14">
            <a:extLst>
              <a:ext uri="{FF2B5EF4-FFF2-40B4-BE49-F238E27FC236}">
                <a16:creationId xmlns:a16="http://schemas.microsoft.com/office/drawing/2014/main" id="{53B8D6B0-55D6-48DC-86D8-FD95D5F11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5" name="Picture 4">
            <a:extLst>
              <a:ext uri="{FF2B5EF4-FFF2-40B4-BE49-F238E27FC236}">
                <a16:creationId xmlns:a16="http://schemas.microsoft.com/office/drawing/2014/main" id="{58C5A271-4A2B-1B7E-E14C-9E1660D9F31F}"/>
              </a:ext>
            </a:extLst>
          </p:cNvPr>
          <p:cNvPicPr>
            <a:picLocks noChangeAspect="1"/>
          </p:cNvPicPr>
          <p:nvPr/>
        </p:nvPicPr>
        <p:blipFill>
          <a:blip r:embed="rId2"/>
          <a:stretch>
            <a:fillRect/>
          </a:stretch>
        </p:blipFill>
        <p:spPr>
          <a:xfrm>
            <a:off x="4804240" y="640080"/>
            <a:ext cx="6267235" cy="5577840"/>
          </a:xfrm>
          <a:prstGeom prst="rect">
            <a:avLst/>
          </a:prstGeom>
        </p:spPr>
      </p:pic>
    </p:spTree>
    <p:extLst>
      <p:ext uri="{BB962C8B-B14F-4D97-AF65-F5344CB8AC3E}">
        <p14:creationId xmlns:p14="http://schemas.microsoft.com/office/powerpoint/2010/main" val="16263775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4CC594A-A820-450F-B363-C19201FCFE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9FAB3DA-E9ED-4574-ABCC-378BC0FF1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 name="Title 1">
            <a:extLst>
              <a:ext uri="{FF2B5EF4-FFF2-40B4-BE49-F238E27FC236}">
                <a16:creationId xmlns:a16="http://schemas.microsoft.com/office/drawing/2014/main" id="{97657058-F9CA-065C-012B-3E8780318730}"/>
              </a:ext>
            </a:extLst>
          </p:cNvPr>
          <p:cNvSpPr>
            <a:spLocks noGrp="1"/>
          </p:cNvSpPr>
          <p:nvPr>
            <p:ph type="title"/>
          </p:nvPr>
        </p:nvSpPr>
        <p:spPr>
          <a:xfrm>
            <a:off x="477622" y="1084325"/>
            <a:ext cx="3084844" cy="2103875"/>
          </a:xfrm>
        </p:spPr>
        <p:txBody>
          <a:bodyPr vert="horz" lIns="91440" tIns="45720" rIns="91440" bIns="45720" rtlCol="0" anchor="b">
            <a:normAutofit/>
          </a:bodyPr>
          <a:lstStyle/>
          <a:p>
            <a:r>
              <a:rPr lang="en-US" sz="3600" b="1" dirty="0">
                <a:solidFill>
                  <a:srgbClr val="FFFFFF"/>
                </a:solidFill>
              </a:rPr>
              <a:t>4. Risk Variation by Gender and Zone</a:t>
            </a:r>
          </a:p>
        </p:txBody>
      </p:sp>
      <p:sp>
        <p:nvSpPr>
          <p:cNvPr id="6" name="TextBox 5">
            <a:extLst>
              <a:ext uri="{FF2B5EF4-FFF2-40B4-BE49-F238E27FC236}">
                <a16:creationId xmlns:a16="http://schemas.microsoft.com/office/drawing/2014/main" id="{94D9BE04-972F-BF1C-D2FD-28F624FDF8E2}"/>
              </a:ext>
            </a:extLst>
          </p:cNvPr>
          <p:cNvSpPr txBox="1"/>
          <p:nvPr/>
        </p:nvSpPr>
        <p:spPr>
          <a:xfrm>
            <a:off x="563491" y="3682000"/>
            <a:ext cx="3084844" cy="1583491"/>
          </a:xfrm>
          <a:prstGeom prst="rect">
            <a:avLst/>
          </a:prstGeom>
        </p:spPr>
        <p:txBody>
          <a:bodyPr vert="horz" lIns="0" tIns="45720" rIns="0" bIns="45720" rtlCol="0">
            <a:normAutofit/>
          </a:bodyPr>
          <a:lstStyle/>
          <a:p>
            <a:pPr defTabSz="914400">
              <a:lnSpc>
                <a:spcPct val="90000"/>
              </a:lnSpc>
              <a:spcAft>
                <a:spcPts val="600"/>
              </a:spcAft>
              <a:buClr>
                <a:schemeClr val="accent1"/>
              </a:buClr>
              <a:buFont typeface="Calibri" panose="020F0502020204030204" pitchFamily="34" charset="0"/>
            </a:pPr>
            <a:r>
              <a:rPr lang="en-US" sz="1600" dirty="0">
                <a:solidFill>
                  <a:srgbClr val="FFFFFF"/>
                </a:solidFill>
              </a:rPr>
              <a:t>Gender-Zone heatmap revealed concentrated default risk among males in certain zones, particularly in Zone 2 and Zone 7.</a:t>
            </a:r>
          </a:p>
        </p:txBody>
      </p:sp>
      <p:sp>
        <p:nvSpPr>
          <p:cNvPr id="10" name="Rectangle 9">
            <a:extLst>
              <a:ext uri="{FF2B5EF4-FFF2-40B4-BE49-F238E27FC236}">
                <a16:creationId xmlns:a16="http://schemas.microsoft.com/office/drawing/2014/main" id="{53B8D6B0-55D6-48DC-86D8-FD95D5F11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5" name="Picture 4" descr="A graph with purple and white stripes&#10;&#10;AI-generated content may be incorrect.">
            <a:extLst>
              <a:ext uri="{FF2B5EF4-FFF2-40B4-BE49-F238E27FC236}">
                <a16:creationId xmlns:a16="http://schemas.microsoft.com/office/drawing/2014/main" id="{13C7E05A-7B2C-B512-474C-6D1D49E2E51F}"/>
              </a:ext>
            </a:extLst>
          </p:cNvPr>
          <p:cNvPicPr>
            <a:picLocks noChangeAspect="1"/>
          </p:cNvPicPr>
          <p:nvPr/>
        </p:nvPicPr>
        <p:blipFill>
          <a:blip r:embed="rId2"/>
          <a:stretch>
            <a:fillRect/>
          </a:stretch>
        </p:blipFill>
        <p:spPr>
          <a:xfrm>
            <a:off x="4211810" y="1084324"/>
            <a:ext cx="7822916" cy="4747515"/>
          </a:xfrm>
          <a:prstGeom prst="rect">
            <a:avLst/>
          </a:prstGeom>
        </p:spPr>
      </p:pic>
    </p:spTree>
    <p:extLst>
      <p:ext uri="{BB962C8B-B14F-4D97-AF65-F5344CB8AC3E}">
        <p14:creationId xmlns:p14="http://schemas.microsoft.com/office/powerpoint/2010/main" val="3912590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44CC594A-A820-450F-B363-C19201FCFE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9FAB3DA-E9ED-4574-ABCC-378BC0FF1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 name="Title 1">
            <a:extLst>
              <a:ext uri="{FF2B5EF4-FFF2-40B4-BE49-F238E27FC236}">
                <a16:creationId xmlns:a16="http://schemas.microsoft.com/office/drawing/2014/main" id="{C2BA67FC-493E-268D-BA92-1529C0845BEC}"/>
              </a:ext>
            </a:extLst>
          </p:cNvPr>
          <p:cNvSpPr>
            <a:spLocks noGrp="1"/>
          </p:cNvSpPr>
          <p:nvPr>
            <p:ph type="title"/>
          </p:nvPr>
        </p:nvSpPr>
        <p:spPr>
          <a:xfrm>
            <a:off x="492370" y="1325125"/>
            <a:ext cx="3084844" cy="2103875"/>
          </a:xfrm>
        </p:spPr>
        <p:txBody>
          <a:bodyPr vert="horz" lIns="91440" tIns="45720" rIns="91440" bIns="45720" rtlCol="0" anchor="b">
            <a:normAutofit/>
          </a:bodyPr>
          <a:lstStyle/>
          <a:p>
            <a:r>
              <a:rPr lang="en-US" sz="3600" b="1" dirty="0">
                <a:solidFill>
                  <a:srgbClr val="FFFFFF"/>
                </a:solidFill>
              </a:rPr>
              <a:t>5. Risk Profile by Employment Category &amp; Debt Level</a:t>
            </a:r>
          </a:p>
        </p:txBody>
      </p:sp>
      <p:sp>
        <p:nvSpPr>
          <p:cNvPr id="6" name="TextBox 5">
            <a:extLst>
              <a:ext uri="{FF2B5EF4-FFF2-40B4-BE49-F238E27FC236}">
                <a16:creationId xmlns:a16="http://schemas.microsoft.com/office/drawing/2014/main" id="{AFE22044-1B1C-A9A6-5B40-865CD46493E4}"/>
              </a:ext>
            </a:extLst>
          </p:cNvPr>
          <p:cNvSpPr txBox="1"/>
          <p:nvPr/>
        </p:nvSpPr>
        <p:spPr>
          <a:xfrm>
            <a:off x="563491" y="3911601"/>
            <a:ext cx="3084844" cy="1257800"/>
          </a:xfrm>
          <a:prstGeom prst="rect">
            <a:avLst/>
          </a:prstGeom>
        </p:spPr>
        <p:txBody>
          <a:bodyPr vert="horz" lIns="0" tIns="45720" rIns="0" bIns="45720" rtlCol="0">
            <a:normAutofit/>
          </a:bodyPr>
          <a:lstStyle/>
          <a:p>
            <a:pPr defTabSz="914400">
              <a:lnSpc>
                <a:spcPct val="90000"/>
              </a:lnSpc>
              <a:spcAft>
                <a:spcPts val="600"/>
              </a:spcAft>
              <a:buClr>
                <a:schemeClr val="accent1"/>
              </a:buClr>
              <a:buFont typeface="Calibri" panose="020F0502020204030204" pitchFamily="34" charset="0"/>
            </a:pPr>
            <a:r>
              <a:rPr lang="en-US" sz="1600" dirty="0">
                <a:solidFill>
                  <a:srgbClr val="FFFFFF"/>
                </a:solidFill>
              </a:rPr>
              <a:t>From the Categorical Bubble Matrix, default rates are highest among newly employed individuals with high debt-to-income ratios.</a:t>
            </a:r>
          </a:p>
        </p:txBody>
      </p:sp>
      <p:sp>
        <p:nvSpPr>
          <p:cNvPr id="15" name="Rectangle 14">
            <a:extLst>
              <a:ext uri="{FF2B5EF4-FFF2-40B4-BE49-F238E27FC236}">
                <a16:creationId xmlns:a16="http://schemas.microsoft.com/office/drawing/2014/main" id="{53B8D6B0-55D6-48DC-86D8-FD95D5F11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5" name="Picture 4" descr="A graph of a diagram&#10;&#10;AI-generated content may be incorrect.">
            <a:extLst>
              <a:ext uri="{FF2B5EF4-FFF2-40B4-BE49-F238E27FC236}">
                <a16:creationId xmlns:a16="http://schemas.microsoft.com/office/drawing/2014/main" id="{0495C52D-1575-37B4-3593-A22FF4DF6B5A}"/>
              </a:ext>
            </a:extLst>
          </p:cNvPr>
          <p:cNvPicPr>
            <a:picLocks noChangeAspect="1"/>
          </p:cNvPicPr>
          <p:nvPr/>
        </p:nvPicPr>
        <p:blipFill>
          <a:blip r:embed="rId2"/>
          <a:stretch>
            <a:fillRect/>
          </a:stretch>
        </p:blipFill>
        <p:spPr>
          <a:xfrm>
            <a:off x="4742017" y="1049670"/>
            <a:ext cx="6798082" cy="4758660"/>
          </a:xfrm>
          <a:prstGeom prst="rect">
            <a:avLst/>
          </a:prstGeom>
        </p:spPr>
      </p:pic>
    </p:spTree>
    <p:extLst>
      <p:ext uri="{BB962C8B-B14F-4D97-AF65-F5344CB8AC3E}">
        <p14:creationId xmlns:p14="http://schemas.microsoft.com/office/powerpoint/2010/main" val="26670737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44CC594A-A820-450F-B363-C19201FCFE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9FAB3DA-E9ED-4574-ABCC-378BC0FF1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 name="Title 1">
            <a:extLst>
              <a:ext uri="{FF2B5EF4-FFF2-40B4-BE49-F238E27FC236}">
                <a16:creationId xmlns:a16="http://schemas.microsoft.com/office/drawing/2014/main" id="{C61A3914-A135-6A25-CF25-6E29940B442D}"/>
              </a:ext>
            </a:extLst>
          </p:cNvPr>
          <p:cNvSpPr>
            <a:spLocks noGrp="1"/>
          </p:cNvSpPr>
          <p:nvPr>
            <p:ph type="title"/>
          </p:nvPr>
        </p:nvSpPr>
        <p:spPr>
          <a:xfrm>
            <a:off x="492370" y="1058000"/>
            <a:ext cx="3084844" cy="2103875"/>
          </a:xfrm>
        </p:spPr>
        <p:txBody>
          <a:bodyPr vert="horz" lIns="91440" tIns="45720" rIns="91440" bIns="45720" rtlCol="0" anchor="b">
            <a:normAutofit/>
          </a:bodyPr>
          <a:lstStyle/>
          <a:p>
            <a:r>
              <a:rPr lang="en-US" sz="3600" b="1" dirty="0">
                <a:solidFill>
                  <a:srgbClr val="FFFFFF"/>
                </a:solidFill>
              </a:rPr>
              <a:t>6. Age wise Credit Card Debt Risk Patterns</a:t>
            </a:r>
          </a:p>
        </p:txBody>
      </p:sp>
      <p:sp>
        <p:nvSpPr>
          <p:cNvPr id="6" name="TextBox 5">
            <a:extLst>
              <a:ext uri="{FF2B5EF4-FFF2-40B4-BE49-F238E27FC236}">
                <a16:creationId xmlns:a16="http://schemas.microsoft.com/office/drawing/2014/main" id="{A5FA8EE6-6685-1C2B-5A18-5C9206B462DF}"/>
              </a:ext>
            </a:extLst>
          </p:cNvPr>
          <p:cNvSpPr txBox="1"/>
          <p:nvPr/>
        </p:nvSpPr>
        <p:spPr>
          <a:xfrm>
            <a:off x="563491" y="3708327"/>
            <a:ext cx="3084844" cy="1146040"/>
          </a:xfrm>
          <a:prstGeom prst="rect">
            <a:avLst/>
          </a:prstGeom>
        </p:spPr>
        <p:txBody>
          <a:bodyPr vert="horz" lIns="0" tIns="45720" rIns="0" bIns="45720" rtlCol="0">
            <a:normAutofit/>
          </a:bodyPr>
          <a:lstStyle/>
          <a:p>
            <a:pPr defTabSz="914400">
              <a:lnSpc>
                <a:spcPct val="90000"/>
              </a:lnSpc>
              <a:spcAft>
                <a:spcPts val="600"/>
              </a:spcAft>
              <a:buClr>
                <a:schemeClr val="accent1"/>
              </a:buClr>
              <a:buFont typeface="Calibri" panose="020F0502020204030204" pitchFamily="34" charset="0"/>
            </a:pPr>
            <a:r>
              <a:rPr lang="en-US" sz="1600" dirty="0">
                <a:solidFill>
                  <a:srgbClr val="FFFFFF"/>
                </a:solidFill>
              </a:rPr>
              <a:t>The Ridgeline Plot reveals that younger age group has a wider spread of credit card debt among defaulters.</a:t>
            </a:r>
          </a:p>
        </p:txBody>
      </p:sp>
      <p:sp>
        <p:nvSpPr>
          <p:cNvPr id="15" name="Rectangle 14">
            <a:extLst>
              <a:ext uri="{FF2B5EF4-FFF2-40B4-BE49-F238E27FC236}">
                <a16:creationId xmlns:a16="http://schemas.microsoft.com/office/drawing/2014/main" id="{53B8D6B0-55D6-48DC-86D8-FD95D5F11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8" name="Picture 7">
            <a:extLst>
              <a:ext uri="{FF2B5EF4-FFF2-40B4-BE49-F238E27FC236}">
                <a16:creationId xmlns:a16="http://schemas.microsoft.com/office/drawing/2014/main" id="{B9A8962F-635F-1A7A-FBBF-51E013F1D505}"/>
              </a:ext>
            </a:extLst>
          </p:cNvPr>
          <p:cNvPicPr>
            <a:picLocks noChangeAspect="1"/>
          </p:cNvPicPr>
          <p:nvPr/>
        </p:nvPicPr>
        <p:blipFill>
          <a:blip r:embed="rId2"/>
          <a:stretch>
            <a:fillRect/>
          </a:stretch>
        </p:blipFill>
        <p:spPr>
          <a:xfrm>
            <a:off x="4211810" y="761987"/>
            <a:ext cx="7736350" cy="5465292"/>
          </a:xfrm>
          <a:prstGeom prst="rect">
            <a:avLst/>
          </a:prstGeom>
        </p:spPr>
      </p:pic>
    </p:spTree>
    <p:extLst>
      <p:ext uri="{BB962C8B-B14F-4D97-AF65-F5344CB8AC3E}">
        <p14:creationId xmlns:p14="http://schemas.microsoft.com/office/powerpoint/2010/main" val="16219746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5"/>
            <a:ext cx="8717280" cy="1450757"/>
          </a:xfrm>
        </p:spPr>
        <p:txBody>
          <a:bodyPr/>
          <a:lstStyle/>
          <a:p>
            <a:r>
              <a:rPr sz="4000" b="1" dirty="0">
                <a:solidFill>
                  <a:srgbClr val="002060"/>
                </a:solidFill>
                <a:latin typeface="Calibri Light"/>
              </a:rPr>
              <a:t>Phase 3 </a:t>
            </a:r>
            <a:r>
              <a:rPr lang="en-US" sz="4000" b="1" dirty="0">
                <a:solidFill>
                  <a:srgbClr val="002060"/>
                </a:solidFill>
                <a:latin typeface="Calibri Light"/>
              </a:rPr>
              <a:t>-</a:t>
            </a:r>
            <a:r>
              <a:rPr sz="4000" b="1" dirty="0">
                <a:solidFill>
                  <a:srgbClr val="002060"/>
                </a:solidFill>
                <a:latin typeface="Calibri Light"/>
              </a:rPr>
              <a:t> </a:t>
            </a:r>
            <a:r>
              <a:rPr lang="en-US" sz="4000" b="1" dirty="0">
                <a:solidFill>
                  <a:srgbClr val="002060"/>
                </a:solidFill>
                <a:latin typeface="Calibri Light"/>
              </a:rPr>
              <a:t>Binary </a:t>
            </a:r>
            <a:r>
              <a:rPr sz="4000" b="1" dirty="0">
                <a:solidFill>
                  <a:srgbClr val="002060"/>
                </a:solidFill>
                <a:latin typeface="Calibri Light"/>
              </a:rPr>
              <a:t>Logistic Regression Model</a:t>
            </a:r>
          </a:p>
        </p:txBody>
      </p:sp>
      <p:sp>
        <p:nvSpPr>
          <p:cNvPr id="3" name="Content Placeholder 2"/>
          <p:cNvSpPr>
            <a:spLocks noGrp="1"/>
          </p:cNvSpPr>
          <p:nvPr>
            <p:ph idx="1"/>
          </p:nvPr>
        </p:nvSpPr>
        <p:spPr>
          <a:xfrm>
            <a:off x="1097279" y="1984732"/>
            <a:ext cx="6178591" cy="504175"/>
          </a:xfrm>
        </p:spPr>
        <p:txBody>
          <a:bodyPr>
            <a:noAutofit/>
          </a:bodyPr>
          <a:lstStyle/>
          <a:p>
            <a:r>
              <a:rPr lang="en-US" b="1" dirty="0">
                <a:solidFill>
                  <a:schemeClr val="bg2">
                    <a:lumMod val="50000"/>
                  </a:schemeClr>
                </a:solidFill>
              </a:rPr>
              <a:t>Model 1 Performance - Numeric Variables</a:t>
            </a:r>
          </a:p>
        </p:txBody>
      </p:sp>
      <p:sp>
        <p:nvSpPr>
          <p:cNvPr id="8" name="TextBox 7">
            <a:extLst>
              <a:ext uri="{FF2B5EF4-FFF2-40B4-BE49-F238E27FC236}">
                <a16:creationId xmlns:a16="http://schemas.microsoft.com/office/drawing/2014/main" id="{CE8755E6-76F8-BF85-FACB-5E5CFF346041}"/>
              </a:ext>
            </a:extLst>
          </p:cNvPr>
          <p:cNvSpPr txBox="1"/>
          <p:nvPr/>
        </p:nvSpPr>
        <p:spPr>
          <a:xfrm>
            <a:off x="883045" y="2418304"/>
            <a:ext cx="7877497" cy="1077218"/>
          </a:xfrm>
          <a:prstGeom prst="rect">
            <a:avLst/>
          </a:prstGeom>
          <a:noFill/>
        </p:spPr>
        <p:txBody>
          <a:bodyPr wrap="square" rtlCol="0">
            <a:spAutoFit/>
          </a:bodyPr>
          <a:lstStyle/>
          <a:p>
            <a:pPr marL="285750" indent="-285750">
              <a:buFont typeface="Wingdings" panose="05000000000000000000" pitchFamily="2" charset="2"/>
              <a:buChar char="§"/>
            </a:pPr>
            <a:r>
              <a:rPr lang="en-US" sz="1600" dirty="0"/>
              <a:t>Used original numeric variables to build the binary logistic regression model.</a:t>
            </a:r>
          </a:p>
          <a:p>
            <a:endParaRPr lang="en-US" sz="1600" dirty="0"/>
          </a:p>
          <a:p>
            <a:pPr marL="285750" indent="-285750">
              <a:buFont typeface="Wingdings" panose="05000000000000000000" pitchFamily="2" charset="2"/>
              <a:buChar char="§"/>
            </a:pPr>
            <a:r>
              <a:rPr lang="en-US" sz="1600" dirty="0"/>
              <a:t>The ROC curve of model 1 test data indicated reliable separation between defaulters and non-defaulters.</a:t>
            </a:r>
          </a:p>
        </p:txBody>
      </p:sp>
      <p:pic>
        <p:nvPicPr>
          <p:cNvPr id="4" name="Picture 3">
            <a:extLst>
              <a:ext uri="{FF2B5EF4-FFF2-40B4-BE49-F238E27FC236}">
                <a16:creationId xmlns:a16="http://schemas.microsoft.com/office/drawing/2014/main" id="{B9B401AF-8885-7575-8135-7A2CAC55F970}"/>
              </a:ext>
            </a:extLst>
          </p:cNvPr>
          <p:cNvPicPr>
            <a:picLocks noChangeAspect="1"/>
          </p:cNvPicPr>
          <p:nvPr/>
        </p:nvPicPr>
        <p:blipFill>
          <a:blip r:embed="rId2"/>
          <a:stretch>
            <a:fillRect/>
          </a:stretch>
        </p:blipFill>
        <p:spPr>
          <a:xfrm>
            <a:off x="4568850" y="3429000"/>
            <a:ext cx="4259498" cy="2767173"/>
          </a:xfrm>
          <a:prstGeom prst="rect">
            <a:avLst/>
          </a:prstGeom>
        </p:spPr>
      </p:pic>
      <p:pic>
        <p:nvPicPr>
          <p:cNvPr id="12" name="Picture 11">
            <a:extLst>
              <a:ext uri="{FF2B5EF4-FFF2-40B4-BE49-F238E27FC236}">
                <a16:creationId xmlns:a16="http://schemas.microsoft.com/office/drawing/2014/main" id="{E3F0018A-725E-9691-084A-18C2841E5E08}"/>
              </a:ext>
            </a:extLst>
          </p:cNvPr>
          <p:cNvPicPr>
            <a:picLocks noChangeAspect="1"/>
          </p:cNvPicPr>
          <p:nvPr/>
        </p:nvPicPr>
        <p:blipFill>
          <a:blip r:embed="rId3"/>
          <a:stretch>
            <a:fillRect/>
          </a:stretch>
        </p:blipFill>
        <p:spPr>
          <a:xfrm>
            <a:off x="8955237" y="2149467"/>
            <a:ext cx="2508740" cy="3877707"/>
          </a:xfrm>
          <a:prstGeom prst="rect">
            <a:avLst/>
          </a:prstGeom>
          <a:ln>
            <a:solidFill>
              <a:schemeClr val="tx1"/>
            </a:solidFill>
          </a:ln>
        </p:spPr>
      </p:pic>
      <p:sp>
        <p:nvSpPr>
          <p:cNvPr id="13" name="TextBox 12">
            <a:extLst>
              <a:ext uri="{FF2B5EF4-FFF2-40B4-BE49-F238E27FC236}">
                <a16:creationId xmlns:a16="http://schemas.microsoft.com/office/drawing/2014/main" id="{071C4254-B663-FCCD-873C-31D81F7A58A9}"/>
              </a:ext>
            </a:extLst>
          </p:cNvPr>
          <p:cNvSpPr txBox="1"/>
          <p:nvPr/>
        </p:nvSpPr>
        <p:spPr>
          <a:xfrm>
            <a:off x="9421393" y="1841690"/>
            <a:ext cx="1576428" cy="307777"/>
          </a:xfrm>
          <a:prstGeom prst="rect">
            <a:avLst/>
          </a:prstGeom>
          <a:noFill/>
        </p:spPr>
        <p:txBody>
          <a:bodyPr wrap="square" rtlCol="0">
            <a:spAutoFit/>
          </a:bodyPr>
          <a:lstStyle/>
          <a:p>
            <a:r>
              <a:rPr lang="en-US" sz="1400" b="1" dirty="0"/>
              <a:t>Confusion matrix </a:t>
            </a:r>
          </a:p>
        </p:txBody>
      </p:sp>
      <p:sp>
        <p:nvSpPr>
          <p:cNvPr id="15" name="TextBox 14">
            <a:extLst>
              <a:ext uri="{FF2B5EF4-FFF2-40B4-BE49-F238E27FC236}">
                <a16:creationId xmlns:a16="http://schemas.microsoft.com/office/drawing/2014/main" id="{8BD3F187-5E13-2ED2-6A3E-C4AEC1625ABC}"/>
              </a:ext>
            </a:extLst>
          </p:cNvPr>
          <p:cNvSpPr txBox="1"/>
          <p:nvPr/>
        </p:nvSpPr>
        <p:spPr>
          <a:xfrm>
            <a:off x="883045" y="3617911"/>
            <a:ext cx="3677082" cy="2062103"/>
          </a:xfrm>
          <a:prstGeom prst="rect">
            <a:avLst/>
          </a:prstGeom>
          <a:noFill/>
        </p:spPr>
        <p:txBody>
          <a:bodyPr wrap="square">
            <a:spAutoFit/>
          </a:bodyPr>
          <a:lstStyle/>
          <a:p>
            <a:pPr marL="285750" indent="-285750">
              <a:buFont typeface="Wingdings" panose="05000000000000000000" pitchFamily="2" charset="2"/>
              <a:buChar char="§"/>
            </a:pPr>
            <a:r>
              <a:rPr lang="en-US" sz="1600" dirty="0"/>
              <a:t>Model Version 1 achieved a test AUC of 0.77, showing strong discriminatory power.</a:t>
            </a:r>
          </a:p>
          <a:p>
            <a:endParaRPr lang="en-US" sz="1600" dirty="0"/>
          </a:p>
          <a:p>
            <a:pPr marL="285750" indent="-285750">
              <a:buFont typeface="Wingdings" panose="05000000000000000000" pitchFamily="2" charset="2"/>
              <a:buChar char="§"/>
            </a:pPr>
            <a:r>
              <a:rPr lang="en-US" sz="1600" dirty="0"/>
              <a:t>At the optimal threshold of 0.147, the confusion matrix showed strong balance between true positive and true negative rates.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1097279" y="1407653"/>
            <a:ext cx="10058401" cy="435350"/>
          </a:xfrm>
        </p:spPr>
        <p:txBody>
          <a:bodyPr>
            <a:normAutofit/>
          </a:bodyPr>
          <a:lstStyle/>
          <a:p>
            <a:r>
              <a:rPr lang="en-US" b="1" dirty="0">
                <a:solidFill>
                  <a:schemeClr val="bg2">
                    <a:lumMod val="50000"/>
                  </a:schemeClr>
                </a:solidFill>
              </a:rPr>
              <a:t>Model 2 Performance - Categorical Variables</a:t>
            </a:r>
          </a:p>
        </p:txBody>
      </p:sp>
      <p:pic>
        <p:nvPicPr>
          <p:cNvPr id="7" name="Picture 6">
            <a:extLst>
              <a:ext uri="{FF2B5EF4-FFF2-40B4-BE49-F238E27FC236}">
                <a16:creationId xmlns:a16="http://schemas.microsoft.com/office/drawing/2014/main" id="{3FA06C18-5E8F-688E-232B-2C428D85EDC3}"/>
              </a:ext>
            </a:extLst>
          </p:cNvPr>
          <p:cNvPicPr>
            <a:picLocks noChangeAspect="1"/>
          </p:cNvPicPr>
          <p:nvPr/>
        </p:nvPicPr>
        <p:blipFill>
          <a:blip r:embed="rId3"/>
          <a:stretch>
            <a:fillRect/>
          </a:stretch>
        </p:blipFill>
        <p:spPr>
          <a:xfrm>
            <a:off x="4387638" y="2965934"/>
            <a:ext cx="4351521" cy="2948658"/>
          </a:xfrm>
          <a:prstGeom prst="rect">
            <a:avLst/>
          </a:prstGeom>
        </p:spPr>
      </p:pic>
      <p:sp>
        <p:nvSpPr>
          <p:cNvPr id="8" name="TextBox 7">
            <a:extLst>
              <a:ext uri="{FF2B5EF4-FFF2-40B4-BE49-F238E27FC236}">
                <a16:creationId xmlns:a16="http://schemas.microsoft.com/office/drawing/2014/main" id="{D57F002C-A863-76A6-3C9F-45825F5366CE}"/>
              </a:ext>
            </a:extLst>
          </p:cNvPr>
          <p:cNvSpPr txBox="1"/>
          <p:nvPr/>
        </p:nvSpPr>
        <p:spPr>
          <a:xfrm>
            <a:off x="813069" y="1995578"/>
            <a:ext cx="8085126" cy="1292662"/>
          </a:xfrm>
          <a:prstGeom prst="rect">
            <a:avLst/>
          </a:prstGeom>
          <a:noFill/>
        </p:spPr>
        <p:txBody>
          <a:bodyPr wrap="square" rtlCol="0">
            <a:spAutoFit/>
          </a:bodyPr>
          <a:lstStyle/>
          <a:p>
            <a:pPr marL="285750" indent="-285750">
              <a:buFont typeface="Wingdings" panose="05000000000000000000" pitchFamily="2" charset="2"/>
              <a:buChar char="§"/>
            </a:pPr>
            <a:r>
              <a:rPr lang="en-US" sz="1600" dirty="0"/>
              <a:t>Used recoded categorical versions of the same variables for comparison.</a:t>
            </a:r>
          </a:p>
          <a:p>
            <a:endParaRPr lang="en-US" sz="1600" dirty="0"/>
          </a:p>
          <a:p>
            <a:pPr marL="285750" indent="-285750">
              <a:buFont typeface="Wingdings" panose="05000000000000000000" pitchFamily="2" charset="2"/>
              <a:buChar char="§"/>
            </a:pPr>
            <a:r>
              <a:rPr lang="en-US" sz="1600" dirty="0"/>
              <a:t>The ROC curve of model 2 test data showed moderate class separation.</a:t>
            </a:r>
          </a:p>
          <a:p>
            <a:endParaRPr lang="en-US" sz="1500" dirty="0"/>
          </a:p>
          <a:p>
            <a:endParaRPr lang="en-US" sz="1500" dirty="0"/>
          </a:p>
        </p:txBody>
      </p:sp>
      <p:sp>
        <p:nvSpPr>
          <p:cNvPr id="4" name="TextBox 3">
            <a:extLst>
              <a:ext uri="{FF2B5EF4-FFF2-40B4-BE49-F238E27FC236}">
                <a16:creationId xmlns:a16="http://schemas.microsoft.com/office/drawing/2014/main" id="{AB60D716-DF61-4044-20EF-5E5B0E206807}"/>
              </a:ext>
            </a:extLst>
          </p:cNvPr>
          <p:cNvSpPr txBox="1"/>
          <p:nvPr/>
        </p:nvSpPr>
        <p:spPr>
          <a:xfrm>
            <a:off x="813069" y="2965934"/>
            <a:ext cx="3574569" cy="1815882"/>
          </a:xfrm>
          <a:prstGeom prst="rect">
            <a:avLst/>
          </a:prstGeom>
          <a:noFill/>
        </p:spPr>
        <p:txBody>
          <a:bodyPr wrap="square">
            <a:spAutoFit/>
          </a:bodyPr>
          <a:lstStyle/>
          <a:p>
            <a:pPr marL="285750" indent="-285750">
              <a:buFont typeface="Wingdings" panose="05000000000000000000" pitchFamily="2" charset="2"/>
              <a:buChar char="§"/>
            </a:pPr>
            <a:r>
              <a:rPr lang="en-US" sz="1600" dirty="0"/>
              <a:t>Model Version 2 recorded a test AUC of 0.7281, indicating slightly lower performance compared to model 1.</a:t>
            </a:r>
          </a:p>
          <a:p>
            <a:endParaRPr lang="en-US" sz="1600" dirty="0"/>
          </a:p>
          <a:p>
            <a:pPr marL="285750" indent="-285750">
              <a:buFont typeface="Wingdings" panose="05000000000000000000" pitchFamily="2" charset="2"/>
              <a:buChar char="§"/>
            </a:pPr>
            <a:r>
              <a:rPr lang="en-US" sz="1600" dirty="0"/>
              <a:t>Using the optimal threshold of 0.139, the test confusion matrix showed reasonable classification balance.</a:t>
            </a:r>
          </a:p>
        </p:txBody>
      </p:sp>
      <p:pic>
        <p:nvPicPr>
          <p:cNvPr id="11" name="Picture 10">
            <a:extLst>
              <a:ext uri="{FF2B5EF4-FFF2-40B4-BE49-F238E27FC236}">
                <a16:creationId xmlns:a16="http://schemas.microsoft.com/office/drawing/2014/main" id="{6DC605FB-0A34-C74B-FC0B-370260919422}"/>
              </a:ext>
            </a:extLst>
          </p:cNvPr>
          <p:cNvPicPr>
            <a:picLocks noChangeAspect="1"/>
          </p:cNvPicPr>
          <p:nvPr/>
        </p:nvPicPr>
        <p:blipFill>
          <a:blip r:embed="rId4"/>
          <a:stretch>
            <a:fillRect/>
          </a:stretch>
        </p:blipFill>
        <p:spPr>
          <a:xfrm>
            <a:off x="8950478" y="2149467"/>
            <a:ext cx="2572253" cy="3883112"/>
          </a:xfrm>
          <a:prstGeom prst="rect">
            <a:avLst/>
          </a:prstGeom>
          <a:ln>
            <a:solidFill>
              <a:schemeClr val="tx1"/>
            </a:solidFill>
          </a:ln>
        </p:spPr>
      </p:pic>
      <p:sp>
        <p:nvSpPr>
          <p:cNvPr id="12" name="TextBox 11">
            <a:extLst>
              <a:ext uri="{FF2B5EF4-FFF2-40B4-BE49-F238E27FC236}">
                <a16:creationId xmlns:a16="http://schemas.microsoft.com/office/drawing/2014/main" id="{09960032-0388-9E6E-B052-8224473543AE}"/>
              </a:ext>
            </a:extLst>
          </p:cNvPr>
          <p:cNvSpPr txBox="1"/>
          <p:nvPr/>
        </p:nvSpPr>
        <p:spPr>
          <a:xfrm>
            <a:off x="9421393" y="1841690"/>
            <a:ext cx="1576428" cy="307777"/>
          </a:xfrm>
          <a:prstGeom prst="rect">
            <a:avLst/>
          </a:prstGeom>
          <a:noFill/>
        </p:spPr>
        <p:txBody>
          <a:bodyPr wrap="square" rtlCol="0">
            <a:spAutoFit/>
          </a:bodyPr>
          <a:lstStyle/>
          <a:p>
            <a:r>
              <a:rPr lang="en-US" sz="1400" b="1" dirty="0"/>
              <a:t>Confusion matrix </a:t>
            </a:r>
          </a:p>
        </p:txBody>
      </p:sp>
    </p:spTree>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E5958DBC-F4DA-42A8-8C52-860179790E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8859F2AB-1BD6-76D8-BCCE-4C2D88D091D5}"/>
              </a:ext>
            </a:extLst>
          </p:cNvPr>
          <p:cNvSpPr txBox="1">
            <a:spLocks/>
          </p:cNvSpPr>
          <p:nvPr/>
        </p:nvSpPr>
        <p:spPr>
          <a:xfrm>
            <a:off x="5144679" y="1297860"/>
            <a:ext cx="6405063" cy="787843"/>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spcAft>
                <a:spcPts val="600"/>
              </a:spcAft>
            </a:pPr>
            <a:r>
              <a:rPr lang="en-US" sz="3600" b="1" dirty="0">
                <a:solidFill>
                  <a:schemeClr val="bg2">
                    <a:lumMod val="50000"/>
                  </a:schemeClr>
                </a:solidFill>
              </a:rPr>
              <a:t>Comparison with EDA Findings</a:t>
            </a:r>
          </a:p>
        </p:txBody>
      </p:sp>
      <p:pic>
        <p:nvPicPr>
          <p:cNvPr id="8" name="Picture 7">
            <a:extLst>
              <a:ext uri="{FF2B5EF4-FFF2-40B4-BE49-F238E27FC236}">
                <a16:creationId xmlns:a16="http://schemas.microsoft.com/office/drawing/2014/main" id="{2DD9AA59-CF1D-24FF-776C-81DF176A2F76}"/>
              </a:ext>
            </a:extLst>
          </p:cNvPr>
          <p:cNvPicPr>
            <a:picLocks noChangeAspect="1"/>
          </p:cNvPicPr>
          <p:nvPr/>
        </p:nvPicPr>
        <p:blipFill>
          <a:blip r:embed="rId2"/>
          <a:stretch>
            <a:fillRect/>
          </a:stretch>
        </p:blipFill>
        <p:spPr>
          <a:xfrm>
            <a:off x="1250920" y="5087713"/>
            <a:ext cx="2868094" cy="1034023"/>
          </a:xfrm>
          <a:prstGeom prst="rect">
            <a:avLst/>
          </a:prstGeom>
          <a:ln>
            <a:solidFill>
              <a:schemeClr val="accent1"/>
            </a:solidFill>
          </a:ln>
          <a:effectLst>
            <a:glow rad="63500">
              <a:schemeClr val="accent2">
                <a:satMod val="175000"/>
                <a:alpha val="40000"/>
              </a:schemeClr>
            </a:glow>
          </a:effectLst>
        </p:spPr>
      </p:pic>
      <p:cxnSp>
        <p:nvCxnSpPr>
          <p:cNvPr id="22" name="Straight Connector 21">
            <a:extLst>
              <a:ext uri="{FF2B5EF4-FFF2-40B4-BE49-F238E27FC236}">
                <a16:creationId xmlns:a16="http://schemas.microsoft.com/office/drawing/2014/main" id="{79FCC9A9-2031-4283-9B27-34B62BB7F30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181247" y="2086188"/>
            <a:ext cx="5852160"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EDC9865F-2C7A-D4F9-D05E-3CA59F182BE4}"/>
              </a:ext>
            </a:extLst>
          </p:cNvPr>
          <p:cNvPicPr>
            <a:picLocks noChangeAspect="1"/>
          </p:cNvPicPr>
          <p:nvPr/>
        </p:nvPicPr>
        <p:blipFill>
          <a:blip r:embed="rId3"/>
          <a:stretch>
            <a:fillRect/>
          </a:stretch>
        </p:blipFill>
        <p:spPr>
          <a:xfrm>
            <a:off x="1250919" y="689366"/>
            <a:ext cx="2868095" cy="4225993"/>
          </a:xfrm>
          <a:prstGeom prst="rect">
            <a:avLst/>
          </a:prstGeom>
          <a:ln>
            <a:solidFill>
              <a:schemeClr val="accent1"/>
            </a:solidFill>
          </a:ln>
          <a:effectLst>
            <a:glow rad="63500">
              <a:schemeClr val="accent2">
                <a:satMod val="175000"/>
                <a:alpha val="40000"/>
              </a:schemeClr>
            </a:glow>
          </a:effectLst>
        </p:spPr>
      </p:pic>
      <p:sp>
        <p:nvSpPr>
          <p:cNvPr id="6" name="Content Placeholder 3">
            <a:extLst>
              <a:ext uri="{FF2B5EF4-FFF2-40B4-BE49-F238E27FC236}">
                <a16:creationId xmlns:a16="http://schemas.microsoft.com/office/drawing/2014/main" id="{C3EF215A-BE94-26AD-EF33-6C0165C1884B}"/>
              </a:ext>
            </a:extLst>
          </p:cNvPr>
          <p:cNvSpPr>
            <a:spLocks noGrp="1"/>
          </p:cNvSpPr>
          <p:nvPr>
            <p:ph idx="1"/>
          </p:nvPr>
        </p:nvSpPr>
        <p:spPr>
          <a:xfrm>
            <a:off x="5144679" y="2248760"/>
            <a:ext cx="6566826" cy="1245295"/>
          </a:xfrm>
        </p:spPr>
        <p:txBody>
          <a:bodyPr vert="horz" lIns="0" tIns="45720" rIns="0" bIns="45720" rtlCol="0">
            <a:normAutofit/>
          </a:bodyPr>
          <a:lstStyle/>
          <a:p>
            <a:pPr>
              <a:buFont typeface="Wingdings" panose="05000000000000000000" pitchFamily="2" charset="2"/>
              <a:buChar char="§"/>
            </a:pPr>
            <a:r>
              <a:rPr lang="en-US" sz="1800" dirty="0">
                <a:solidFill>
                  <a:schemeClr val="tx1"/>
                </a:solidFill>
              </a:rPr>
              <a:t>  </a:t>
            </a:r>
            <a:r>
              <a:rPr lang="en-US" sz="1600" dirty="0">
                <a:solidFill>
                  <a:schemeClr val="tx1"/>
                </a:solidFill>
              </a:rPr>
              <a:t>High bad rate zones and high debt ratios observed in EDA were confirmed as significant predictors in modeling.</a:t>
            </a:r>
          </a:p>
          <a:p>
            <a:pPr>
              <a:buFont typeface="Wingdings" panose="05000000000000000000" pitchFamily="2" charset="2"/>
              <a:buChar char="§"/>
            </a:pPr>
            <a:r>
              <a:rPr lang="en-US" sz="1600" dirty="0">
                <a:solidFill>
                  <a:schemeClr val="tx1"/>
                </a:solidFill>
              </a:rPr>
              <a:t>  Variables like age, gender and house ownership had minor differences in EDA but were not statistically significant in the model.</a:t>
            </a:r>
          </a:p>
        </p:txBody>
      </p:sp>
      <p:sp>
        <p:nvSpPr>
          <p:cNvPr id="24" name="Rectangle 23">
            <a:extLst>
              <a:ext uri="{FF2B5EF4-FFF2-40B4-BE49-F238E27FC236}">
                <a16:creationId xmlns:a16="http://schemas.microsoft.com/office/drawing/2014/main" id="{51DDD252-D7C8-4CE5-9C61-D60D722BC2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6" name="Rectangle 25">
            <a:extLst>
              <a:ext uri="{FF2B5EF4-FFF2-40B4-BE49-F238E27FC236}">
                <a16:creationId xmlns:a16="http://schemas.microsoft.com/office/drawing/2014/main" id="{2FBD75F5-C49C-4F6A-8D43-7A5939C233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Title 1">
            <a:extLst>
              <a:ext uri="{FF2B5EF4-FFF2-40B4-BE49-F238E27FC236}">
                <a16:creationId xmlns:a16="http://schemas.microsoft.com/office/drawing/2014/main" id="{C8623473-5CB6-2FF8-416C-3AD63428836A}"/>
              </a:ext>
            </a:extLst>
          </p:cNvPr>
          <p:cNvSpPr txBox="1">
            <a:spLocks/>
          </p:cNvSpPr>
          <p:nvPr/>
        </p:nvSpPr>
        <p:spPr>
          <a:xfrm>
            <a:off x="5063236" y="3773405"/>
            <a:ext cx="6980902" cy="511769"/>
          </a:xfrm>
          <a:prstGeom prst="rect">
            <a:avLst/>
          </a:prstGeom>
        </p:spPr>
        <p:txBody>
          <a:bodyPr vert="horz" lIns="91440" tIns="45720" rIns="91440" bIns="45720" rtlCol="0" anchor="b">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3200" b="1" dirty="0">
                <a:solidFill>
                  <a:schemeClr val="bg2">
                    <a:lumMod val="50000"/>
                  </a:schemeClr>
                </a:solidFill>
                <a:latin typeface="Calibri Light"/>
              </a:rPr>
              <a:t>Insights from Logistic Regression Modeling</a:t>
            </a:r>
          </a:p>
        </p:txBody>
      </p:sp>
      <p:cxnSp>
        <p:nvCxnSpPr>
          <p:cNvPr id="10" name="Straight Connector 9">
            <a:extLst>
              <a:ext uri="{FF2B5EF4-FFF2-40B4-BE49-F238E27FC236}">
                <a16:creationId xmlns:a16="http://schemas.microsoft.com/office/drawing/2014/main" id="{40863AA7-E7DF-2F70-C43B-C3CD6C7C1468}"/>
              </a:ext>
            </a:extLst>
          </p:cNvPr>
          <p:cNvCxnSpPr/>
          <p:nvPr/>
        </p:nvCxnSpPr>
        <p:spPr>
          <a:xfrm>
            <a:off x="5103957" y="4277143"/>
            <a:ext cx="6648269"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Content Placeholder 3">
            <a:extLst>
              <a:ext uri="{FF2B5EF4-FFF2-40B4-BE49-F238E27FC236}">
                <a16:creationId xmlns:a16="http://schemas.microsoft.com/office/drawing/2014/main" id="{1E9CA156-00A9-CF6A-CA90-4035D48629DC}"/>
              </a:ext>
            </a:extLst>
          </p:cNvPr>
          <p:cNvSpPr txBox="1">
            <a:spLocks/>
          </p:cNvSpPr>
          <p:nvPr/>
        </p:nvSpPr>
        <p:spPr>
          <a:xfrm>
            <a:off x="5144679" y="4493952"/>
            <a:ext cx="6648269" cy="1739699"/>
          </a:xfrm>
          <a:prstGeom prst="rect">
            <a:avLst/>
          </a:prstGeom>
        </p:spPr>
        <p:txBody>
          <a:bodyPr vert="horz" lIns="0" tIns="45720" rIns="0" bIns="45720" rtlCol="0">
            <a:normAutofit fontScale="925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
            </a:pPr>
            <a:r>
              <a:rPr lang="en-US" sz="1800" dirty="0">
                <a:solidFill>
                  <a:schemeClr val="tx1"/>
                </a:solidFill>
              </a:rPr>
              <a:t>  </a:t>
            </a:r>
            <a:r>
              <a:rPr lang="en-US" sz="1700" dirty="0">
                <a:solidFill>
                  <a:schemeClr val="tx1"/>
                </a:solidFill>
              </a:rPr>
              <a:t>Two logistic regression models were built and evaluated using test data, with Model 1 (numeric predictors) outperforming Model 2 (categorical predictors) in terms of AUC and classification accuracy.</a:t>
            </a:r>
          </a:p>
          <a:p>
            <a:pPr algn="just">
              <a:buFont typeface="Wingdings" panose="05000000000000000000" pitchFamily="2" charset="2"/>
              <a:buChar char="§"/>
            </a:pPr>
            <a:r>
              <a:rPr lang="en-US" sz="1700" dirty="0">
                <a:solidFill>
                  <a:schemeClr val="tx1"/>
                </a:solidFill>
              </a:rPr>
              <a:t>   ROC curves and confusion matrices confirmed that Model version 1 provides better separation and balance at the optimal threshold, indicating its potential as a baseline for comparison with machine learning models.</a:t>
            </a:r>
          </a:p>
          <a:p>
            <a:pPr>
              <a:buFont typeface="Wingdings" panose="05000000000000000000" pitchFamily="2" charset="2"/>
              <a:buChar char="Ø"/>
            </a:pPr>
            <a:endParaRPr lang="en-US" sz="1600" dirty="0"/>
          </a:p>
          <a:p>
            <a:pPr>
              <a:buFont typeface="Wingdings" panose="05000000000000000000" pitchFamily="2" charset="2"/>
              <a:buChar char="Ø"/>
            </a:pPr>
            <a:endParaRPr lang="en-US" dirty="0"/>
          </a:p>
        </p:txBody>
      </p:sp>
      <p:sp>
        <p:nvSpPr>
          <p:cNvPr id="14" name="TextBox 13">
            <a:extLst>
              <a:ext uri="{FF2B5EF4-FFF2-40B4-BE49-F238E27FC236}">
                <a16:creationId xmlns:a16="http://schemas.microsoft.com/office/drawing/2014/main" id="{6CADCFD0-4C4D-6B45-E5FE-E26D7CC24939}"/>
              </a:ext>
            </a:extLst>
          </p:cNvPr>
          <p:cNvSpPr txBox="1"/>
          <p:nvPr/>
        </p:nvSpPr>
        <p:spPr>
          <a:xfrm>
            <a:off x="2039051" y="378512"/>
            <a:ext cx="1291830" cy="276999"/>
          </a:xfrm>
          <a:prstGeom prst="rect">
            <a:avLst/>
          </a:prstGeom>
          <a:noFill/>
        </p:spPr>
        <p:txBody>
          <a:bodyPr wrap="square" rtlCol="0">
            <a:spAutoFit/>
          </a:bodyPr>
          <a:lstStyle/>
          <a:p>
            <a:r>
              <a:rPr lang="en-US" sz="1200" b="1" dirty="0"/>
              <a:t>Model Summary</a:t>
            </a:r>
          </a:p>
        </p:txBody>
      </p:sp>
    </p:spTree>
    <p:extLst>
      <p:ext uri="{BB962C8B-B14F-4D97-AF65-F5344CB8AC3E}">
        <p14:creationId xmlns:p14="http://schemas.microsoft.com/office/powerpoint/2010/main" val="593943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b="1" dirty="0">
                <a:solidFill>
                  <a:srgbClr val="002060"/>
                </a:solidFill>
                <a:latin typeface="Calibri Light"/>
              </a:rPr>
              <a:t>Phase 4 </a:t>
            </a:r>
            <a:r>
              <a:rPr lang="en-US" sz="4000" b="1" dirty="0">
                <a:solidFill>
                  <a:srgbClr val="002060"/>
                </a:solidFill>
                <a:latin typeface="Calibri Light"/>
              </a:rPr>
              <a:t>-</a:t>
            </a:r>
            <a:r>
              <a:rPr sz="4000" b="1" dirty="0">
                <a:solidFill>
                  <a:srgbClr val="002060"/>
                </a:solidFill>
                <a:latin typeface="Calibri Light"/>
              </a:rPr>
              <a:t> Machine Learning Models</a:t>
            </a:r>
          </a:p>
        </p:txBody>
      </p:sp>
      <p:sp>
        <p:nvSpPr>
          <p:cNvPr id="3" name="Content Placeholder 2"/>
          <p:cNvSpPr>
            <a:spLocks noGrp="1"/>
          </p:cNvSpPr>
          <p:nvPr>
            <p:ph idx="1"/>
          </p:nvPr>
        </p:nvSpPr>
        <p:spPr>
          <a:xfrm>
            <a:off x="1097280" y="2150535"/>
            <a:ext cx="8754643" cy="3335866"/>
          </a:xfrm>
        </p:spPr>
        <p:txBody>
          <a:bodyPr>
            <a:normAutofit/>
          </a:bodyPr>
          <a:lstStyle/>
          <a:p>
            <a:pPr>
              <a:buFont typeface="Wingdings" panose="05000000000000000000" pitchFamily="2" charset="2"/>
              <a:buChar char="§"/>
            </a:pPr>
            <a:r>
              <a:rPr lang="en-US" sz="1600" dirty="0"/>
              <a:t>  </a:t>
            </a:r>
            <a:r>
              <a:rPr lang="en-US" sz="1800" dirty="0">
                <a:solidFill>
                  <a:schemeClr val="tx1"/>
                </a:solidFill>
              </a:rPr>
              <a:t>Built four machine learning models to improve prediction accuracy of loan defaults.</a:t>
            </a:r>
          </a:p>
          <a:p>
            <a:pPr>
              <a:buFont typeface="Wingdings" panose="05000000000000000000" pitchFamily="2" charset="2"/>
              <a:buChar char="§"/>
            </a:pPr>
            <a:r>
              <a:rPr lang="en-US" sz="1800" dirty="0">
                <a:solidFill>
                  <a:schemeClr val="tx1"/>
                </a:solidFill>
              </a:rPr>
              <a:t>  </a:t>
            </a:r>
            <a:r>
              <a:rPr sz="1800" dirty="0">
                <a:solidFill>
                  <a:schemeClr val="tx1"/>
                </a:solidFill>
              </a:rPr>
              <a:t>Models Applied:</a:t>
            </a:r>
          </a:p>
          <a:p>
            <a:r>
              <a:rPr sz="1800" dirty="0">
                <a:solidFill>
                  <a:schemeClr val="tx1"/>
                </a:solidFill>
              </a:rPr>
              <a:t>  - Na</a:t>
            </a:r>
            <a:r>
              <a:rPr lang="en-US" sz="1800" dirty="0">
                <a:solidFill>
                  <a:schemeClr val="tx1"/>
                </a:solidFill>
              </a:rPr>
              <a:t>i</a:t>
            </a:r>
            <a:r>
              <a:rPr sz="1800" dirty="0">
                <a:solidFill>
                  <a:schemeClr val="tx1"/>
                </a:solidFill>
              </a:rPr>
              <a:t>ve Bayes</a:t>
            </a:r>
            <a:endParaRPr lang="en-US" sz="1800" dirty="0">
              <a:solidFill>
                <a:schemeClr val="tx1"/>
              </a:solidFill>
            </a:endParaRPr>
          </a:p>
          <a:p>
            <a:r>
              <a:rPr lang="en-US" sz="1800" dirty="0">
                <a:solidFill>
                  <a:schemeClr val="tx1"/>
                </a:solidFill>
              </a:rPr>
              <a:t>  - Support Vector Machine (SVM)</a:t>
            </a:r>
            <a:endParaRPr sz="1800" dirty="0">
              <a:solidFill>
                <a:schemeClr val="tx1"/>
              </a:solidFill>
            </a:endParaRPr>
          </a:p>
          <a:p>
            <a:r>
              <a:rPr sz="1800" dirty="0">
                <a:solidFill>
                  <a:schemeClr val="tx1"/>
                </a:solidFill>
              </a:rPr>
              <a:t>  - Decision Tree</a:t>
            </a:r>
          </a:p>
          <a:p>
            <a:r>
              <a:rPr sz="1800" dirty="0">
                <a:solidFill>
                  <a:schemeClr val="tx1"/>
                </a:solidFill>
              </a:rPr>
              <a:t>  - Random Forest</a:t>
            </a:r>
            <a:endParaRPr lang="en-US" sz="1800" dirty="0">
              <a:solidFill>
                <a:schemeClr val="tx1"/>
              </a:solidFill>
            </a:endParaRPr>
          </a:p>
          <a:p>
            <a:pPr>
              <a:buFont typeface="Wingdings" panose="05000000000000000000" pitchFamily="2" charset="2"/>
              <a:buChar char="§"/>
            </a:pPr>
            <a:r>
              <a:rPr lang="en-US" sz="1800" dirty="0">
                <a:solidFill>
                  <a:schemeClr val="tx1"/>
                </a:solidFill>
              </a:rPr>
              <a:t>  Goal: Compare ML models with logistic regression from Phase 3.</a:t>
            </a:r>
            <a:endParaRPr sz="1800" dirty="0">
              <a:solidFill>
                <a:schemeClr val="tx1"/>
              </a:solidFill>
            </a:endParaRPr>
          </a:p>
          <a:p>
            <a:pPr>
              <a:buFont typeface="Wingdings" panose="05000000000000000000" pitchFamily="2" charset="2"/>
              <a:buChar char="§"/>
            </a:pPr>
            <a:r>
              <a:rPr lang="en-US" sz="1800" dirty="0">
                <a:solidFill>
                  <a:schemeClr val="tx1"/>
                </a:solidFill>
              </a:rPr>
              <a:t>  Evaluated using ROC curve, AUC values and Confusion Matrices on train and test data.</a:t>
            </a:r>
            <a:endParaRPr sz="1800" dirty="0">
              <a:solidFill>
                <a:schemeClr val="tx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52ABB703-2B0E-4C3B-B4A2-F3973548E5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411685" y="634946"/>
            <a:ext cx="5780315" cy="1450757"/>
          </a:xfrm>
        </p:spPr>
        <p:txBody>
          <a:bodyPr>
            <a:normAutofit/>
          </a:bodyPr>
          <a:lstStyle/>
          <a:p>
            <a:r>
              <a:rPr lang="en-US" b="1" dirty="0">
                <a:solidFill>
                  <a:schemeClr val="bg2">
                    <a:lumMod val="50000"/>
                  </a:schemeClr>
                </a:solidFill>
                <a:latin typeface="Calibri Light"/>
              </a:rPr>
              <a:t>1. Naive Bayes</a:t>
            </a:r>
          </a:p>
        </p:txBody>
      </p:sp>
      <p:pic>
        <p:nvPicPr>
          <p:cNvPr id="6" name="Picture 5">
            <a:extLst>
              <a:ext uri="{FF2B5EF4-FFF2-40B4-BE49-F238E27FC236}">
                <a16:creationId xmlns:a16="http://schemas.microsoft.com/office/drawing/2014/main" id="{7BD55455-1648-DFAB-061E-5BEEA327DD81}"/>
              </a:ext>
            </a:extLst>
          </p:cNvPr>
          <p:cNvPicPr>
            <a:picLocks noChangeAspect="1"/>
          </p:cNvPicPr>
          <p:nvPr/>
        </p:nvPicPr>
        <p:blipFill>
          <a:blip r:embed="rId2"/>
          <a:stretch>
            <a:fillRect/>
          </a:stretch>
        </p:blipFill>
        <p:spPr>
          <a:xfrm>
            <a:off x="643192" y="1374539"/>
            <a:ext cx="5451627" cy="3788881"/>
          </a:xfrm>
          <a:prstGeom prst="rect">
            <a:avLst/>
          </a:prstGeom>
        </p:spPr>
      </p:pic>
      <p:cxnSp>
        <p:nvCxnSpPr>
          <p:cNvPr id="13" name="Straight Connector 12">
            <a:extLst>
              <a:ext uri="{FF2B5EF4-FFF2-40B4-BE49-F238E27FC236}">
                <a16:creationId xmlns:a16="http://schemas.microsoft.com/office/drawing/2014/main" id="{9C21570E-E159-49A6-9891-FA397B7A92D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11684" y="2086188"/>
            <a:ext cx="4748808"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6579824" y="2439435"/>
            <a:ext cx="5127172" cy="2753358"/>
          </a:xfrm>
        </p:spPr>
        <p:txBody>
          <a:bodyPr>
            <a:normAutofit/>
          </a:bodyPr>
          <a:lstStyle/>
          <a:p>
            <a:pPr>
              <a:buFont typeface="Wingdings" panose="05000000000000000000" pitchFamily="2" charset="2"/>
              <a:buChar char="§"/>
            </a:pPr>
            <a:r>
              <a:rPr lang="en-US" sz="1800" dirty="0"/>
              <a:t>  </a:t>
            </a:r>
            <a:r>
              <a:rPr lang="en-US" sz="1800" dirty="0">
                <a:solidFill>
                  <a:schemeClr val="tx1"/>
                </a:solidFill>
              </a:rPr>
              <a:t>A simple model that uses probabilities assuming features are unrelated.</a:t>
            </a:r>
          </a:p>
          <a:p>
            <a:pPr>
              <a:buFont typeface="Wingdings" panose="05000000000000000000" pitchFamily="2" charset="2"/>
              <a:buChar char="§"/>
            </a:pPr>
            <a:r>
              <a:rPr lang="en-US" sz="1800" b="1" dirty="0">
                <a:solidFill>
                  <a:schemeClr val="tx1"/>
                </a:solidFill>
              </a:rPr>
              <a:t>  Test AUC:</a:t>
            </a:r>
            <a:r>
              <a:rPr lang="en-US" sz="1800" dirty="0">
                <a:solidFill>
                  <a:schemeClr val="tx1"/>
                </a:solidFill>
              </a:rPr>
              <a:t> </a:t>
            </a:r>
            <a:r>
              <a:rPr lang="en-US" sz="1800" b="1" i="1" dirty="0">
                <a:solidFill>
                  <a:schemeClr val="tx1"/>
                </a:solidFill>
              </a:rPr>
              <a:t>0.7665</a:t>
            </a:r>
          </a:p>
          <a:p>
            <a:pPr>
              <a:buFont typeface="Wingdings" panose="05000000000000000000" pitchFamily="2" charset="2"/>
              <a:buChar char="§"/>
            </a:pPr>
            <a:r>
              <a:rPr lang="en-US" sz="1800" b="1" dirty="0">
                <a:solidFill>
                  <a:schemeClr val="tx1"/>
                </a:solidFill>
              </a:rPr>
              <a:t>  </a:t>
            </a:r>
            <a:r>
              <a:rPr lang="en-US" sz="1800" dirty="0">
                <a:solidFill>
                  <a:schemeClr val="tx1"/>
                </a:solidFill>
              </a:rPr>
              <a:t>Accuracy: </a:t>
            </a:r>
            <a:r>
              <a:rPr lang="en-US" sz="1800" i="1" dirty="0">
                <a:solidFill>
                  <a:schemeClr val="tx1"/>
                </a:solidFill>
              </a:rPr>
              <a:t>0.8596</a:t>
            </a:r>
          </a:p>
          <a:p>
            <a:pPr>
              <a:buFont typeface="Wingdings" panose="05000000000000000000" pitchFamily="2" charset="2"/>
              <a:buChar char="§"/>
            </a:pPr>
            <a:r>
              <a:rPr lang="en-US" sz="1800" dirty="0">
                <a:solidFill>
                  <a:schemeClr val="tx1"/>
                </a:solidFill>
              </a:rPr>
              <a:t>  H</a:t>
            </a:r>
            <a:r>
              <a:rPr lang="en-US" sz="1800" b="0" i="0" dirty="0">
                <a:solidFill>
                  <a:schemeClr val="tx1"/>
                </a:solidFill>
                <a:effectLst/>
              </a:rPr>
              <a:t>igh specificity 98.02%, but low sensitivity 6.52%</a:t>
            </a:r>
            <a:endParaRPr lang="en-US" sz="1800" dirty="0">
              <a:solidFill>
                <a:schemeClr val="tx1"/>
              </a:solidFill>
            </a:endParaRPr>
          </a:p>
        </p:txBody>
      </p:sp>
      <p:sp>
        <p:nvSpPr>
          <p:cNvPr id="15" name="Rectangle 14">
            <a:extLst>
              <a:ext uri="{FF2B5EF4-FFF2-40B4-BE49-F238E27FC236}">
                <a16:creationId xmlns:a16="http://schemas.microsoft.com/office/drawing/2014/main" id="{E95DA498-D9A2-4DA9-B9DA-B3776E08CF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7" name="Rectangle 16">
            <a:extLst>
              <a:ext uri="{FF2B5EF4-FFF2-40B4-BE49-F238E27FC236}">
                <a16:creationId xmlns:a16="http://schemas.microsoft.com/office/drawing/2014/main" id="{82A73093-4B9D-420D-B17E-52293703A1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BFBAF44-1EC3-216C-D49F-9E6AD3569D7F}"/>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2ABB703-2B0E-4C3B-B4A2-F3973548E5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3715DE-A59E-04B3-16CB-F57D16E96376}"/>
              </a:ext>
            </a:extLst>
          </p:cNvPr>
          <p:cNvSpPr>
            <a:spLocks noGrp="1"/>
          </p:cNvSpPr>
          <p:nvPr>
            <p:ph type="title"/>
          </p:nvPr>
        </p:nvSpPr>
        <p:spPr>
          <a:xfrm>
            <a:off x="6411685" y="634946"/>
            <a:ext cx="5127171" cy="1450757"/>
          </a:xfrm>
        </p:spPr>
        <p:txBody>
          <a:bodyPr>
            <a:normAutofit/>
          </a:bodyPr>
          <a:lstStyle/>
          <a:p>
            <a:r>
              <a:rPr lang="en-US" b="1" dirty="0">
                <a:solidFill>
                  <a:schemeClr val="bg2">
                    <a:lumMod val="50000"/>
                  </a:schemeClr>
                </a:solidFill>
                <a:latin typeface="Calibri Light"/>
              </a:rPr>
              <a:t>2. Support Vector Machine (SVM)</a:t>
            </a:r>
          </a:p>
        </p:txBody>
      </p:sp>
      <p:pic>
        <p:nvPicPr>
          <p:cNvPr id="5" name="Picture 4">
            <a:extLst>
              <a:ext uri="{FF2B5EF4-FFF2-40B4-BE49-F238E27FC236}">
                <a16:creationId xmlns:a16="http://schemas.microsoft.com/office/drawing/2014/main" id="{7CE60FD7-3A9E-CDA7-045F-ABD8CE13B3F8}"/>
              </a:ext>
            </a:extLst>
          </p:cNvPr>
          <p:cNvPicPr>
            <a:picLocks noChangeAspect="1"/>
          </p:cNvPicPr>
          <p:nvPr/>
        </p:nvPicPr>
        <p:blipFill>
          <a:blip r:embed="rId2"/>
          <a:stretch>
            <a:fillRect/>
          </a:stretch>
        </p:blipFill>
        <p:spPr>
          <a:xfrm>
            <a:off x="643192" y="1388168"/>
            <a:ext cx="5451627" cy="3761622"/>
          </a:xfrm>
          <a:prstGeom prst="rect">
            <a:avLst/>
          </a:prstGeom>
        </p:spPr>
      </p:pic>
      <p:cxnSp>
        <p:nvCxnSpPr>
          <p:cNvPr id="12" name="Straight Connector 11">
            <a:extLst>
              <a:ext uri="{FF2B5EF4-FFF2-40B4-BE49-F238E27FC236}">
                <a16:creationId xmlns:a16="http://schemas.microsoft.com/office/drawing/2014/main" id="{9C21570E-E159-49A6-9891-FA397B7A92D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11684" y="2086188"/>
            <a:ext cx="4748808"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1671C9FF-009E-AF1A-BDFB-11B13EF08BDB}"/>
              </a:ext>
            </a:extLst>
          </p:cNvPr>
          <p:cNvSpPr>
            <a:spLocks noGrp="1"/>
          </p:cNvSpPr>
          <p:nvPr>
            <p:ph idx="1"/>
          </p:nvPr>
        </p:nvSpPr>
        <p:spPr>
          <a:xfrm>
            <a:off x="6411684" y="2363022"/>
            <a:ext cx="5127172" cy="2353183"/>
          </a:xfrm>
        </p:spPr>
        <p:txBody>
          <a:bodyPr>
            <a:normAutofit/>
          </a:bodyPr>
          <a:lstStyle/>
          <a:p>
            <a:pPr>
              <a:buFont typeface="Wingdings" panose="05000000000000000000" pitchFamily="2" charset="2"/>
              <a:buChar char="§"/>
            </a:pPr>
            <a:r>
              <a:rPr lang="en-US" dirty="0"/>
              <a:t>  </a:t>
            </a:r>
            <a:r>
              <a:rPr lang="en-US" sz="1800" dirty="0">
                <a:solidFill>
                  <a:schemeClr val="tx1"/>
                </a:solidFill>
              </a:rPr>
              <a:t>A linear SVM model was applied to separate defaulters and non-defaulters.</a:t>
            </a:r>
          </a:p>
          <a:p>
            <a:pPr>
              <a:buFont typeface="Wingdings" panose="05000000000000000000" pitchFamily="2" charset="2"/>
              <a:buChar char="§"/>
            </a:pPr>
            <a:r>
              <a:rPr lang="en-US" sz="1800" b="1" dirty="0">
                <a:solidFill>
                  <a:schemeClr val="tx1"/>
                </a:solidFill>
              </a:rPr>
              <a:t>  Test AUC:</a:t>
            </a:r>
            <a:r>
              <a:rPr lang="en-US" sz="1800" dirty="0">
                <a:solidFill>
                  <a:schemeClr val="tx1"/>
                </a:solidFill>
              </a:rPr>
              <a:t> </a:t>
            </a:r>
            <a:r>
              <a:rPr lang="en-US" sz="1800" b="1" i="1" dirty="0">
                <a:solidFill>
                  <a:schemeClr val="tx1"/>
                </a:solidFill>
              </a:rPr>
              <a:t>0.662</a:t>
            </a:r>
          </a:p>
          <a:p>
            <a:pPr>
              <a:buFont typeface="Wingdings" panose="05000000000000000000" pitchFamily="2" charset="2"/>
              <a:buChar char="§"/>
            </a:pPr>
            <a:r>
              <a:rPr lang="en-US" sz="1800" b="1" dirty="0">
                <a:solidFill>
                  <a:schemeClr val="tx1"/>
                </a:solidFill>
              </a:rPr>
              <a:t>  </a:t>
            </a:r>
            <a:r>
              <a:rPr lang="en-US" sz="1800" dirty="0">
                <a:solidFill>
                  <a:schemeClr val="tx1"/>
                </a:solidFill>
              </a:rPr>
              <a:t>Accuracy: </a:t>
            </a:r>
            <a:r>
              <a:rPr lang="en-US" sz="1800" i="1" dirty="0">
                <a:solidFill>
                  <a:schemeClr val="tx1"/>
                </a:solidFill>
              </a:rPr>
              <a:t>0.8682</a:t>
            </a:r>
          </a:p>
          <a:p>
            <a:pPr>
              <a:buFont typeface="Wingdings" panose="05000000000000000000" pitchFamily="2" charset="2"/>
              <a:buChar char="§"/>
            </a:pPr>
            <a:r>
              <a:rPr lang="en-US" sz="1800" dirty="0">
                <a:solidFill>
                  <a:schemeClr val="tx1"/>
                </a:solidFill>
              </a:rPr>
              <a:t>  Perfect specificity (100%) but no ability to detect actual defaulters (0% sensitivity)</a:t>
            </a:r>
          </a:p>
        </p:txBody>
      </p:sp>
      <p:sp>
        <p:nvSpPr>
          <p:cNvPr id="14" name="Rectangle 13">
            <a:extLst>
              <a:ext uri="{FF2B5EF4-FFF2-40B4-BE49-F238E27FC236}">
                <a16:creationId xmlns:a16="http://schemas.microsoft.com/office/drawing/2014/main" id="{E95DA498-D9A2-4DA9-B9DA-B3776E08CF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6" name="Rectangle 15">
            <a:extLst>
              <a:ext uri="{FF2B5EF4-FFF2-40B4-BE49-F238E27FC236}">
                <a16:creationId xmlns:a16="http://schemas.microsoft.com/office/drawing/2014/main" id="{82A73093-4B9D-420D-B17E-52293703A1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9662624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9" name="Rectangle 78">
            <a:extLst>
              <a:ext uri="{FF2B5EF4-FFF2-40B4-BE49-F238E27FC236}">
                <a16:creationId xmlns:a16="http://schemas.microsoft.com/office/drawing/2014/main" id="{E5958DBC-F4DA-42A8-8C52-860179790E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92579E88-7AB8-7115-17EB-821E996AD031}"/>
              </a:ext>
            </a:extLst>
          </p:cNvPr>
          <p:cNvSpPr>
            <a:spLocks noGrp="1"/>
          </p:cNvSpPr>
          <p:nvPr>
            <p:ph type="title"/>
          </p:nvPr>
        </p:nvSpPr>
        <p:spPr>
          <a:xfrm>
            <a:off x="5144679" y="634946"/>
            <a:ext cx="6405063" cy="1450757"/>
          </a:xfrm>
        </p:spPr>
        <p:txBody>
          <a:bodyPr>
            <a:normAutofit/>
          </a:bodyPr>
          <a:lstStyle/>
          <a:p>
            <a:r>
              <a:rPr lang="en-US" b="1" dirty="0">
                <a:solidFill>
                  <a:schemeClr val="bg2">
                    <a:lumMod val="50000"/>
                  </a:schemeClr>
                </a:solidFill>
                <a:latin typeface="Calibri Light"/>
              </a:rPr>
              <a:t>3. Decision Tree</a:t>
            </a:r>
          </a:p>
        </p:txBody>
      </p:sp>
      <p:pic>
        <p:nvPicPr>
          <p:cNvPr id="7" name="Picture 6">
            <a:extLst>
              <a:ext uri="{FF2B5EF4-FFF2-40B4-BE49-F238E27FC236}">
                <a16:creationId xmlns:a16="http://schemas.microsoft.com/office/drawing/2014/main" id="{6B6197F5-D026-652E-A073-F93634FA5570}"/>
              </a:ext>
            </a:extLst>
          </p:cNvPr>
          <p:cNvPicPr>
            <a:picLocks noChangeAspect="1"/>
          </p:cNvPicPr>
          <p:nvPr/>
        </p:nvPicPr>
        <p:blipFill>
          <a:blip r:embed="rId2"/>
          <a:srcRect t="1455" r="3" b="3"/>
          <a:stretch>
            <a:fillRect/>
          </a:stretch>
        </p:blipFill>
        <p:spPr>
          <a:xfrm>
            <a:off x="416560" y="345443"/>
            <a:ext cx="4571999" cy="3251194"/>
          </a:xfrm>
          <a:prstGeom prst="rect">
            <a:avLst/>
          </a:prstGeom>
        </p:spPr>
      </p:pic>
      <p:cxnSp>
        <p:nvCxnSpPr>
          <p:cNvPr id="81" name="Straight Connector 80">
            <a:extLst>
              <a:ext uri="{FF2B5EF4-FFF2-40B4-BE49-F238E27FC236}">
                <a16:creationId xmlns:a16="http://schemas.microsoft.com/office/drawing/2014/main" id="{79FCC9A9-2031-4283-9B27-34B62BB7F30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181247" y="2086188"/>
            <a:ext cx="5852160"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064237C3-5D18-7331-C624-0B16349DDE70}"/>
              </a:ext>
            </a:extLst>
          </p:cNvPr>
          <p:cNvPicPr>
            <a:picLocks noChangeAspect="1"/>
          </p:cNvPicPr>
          <p:nvPr/>
        </p:nvPicPr>
        <p:blipFill>
          <a:blip r:embed="rId3"/>
          <a:stretch>
            <a:fillRect/>
          </a:stretch>
        </p:blipFill>
        <p:spPr>
          <a:xfrm>
            <a:off x="497881" y="3663121"/>
            <a:ext cx="3690661" cy="2613775"/>
          </a:xfrm>
          <a:prstGeom prst="rect">
            <a:avLst/>
          </a:prstGeom>
        </p:spPr>
      </p:pic>
      <p:sp>
        <p:nvSpPr>
          <p:cNvPr id="5" name="Content Placeholder 2">
            <a:extLst>
              <a:ext uri="{FF2B5EF4-FFF2-40B4-BE49-F238E27FC236}">
                <a16:creationId xmlns:a16="http://schemas.microsoft.com/office/drawing/2014/main" id="{D9A902E0-D2EB-B4E3-41C1-9376A5531744}"/>
              </a:ext>
            </a:extLst>
          </p:cNvPr>
          <p:cNvSpPr>
            <a:spLocks noGrp="1"/>
          </p:cNvSpPr>
          <p:nvPr>
            <p:ph idx="1"/>
          </p:nvPr>
        </p:nvSpPr>
        <p:spPr>
          <a:xfrm>
            <a:off x="5274453" y="2426672"/>
            <a:ext cx="6145514" cy="2339930"/>
          </a:xfrm>
        </p:spPr>
        <p:txBody>
          <a:bodyPr>
            <a:normAutofit/>
          </a:bodyPr>
          <a:lstStyle/>
          <a:p>
            <a:pPr>
              <a:buFont typeface="Wingdings" panose="05000000000000000000" pitchFamily="2" charset="2"/>
              <a:buChar char="§"/>
            </a:pPr>
            <a:r>
              <a:rPr lang="en-US" dirty="0"/>
              <a:t>  </a:t>
            </a:r>
            <a:r>
              <a:rPr lang="en-US" sz="1800" dirty="0">
                <a:solidFill>
                  <a:schemeClr val="tx1"/>
                </a:solidFill>
              </a:rPr>
              <a:t>Easy to interpret with clear decision rules.</a:t>
            </a:r>
          </a:p>
          <a:p>
            <a:pPr>
              <a:buFont typeface="Wingdings" panose="05000000000000000000" pitchFamily="2" charset="2"/>
              <a:buChar char="§"/>
            </a:pPr>
            <a:r>
              <a:rPr lang="en-US" sz="1800" dirty="0">
                <a:solidFill>
                  <a:schemeClr val="tx1"/>
                </a:solidFill>
              </a:rPr>
              <a:t>  Captured important patterns like debt ratio and zones.</a:t>
            </a:r>
          </a:p>
          <a:p>
            <a:pPr>
              <a:buFont typeface="Wingdings" panose="05000000000000000000" pitchFamily="2" charset="2"/>
              <a:buChar char="§"/>
            </a:pPr>
            <a:r>
              <a:rPr lang="en-US" sz="1800" b="1" dirty="0">
                <a:solidFill>
                  <a:schemeClr val="tx1"/>
                </a:solidFill>
              </a:rPr>
              <a:t>  Test AUC:</a:t>
            </a:r>
            <a:r>
              <a:rPr lang="en-US" sz="1800" dirty="0">
                <a:solidFill>
                  <a:schemeClr val="tx1"/>
                </a:solidFill>
              </a:rPr>
              <a:t> </a:t>
            </a:r>
            <a:r>
              <a:rPr lang="en-US" sz="1800" b="1" i="1" dirty="0">
                <a:solidFill>
                  <a:schemeClr val="tx1"/>
                </a:solidFill>
              </a:rPr>
              <a:t>0.7381</a:t>
            </a:r>
          </a:p>
          <a:p>
            <a:pPr>
              <a:buFont typeface="Wingdings" panose="05000000000000000000" pitchFamily="2" charset="2"/>
              <a:buChar char="§"/>
            </a:pPr>
            <a:r>
              <a:rPr lang="en-US" sz="1800" b="1" dirty="0">
                <a:solidFill>
                  <a:schemeClr val="tx1"/>
                </a:solidFill>
              </a:rPr>
              <a:t>  </a:t>
            </a:r>
            <a:r>
              <a:rPr lang="en-US" sz="1800" dirty="0">
                <a:solidFill>
                  <a:schemeClr val="tx1"/>
                </a:solidFill>
              </a:rPr>
              <a:t>Accuracy: </a:t>
            </a:r>
            <a:r>
              <a:rPr lang="en-US" sz="1800" i="1" dirty="0">
                <a:solidFill>
                  <a:schemeClr val="tx1"/>
                </a:solidFill>
              </a:rPr>
              <a:t>0.8646</a:t>
            </a:r>
          </a:p>
          <a:p>
            <a:pPr>
              <a:buFont typeface="Wingdings" panose="05000000000000000000" pitchFamily="2" charset="2"/>
              <a:buChar char="§"/>
            </a:pPr>
            <a:r>
              <a:rPr lang="en-US" sz="1800" dirty="0">
                <a:solidFill>
                  <a:schemeClr val="tx1"/>
                </a:solidFill>
              </a:rPr>
              <a:t>  High specificity (99.42%) but extremely low sensitivity (1.09%)</a:t>
            </a:r>
          </a:p>
        </p:txBody>
      </p:sp>
      <p:sp>
        <p:nvSpPr>
          <p:cNvPr id="83" name="Rectangle 82">
            <a:extLst>
              <a:ext uri="{FF2B5EF4-FFF2-40B4-BE49-F238E27FC236}">
                <a16:creationId xmlns:a16="http://schemas.microsoft.com/office/drawing/2014/main" id="{51DDD252-D7C8-4CE5-9C61-D60D722BC2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5" name="Rectangle 84">
            <a:extLst>
              <a:ext uri="{FF2B5EF4-FFF2-40B4-BE49-F238E27FC236}">
                <a16:creationId xmlns:a16="http://schemas.microsoft.com/office/drawing/2014/main" id="{2FBD75F5-C49C-4F6A-8D43-7A5939C233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6688321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52ABB703-2B0E-4C3B-B4A2-F3973548E5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350E367C-373D-27D9-8820-2338C9542947}"/>
              </a:ext>
            </a:extLst>
          </p:cNvPr>
          <p:cNvSpPr>
            <a:spLocks noGrp="1"/>
          </p:cNvSpPr>
          <p:nvPr>
            <p:ph type="title"/>
          </p:nvPr>
        </p:nvSpPr>
        <p:spPr>
          <a:xfrm>
            <a:off x="6411685" y="1209043"/>
            <a:ext cx="5127171" cy="876660"/>
          </a:xfrm>
        </p:spPr>
        <p:txBody>
          <a:bodyPr>
            <a:normAutofit/>
          </a:bodyPr>
          <a:lstStyle/>
          <a:p>
            <a:r>
              <a:rPr lang="en-US" b="1" dirty="0">
                <a:solidFill>
                  <a:schemeClr val="bg2">
                    <a:lumMod val="50000"/>
                  </a:schemeClr>
                </a:solidFill>
                <a:latin typeface="Calibri Light"/>
              </a:rPr>
              <a:t>4. Random Forest</a:t>
            </a:r>
          </a:p>
        </p:txBody>
      </p:sp>
      <p:pic>
        <p:nvPicPr>
          <p:cNvPr id="7" name="Picture 6">
            <a:extLst>
              <a:ext uri="{FF2B5EF4-FFF2-40B4-BE49-F238E27FC236}">
                <a16:creationId xmlns:a16="http://schemas.microsoft.com/office/drawing/2014/main" id="{2F32E845-982A-9CF1-D53F-776A2F27E188}"/>
              </a:ext>
            </a:extLst>
          </p:cNvPr>
          <p:cNvPicPr>
            <a:picLocks noChangeAspect="1"/>
          </p:cNvPicPr>
          <p:nvPr/>
        </p:nvPicPr>
        <p:blipFill>
          <a:blip r:embed="rId2"/>
          <a:stretch>
            <a:fillRect/>
          </a:stretch>
        </p:blipFill>
        <p:spPr>
          <a:xfrm>
            <a:off x="643192" y="1561818"/>
            <a:ext cx="5451627" cy="3734364"/>
          </a:xfrm>
          <a:prstGeom prst="rect">
            <a:avLst/>
          </a:prstGeom>
        </p:spPr>
      </p:pic>
      <p:cxnSp>
        <p:nvCxnSpPr>
          <p:cNvPr id="14" name="Straight Connector 13">
            <a:extLst>
              <a:ext uri="{FF2B5EF4-FFF2-40B4-BE49-F238E27FC236}">
                <a16:creationId xmlns:a16="http://schemas.microsoft.com/office/drawing/2014/main" id="{9C21570E-E159-49A6-9891-FA397B7A92D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11684" y="2086188"/>
            <a:ext cx="4748808"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5" name="Content Placeholder 2">
            <a:extLst>
              <a:ext uri="{FF2B5EF4-FFF2-40B4-BE49-F238E27FC236}">
                <a16:creationId xmlns:a16="http://schemas.microsoft.com/office/drawing/2014/main" id="{86C90964-E17D-6823-287B-4E7854FD5FCE}"/>
              </a:ext>
            </a:extLst>
          </p:cNvPr>
          <p:cNvSpPr>
            <a:spLocks noGrp="1"/>
          </p:cNvSpPr>
          <p:nvPr>
            <p:ph idx="1"/>
          </p:nvPr>
        </p:nvSpPr>
        <p:spPr>
          <a:xfrm>
            <a:off x="6492964" y="2441730"/>
            <a:ext cx="5127172" cy="2572896"/>
          </a:xfrm>
        </p:spPr>
        <p:txBody>
          <a:bodyPr>
            <a:normAutofit/>
          </a:bodyPr>
          <a:lstStyle/>
          <a:p>
            <a:pPr>
              <a:buFont typeface="Wingdings" panose="05000000000000000000" pitchFamily="2" charset="2"/>
              <a:buChar char="§"/>
            </a:pPr>
            <a:r>
              <a:rPr lang="en-US" dirty="0"/>
              <a:t>  </a:t>
            </a:r>
            <a:r>
              <a:rPr lang="en-US" sz="1800" dirty="0">
                <a:solidFill>
                  <a:schemeClr val="tx1"/>
                </a:solidFill>
              </a:rPr>
              <a:t>Combines multiple decision trees to improve accuracy and reduce overfitting.</a:t>
            </a:r>
          </a:p>
          <a:p>
            <a:pPr>
              <a:buFont typeface="Wingdings" panose="05000000000000000000" pitchFamily="2" charset="2"/>
              <a:buChar char="§"/>
            </a:pPr>
            <a:r>
              <a:rPr lang="en-US" sz="1800" b="1" dirty="0">
                <a:solidFill>
                  <a:schemeClr val="tx1"/>
                </a:solidFill>
              </a:rPr>
              <a:t>  Test AUC:</a:t>
            </a:r>
            <a:r>
              <a:rPr lang="en-US" sz="1800" dirty="0">
                <a:solidFill>
                  <a:schemeClr val="tx1"/>
                </a:solidFill>
              </a:rPr>
              <a:t> </a:t>
            </a:r>
            <a:r>
              <a:rPr lang="en-US" sz="1800" b="1" i="1" dirty="0">
                <a:solidFill>
                  <a:schemeClr val="tx1"/>
                </a:solidFill>
              </a:rPr>
              <a:t>0.7953</a:t>
            </a:r>
          </a:p>
          <a:p>
            <a:pPr>
              <a:buFont typeface="Wingdings" panose="05000000000000000000" pitchFamily="2" charset="2"/>
              <a:buChar char="§"/>
            </a:pPr>
            <a:r>
              <a:rPr lang="en-US" sz="1800" b="1" dirty="0">
                <a:solidFill>
                  <a:schemeClr val="tx1"/>
                </a:solidFill>
              </a:rPr>
              <a:t>  </a:t>
            </a:r>
            <a:r>
              <a:rPr lang="en-US" sz="1800" dirty="0">
                <a:solidFill>
                  <a:schemeClr val="tx1"/>
                </a:solidFill>
              </a:rPr>
              <a:t>Accuracy: </a:t>
            </a:r>
            <a:r>
              <a:rPr lang="en-US" sz="1800" i="1" dirty="0">
                <a:solidFill>
                  <a:schemeClr val="tx1"/>
                </a:solidFill>
              </a:rPr>
              <a:t>0.8689</a:t>
            </a:r>
          </a:p>
          <a:p>
            <a:pPr>
              <a:buFont typeface="Wingdings" panose="05000000000000000000" pitchFamily="2" charset="2"/>
              <a:buChar char="§"/>
            </a:pPr>
            <a:r>
              <a:rPr lang="en-US" sz="1800" dirty="0">
                <a:solidFill>
                  <a:schemeClr val="tx1"/>
                </a:solidFill>
              </a:rPr>
              <a:t>  High specificity (99.59%), but low sensitivity (3.26%)</a:t>
            </a:r>
          </a:p>
        </p:txBody>
      </p:sp>
      <p:sp>
        <p:nvSpPr>
          <p:cNvPr id="16" name="Rectangle 15">
            <a:extLst>
              <a:ext uri="{FF2B5EF4-FFF2-40B4-BE49-F238E27FC236}">
                <a16:creationId xmlns:a16="http://schemas.microsoft.com/office/drawing/2014/main" id="{E95DA498-D9A2-4DA9-B9DA-B3776E08CF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8" name="Rectangle 17">
            <a:extLst>
              <a:ext uri="{FF2B5EF4-FFF2-40B4-BE49-F238E27FC236}">
                <a16:creationId xmlns:a16="http://schemas.microsoft.com/office/drawing/2014/main" id="{82A73093-4B9D-420D-B17E-52293703A1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5252891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52ABB703-2B0E-4C3B-B4A2-F3973548E5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7F676292-477E-24BE-F28F-7B6EA809215A}"/>
              </a:ext>
            </a:extLst>
          </p:cNvPr>
          <p:cNvSpPr>
            <a:spLocks noGrp="1"/>
          </p:cNvSpPr>
          <p:nvPr>
            <p:ph type="title"/>
          </p:nvPr>
        </p:nvSpPr>
        <p:spPr>
          <a:xfrm>
            <a:off x="6322143" y="904568"/>
            <a:ext cx="5568598" cy="1201305"/>
          </a:xfrm>
        </p:spPr>
        <p:txBody>
          <a:bodyPr>
            <a:noAutofit/>
          </a:bodyPr>
          <a:lstStyle/>
          <a:p>
            <a:r>
              <a:rPr lang="en-US" sz="4000" b="1" dirty="0">
                <a:solidFill>
                  <a:schemeClr val="bg2">
                    <a:lumMod val="50000"/>
                  </a:schemeClr>
                </a:solidFill>
              </a:rPr>
              <a:t>Model Comparison &amp; Decision</a:t>
            </a:r>
            <a:endParaRPr lang="en-US" sz="4000" b="1" dirty="0">
              <a:solidFill>
                <a:schemeClr val="bg2">
                  <a:lumMod val="50000"/>
                </a:schemeClr>
              </a:solidFill>
              <a:latin typeface="Calibri Light"/>
            </a:endParaRPr>
          </a:p>
        </p:txBody>
      </p:sp>
      <p:pic>
        <p:nvPicPr>
          <p:cNvPr id="9" name="Picture 8">
            <a:extLst>
              <a:ext uri="{FF2B5EF4-FFF2-40B4-BE49-F238E27FC236}">
                <a16:creationId xmlns:a16="http://schemas.microsoft.com/office/drawing/2014/main" id="{A73C4E17-FCC5-2FCE-1162-C48176154590}"/>
              </a:ext>
            </a:extLst>
          </p:cNvPr>
          <p:cNvPicPr>
            <a:picLocks noChangeAspect="1"/>
          </p:cNvPicPr>
          <p:nvPr/>
        </p:nvPicPr>
        <p:blipFill>
          <a:blip r:embed="rId2"/>
          <a:stretch>
            <a:fillRect/>
          </a:stretch>
        </p:blipFill>
        <p:spPr>
          <a:xfrm>
            <a:off x="211717" y="1272417"/>
            <a:ext cx="6110426" cy="4088537"/>
          </a:xfrm>
          <a:prstGeom prst="rect">
            <a:avLst/>
          </a:prstGeom>
        </p:spPr>
      </p:pic>
      <p:cxnSp>
        <p:nvCxnSpPr>
          <p:cNvPr id="25" name="Straight Connector 24">
            <a:extLst>
              <a:ext uri="{FF2B5EF4-FFF2-40B4-BE49-F238E27FC236}">
                <a16:creationId xmlns:a16="http://schemas.microsoft.com/office/drawing/2014/main" id="{9C21570E-E159-49A6-9891-FA397B7A92D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11684" y="2086188"/>
            <a:ext cx="4748808"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5" name="Content Placeholder 2">
            <a:extLst>
              <a:ext uri="{FF2B5EF4-FFF2-40B4-BE49-F238E27FC236}">
                <a16:creationId xmlns:a16="http://schemas.microsoft.com/office/drawing/2014/main" id="{A286FA6C-3F80-03F0-E1A2-85AC11B74891}"/>
              </a:ext>
            </a:extLst>
          </p:cNvPr>
          <p:cNvSpPr>
            <a:spLocks noGrp="1"/>
          </p:cNvSpPr>
          <p:nvPr>
            <p:ph idx="1"/>
          </p:nvPr>
        </p:nvSpPr>
        <p:spPr>
          <a:xfrm>
            <a:off x="6411685" y="2453763"/>
            <a:ext cx="5127172" cy="2564874"/>
          </a:xfrm>
        </p:spPr>
        <p:txBody>
          <a:bodyPr>
            <a:normAutofit/>
          </a:bodyPr>
          <a:lstStyle/>
          <a:p>
            <a:pPr>
              <a:buFont typeface="Wingdings" panose="05000000000000000000" pitchFamily="2" charset="2"/>
              <a:buChar char="§"/>
            </a:pPr>
            <a:r>
              <a:rPr lang="en-US" sz="1800" dirty="0"/>
              <a:t>  </a:t>
            </a:r>
            <a:r>
              <a:rPr lang="en-US" sz="1800" dirty="0">
                <a:solidFill>
                  <a:schemeClr val="tx1"/>
                </a:solidFill>
              </a:rPr>
              <a:t>Random Forest outperformed all other models in overall predictive performance.</a:t>
            </a:r>
          </a:p>
          <a:p>
            <a:pPr>
              <a:buFont typeface="Wingdings" panose="05000000000000000000" pitchFamily="2" charset="2"/>
              <a:buChar char="§"/>
            </a:pPr>
            <a:r>
              <a:rPr lang="en-US" sz="1800" dirty="0">
                <a:solidFill>
                  <a:schemeClr val="tx1"/>
                </a:solidFill>
              </a:rPr>
              <a:t>  Achieved the highest test AUC of </a:t>
            </a:r>
            <a:r>
              <a:rPr lang="en-US" sz="1800" b="1" dirty="0">
                <a:solidFill>
                  <a:schemeClr val="tx1"/>
                </a:solidFill>
              </a:rPr>
              <a:t>0.7953</a:t>
            </a:r>
            <a:r>
              <a:rPr lang="en-US" sz="1800" dirty="0">
                <a:solidFill>
                  <a:schemeClr val="tx1"/>
                </a:solidFill>
              </a:rPr>
              <a:t> among all models.</a:t>
            </a:r>
            <a:endParaRPr lang="en-US" sz="1800" b="1" dirty="0">
              <a:solidFill>
                <a:schemeClr val="tx1"/>
              </a:solidFill>
            </a:endParaRPr>
          </a:p>
          <a:p>
            <a:pPr>
              <a:buFont typeface="Wingdings" panose="05000000000000000000" pitchFamily="2" charset="2"/>
              <a:buChar char="§"/>
            </a:pPr>
            <a:r>
              <a:rPr lang="en-US" sz="1800" dirty="0">
                <a:solidFill>
                  <a:schemeClr val="tx1"/>
                </a:solidFill>
              </a:rPr>
              <a:t>  Final model selected: </a:t>
            </a:r>
            <a:r>
              <a:rPr lang="en-US" sz="1800" b="1" dirty="0">
                <a:solidFill>
                  <a:schemeClr val="tx1"/>
                </a:solidFill>
              </a:rPr>
              <a:t>Random Forest</a:t>
            </a:r>
            <a:r>
              <a:rPr lang="en-US" sz="1800" dirty="0">
                <a:solidFill>
                  <a:schemeClr val="tx1"/>
                </a:solidFill>
              </a:rPr>
              <a:t>, based on highest AUC score on test data.</a:t>
            </a:r>
          </a:p>
        </p:txBody>
      </p:sp>
      <p:sp>
        <p:nvSpPr>
          <p:cNvPr id="27" name="Rectangle 26">
            <a:extLst>
              <a:ext uri="{FF2B5EF4-FFF2-40B4-BE49-F238E27FC236}">
                <a16:creationId xmlns:a16="http://schemas.microsoft.com/office/drawing/2014/main" id="{E95DA498-D9A2-4DA9-B9DA-B3776E08CF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9" name="Rectangle 28">
            <a:extLst>
              <a:ext uri="{FF2B5EF4-FFF2-40B4-BE49-F238E27FC236}">
                <a16:creationId xmlns:a16="http://schemas.microsoft.com/office/drawing/2014/main" id="{82A73093-4B9D-420D-B17E-52293703A1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2430944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4DB4370-D8CB-88B6-3F76-27BD3195E6CB}"/>
              </a:ext>
            </a:extLst>
          </p:cNvPr>
          <p:cNvSpPr txBox="1">
            <a:spLocks/>
          </p:cNvSpPr>
          <p:nvPr/>
        </p:nvSpPr>
        <p:spPr>
          <a:xfrm>
            <a:off x="1097280" y="263527"/>
            <a:ext cx="10058400" cy="1450757"/>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b="1" dirty="0">
                <a:solidFill>
                  <a:srgbClr val="002060"/>
                </a:solidFill>
                <a:latin typeface="Calibri Light"/>
              </a:rPr>
              <a:t>Phase 5 - Customer Feedback Analysis</a:t>
            </a:r>
          </a:p>
        </p:txBody>
      </p:sp>
      <p:sp>
        <p:nvSpPr>
          <p:cNvPr id="9" name="Content Placeholder 2">
            <a:extLst>
              <a:ext uri="{FF2B5EF4-FFF2-40B4-BE49-F238E27FC236}">
                <a16:creationId xmlns:a16="http://schemas.microsoft.com/office/drawing/2014/main" id="{1B21FD8A-A4EA-0A79-3EA3-6BC0AE668EF5}"/>
              </a:ext>
            </a:extLst>
          </p:cNvPr>
          <p:cNvSpPr>
            <a:spLocks noGrp="1"/>
          </p:cNvSpPr>
          <p:nvPr>
            <p:ph idx="1"/>
          </p:nvPr>
        </p:nvSpPr>
        <p:spPr>
          <a:xfrm>
            <a:off x="1244765" y="2286690"/>
            <a:ext cx="5435599" cy="2564874"/>
          </a:xfrm>
        </p:spPr>
        <p:txBody>
          <a:bodyPr>
            <a:normAutofit lnSpcReduction="10000"/>
          </a:bodyPr>
          <a:lstStyle/>
          <a:p>
            <a:pPr>
              <a:buFont typeface="Wingdings" panose="05000000000000000000" pitchFamily="2" charset="2"/>
              <a:buChar char="§"/>
            </a:pPr>
            <a:r>
              <a:rPr lang="en-US" sz="1800" dirty="0"/>
              <a:t>  </a:t>
            </a:r>
            <a:r>
              <a:rPr lang="en-US" sz="1800" dirty="0">
                <a:solidFill>
                  <a:schemeClr val="tx1"/>
                </a:solidFill>
              </a:rPr>
              <a:t>Analyzed customer feedback data from NPS survey responses</a:t>
            </a:r>
            <a:r>
              <a:rPr lang="en-US" sz="1600" dirty="0">
                <a:solidFill>
                  <a:schemeClr val="tx1"/>
                </a:solidFill>
              </a:rPr>
              <a:t>.</a:t>
            </a:r>
            <a:endParaRPr lang="en-US" sz="1600" dirty="0"/>
          </a:p>
          <a:p>
            <a:pPr>
              <a:buFont typeface="Wingdings" panose="05000000000000000000" pitchFamily="2" charset="2"/>
              <a:buChar char="§"/>
            </a:pPr>
            <a:r>
              <a:rPr lang="en-US" sz="1800" dirty="0">
                <a:solidFill>
                  <a:schemeClr val="tx1"/>
                </a:solidFill>
              </a:rPr>
              <a:t>  Text was cleaned by removing punctuation, numbers, stop words and irrelevant terms.</a:t>
            </a:r>
          </a:p>
          <a:p>
            <a:pPr>
              <a:buFont typeface="Wingdings" panose="05000000000000000000" pitchFamily="2" charset="2"/>
              <a:buChar char="§"/>
            </a:pPr>
            <a:r>
              <a:rPr lang="en-US" sz="1800" dirty="0">
                <a:solidFill>
                  <a:schemeClr val="tx1"/>
                </a:solidFill>
              </a:rPr>
              <a:t>  Created a word cloud to visualize frequently mentioned words.</a:t>
            </a:r>
          </a:p>
          <a:p>
            <a:pPr>
              <a:buFont typeface="Wingdings" panose="05000000000000000000" pitchFamily="2" charset="2"/>
              <a:buChar char="§"/>
            </a:pPr>
            <a:r>
              <a:rPr lang="en-US" sz="1800" dirty="0">
                <a:solidFill>
                  <a:schemeClr val="tx1"/>
                </a:solidFill>
              </a:rPr>
              <a:t>  Common themes included service quality, speed, staff support and loan process clarity.</a:t>
            </a:r>
          </a:p>
        </p:txBody>
      </p:sp>
      <p:pic>
        <p:nvPicPr>
          <p:cNvPr id="11" name="Picture 10">
            <a:extLst>
              <a:ext uri="{FF2B5EF4-FFF2-40B4-BE49-F238E27FC236}">
                <a16:creationId xmlns:a16="http://schemas.microsoft.com/office/drawing/2014/main" id="{03BD687E-92AE-29CB-51F0-3BB3D86EBD32}"/>
              </a:ext>
            </a:extLst>
          </p:cNvPr>
          <p:cNvPicPr>
            <a:picLocks noChangeAspect="1"/>
          </p:cNvPicPr>
          <p:nvPr/>
        </p:nvPicPr>
        <p:blipFill>
          <a:blip r:embed="rId2"/>
          <a:stretch>
            <a:fillRect/>
          </a:stretch>
        </p:blipFill>
        <p:spPr>
          <a:xfrm>
            <a:off x="7164406" y="1928942"/>
            <a:ext cx="3991274" cy="396331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E5958DBC-F4DA-42A8-8C52-860179790E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44679" y="634946"/>
            <a:ext cx="6405063" cy="1450757"/>
          </a:xfrm>
        </p:spPr>
        <p:txBody>
          <a:bodyPr>
            <a:normAutofit/>
          </a:bodyPr>
          <a:lstStyle/>
          <a:p>
            <a:r>
              <a:rPr lang="en-US" sz="4000" b="1" dirty="0">
                <a:solidFill>
                  <a:schemeClr val="bg2">
                    <a:lumMod val="50000"/>
                  </a:schemeClr>
                </a:solidFill>
                <a:latin typeface="Calibri Light"/>
              </a:rPr>
              <a:t>Sentiment Analysis &amp; Insights</a:t>
            </a:r>
          </a:p>
        </p:txBody>
      </p:sp>
      <p:pic>
        <p:nvPicPr>
          <p:cNvPr id="9" name="Picture 8">
            <a:extLst>
              <a:ext uri="{FF2B5EF4-FFF2-40B4-BE49-F238E27FC236}">
                <a16:creationId xmlns:a16="http://schemas.microsoft.com/office/drawing/2014/main" id="{107276A4-8B52-1C39-14D0-76E8EA8F4B0B}"/>
              </a:ext>
            </a:extLst>
          </p:cNvPr>
          <p:cNvPicPr>
            <a:picLocks noChangeAspect="1"/>
          </p:cNvPicPr>
          <p:nvPr/>
        </p:nvPicPr>
        <p:blipFill>
          <a:blip r:embed="rId2"/>
          <a:stretch>
            <a:fillRect/>
          </a:stretch>
        </p:blipFill>
        <p:spPr>
          <a:xfrm>
            <a:off x="528811" y="3552816"/>
            <a:ext cx="3964531" cy="2784640"/>
          </a:xfrm>
          <a:prstGeom prst="rect">
            <a:avLst/>
          </a:prstGeom>
        </p:spPr>
      </p:pic>
      <p:cxnSp>
        <p:nvCxnSpPr>
          <p:cNvPr id="16" name="Straight Connector 15">
            <a:extLst>
              <a:ext uri="{FF2B5EF4-FFF2-40B4-BE49-F238E27FC236}">
                <a16:creationId xmlns:a16="http://schemas.microsoft.com/office/drawing/2014/main" id="{79FCC9A9-2031-4283-9B27-34B62BB7F30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181247" y="2086188"/>
            <a:ext cx="5852160"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20A44AB2-71CD-1000-19B8-0B24D3042F2A}"/>
              </a:ext>
            </a:extLst>
          </p:cNvPr>
          <p:cNvPicPr>
            <a:picLocks noChangeAspect="1"/>
          </p:cNvPicPr>
          <p:nvPr/>
        </p:nvPicPr>
        <p:blipFill>
          <a:blip r:embed="rId3"/>
          <a:stretch>
            <a:fillRect/>
          </a:stretch>
        </p:blipFill>
        <p:spPr>
          <a:xfrm>
            <a:off x="737039" y="306226"/>
            <a:ext cx="3891305" cy="3122774"/>
          </a:xfrm>
          <a:prstGeom prst="rect">
            <a:avLst/>
          </a:prstGeom>
        </p:spPr>
      </p:pic>
      <p:sp>
        <p:nvSpPr>
          <p:cNvPr id="5" name="Content Placeholder 2">
            <a:extLst>
              <a:ext uri="{FF2B5EF4-FFF2-40B4-BE49-F238E27FC236}">
                <a16:creationId xmlns:a16="http://schemas.microsoft.com/office/drawing/2014/main" id="{5BF1A979-75E4-8C29-B2CD-8388F23B1467}"/>
              </a:ext>
            </a:extLst>
          </p:cNvPr>
          <p:cNvSpPr>
            <a:spLocks noGrp="1"/>
          </p:cNvSpPr>
          <p:nvPr>
            <p:ph idx="1"/>
          </p:nvPr>
        </p:nvSpPr>
        <p:spPr>
          <a:xfrm>
            <a:off x="5305699" y="2461018"/>
            <a:ext cx="6405063" cy="2865119"/>
          </a:xfrm>
        </p:spPr>
        <p:txBody>
          <a:bodyPr>
            <a:normAutofit lnSpcReduction="10000"/>
          </a:bodyPr>
          <a:lstStyle/>
          <a:p>
            <a:pPr>
              <a:buFont typeface="Wingdings" panose="05000000000000000000" pitchFamily="2" charset="2"/>
              <a:buChar char="§"/>
            </a:pPr>
            <a:r>
              <a:rPr lang="en-US" sz="1800" dirty="0"/>
              <a:t>  Sentiment scores were calculated using sentence-level analysis and averaged per feedback entry.</a:t>
            </a:r>
          </a:p>
          <a:p>
            <a:pPr>
              <a:buFont typeface="Wingdings" panose="05000000000000000000" pitchFamily="2" charset="2"/>
              <a:buChar char="§"/>
            </a:pPr>
            <a:r>
              <a:rPr lang="en-US" sz="1800" dirty="0"/>
              <a:t>  Feedback classified into Positive, Neutral and Negative categories.</a:t>
            </a:r>
          </a:p>
          <a:p>
            <a:pPr>
              <a:buFont typeface="Wingdings" panose="05000000000000000000" pitchFamily="2" charset="2"/>
              <a:buChar char="§"/>
            </a:pPr>
            <a:r>
              <a:rPr lang="en-US" sz="1800" dirty="0"/>
              <a:t>  Majority of the responses were positive, showing overall satisfaction.</a:t>
            </a:r>
          </a:p>
          <a:p>
            <a:pPr>
              <a:buFont typeface="Wingdings" panose="05000000000000000000" pitchFamily="2" charset="2"/>
              <a:buChar char="§"/>
            </a:pPr>
            <a:r>
              <a:rPr lang="en-US" sz="1800" dirty="0"/>
              <a:t>  Negative sentiments pointed to delays and lack of proactive support.</a:t>
            </a:r>
          </a:p>
          <a:p>
            <a:pPr>
              <a:buFont typeface="Wingdings" panose="05000000000000000000" pitchFamily="2" charset="2"/>
              <a:buChar char="§"/>
            </a:pPr>
            <a:r>
              <a:rPr lang="en-US" sz="1800" dirty="0"/>
              <a:t>  These insights help highlight areas for improving customer experience.</a:t>
            </a:r>
          </a:p>
        </p:txBody>
      </p:sp>
      <p:sp>
        <p:nvSpPr>
          <p:cNvPr id="18" name="Rectangle 17">
            <a:extLst>
              <a:ext uri="{FF2B5EF4-FFF2-40B4-BE49-F238E27FC236}">
                <a16:creationId xmlns:a16="http://schemas.microsoft.com/office/drawing/2014/main" id="{51DDD252-D7C8-4CE5-9C61-D60D722BC2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0" name="Rectangle 19">
            <a:extLst>
              <a:ext uri="{FF2B5EF4-FFF2-40B4-BE49-F238E27FC236}">
                <a16:creationId xmlns:a16="http://schemas.microsoft.com/office/drawing/2014/main" id="{2FBD75F5-C49C-4F6A-8D43-7A5939C233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2A78EDF-6D2B-FF9E-5819-BA7CFCFC7EE5}"/>
              </a:ext>
            </a:extLst>
          </p:cNvPr>
          <p:cNvSpPr txBox="1">
            <a:spLocks/>
          </p:cNvSpPr>
          <p:nvPr/>
        </p:nvSpPr>
        <p:spPr>
          <a:xfrm>
            <a:off x="1097280" y="717755"/>
            <a:ext cx="5804965" cy="996529"/>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5400" b="1" dirty="0">
                <a:solidFill>
                  <a:srgbClr val="002060"/>
                </a:solidFill>
                <a:latin typeface="Calibri Light"/>
              </a:rPr>
              <a:t>Summary</a:t>
            </a:r>
          </a:p>
        </p:txBody>
      </p:sp>
      <p:sp>
        <p:nvSpPr>
          <p:cNvPr id="5" name="Content Placeholder 2">
            <a:extLst>
              <a:ext uri="{FF2B5EF4-FFF2-40B4-BE49-F238E27FC236}">
                <a16:creationId xmlns:a16="http://schemas.microsoft.com/office/drawing/2014/main" id="{F2755062-1ECB-7904-46B5-43C46E1AD735}"/>
              </a:ext>
            </a:extLst>
          </p:cNvPr>
          <p:cNvSpPr>
            <a:spLocks noGrp="1"/>
          </p:cNvSpPr>
          <p:nvPr>
            <p:ph idx="1"/>
          </p:nvPr>
        </p:nvSpPr>
        <p:spPr>
          <a:xfrm>
            <a:off x="1225312" y="2254540"/>
            <a:ext cx="9688494" cy="3526827"/>
          </a:xfrm>
        </p:spPr>
        <p:txBody>
          <a:bodyPr>
            <a:normAutofit/>
          </a:bodyPr>
          <a:lstStyle/>
          <a:p>
            <a:pPr>
              <a:buFont typeface="Wingdings" panose="05000000000000000000" pitchFamily="2" charset="2"/>
              <a:buChar char="Ø"/>
            </a:pPr>
            <a:r>
              <a:rPr lang="en-US" sz="1800" dirty="0"/>
              <a:t>  Explored credit risk patterns using customer demographic, financial and behavioral data to understand critical factors of loan default.</a:t>
            </a:r>
          </a:p>
          <a:p>
            <a:pPr>
              <a:buFont typeface="Wingdings" panose="05000000000000000000" pitchFamily="2" charset="2"/>
              <a:buChar char="Ø"/>
            </a:pPr>
            <a:r>
              <a:rPr lang="en-US" sz="1800" dirty="0"/>
              <a:t>  Performed in depth EDA using bad rate tables, boxplots and heat maps to identify high-risk customer segments.</a:t>
            </a:r>
          </a:p>
          <a:p>
            <a:pPr>
              <a:buFont typeface="Wingdings" panose="05000000000000000000" pitchFamily="2" charset="2"/>
              <a:buChar char="Ø"/>
            </a:pPr>
            <a:r>
              <a:rPr lang="en-US" sz="1800" dirty="0"/>
              <a:t>  Built predictive models using binary logistic regression and four machine learning techniques. Random Forest achieved the best test AUC.</a:t>
            </a:r>
          </a:p>
          <a:p>
            <a:pPr>
              <a:buFont typeface="Wingdings" panose="05000000000000000000" pitchFamily="2" charset="2"/>
              <a:buChar char="Ø"/>
            </a:pPr>
            <a:r>
              <a:rPr lang="en-US" sz="1800" dirty="0"/>
              <a:t>  Validated findings by comparing model outcomes with EDA insights, ensuring consistency and meaningful interpretations.</a:t>
            </a:r>
          </a:p>
          <a:p>
            <a:pPr>
              <a:buFont typeface="Wingdings" panose="05000000000000000000" pitchFamily="2" charset="2"/>
              <a:buChar char="Ø"/>
            </a:pPr>
            <a:r>
              <a:rPr lang="en-US" sz="1800" dirty="0"/>
              <a:t>  Analyzed customer feedback using sentiment analysis, revealing mostly positive perceptions, with key improvement areas identified.</a:t>
            </a:r>
          </a:p>
        </p:txBody>
      </p:sp>
    </p:spTree>
    <p:extLst>
      <p:ext uri="{BB962C8B-B14F-4D97-AF65-F5344CB8AC3E}">
        <p14:creationId xmlns:p14="http://schemas.microsoft.com/office/powerpoint/2010/main" val="10055791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4E4490D0-3672-446A-AC12-B4830333BD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6" name="Rectangle 25">
            <a:extLst>
              <a:ext uri="{FF2B5EF4-FFF2-40B4-BE49-F238E27FC236}">
                <a16:creationId xmlns:a16="http://schemas.microsoft.com/office/drawing/2014/main" id="{39CB82C2-DF65-4EC1-8280-F201D50F5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28" name="Straight Connector 27">
            <a:extLst>
              <a:ext uri="{FF2B5EF4-FFF2-40B4-BE49-F238E27FC236}">
                <a16:creationId xmlns:a16="http://schemas.microsoft.com/office/drawing/2014/main" id="{7E1D4427-852B-4B37-8E76-0E9F1810BA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30" name="Rectangle 29">
            <a:extLst>
              <a:ext uri="{FF2B5EF4-FFF2-40B4-BE49-F238E27FC236}">
                <a16:creationId xmlns:a16="http://schemas.microsoft.com/office/drawing/2014/main" id="{AE220058-3FCE-496E-ADF2-D8A6961F39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Connector 31">
            <a:extLst>
              <a:ext uri="{FF2B5EF4-FFF2-40B4-BE49-F238E27FC236}">
                <a16:creationId xmlns:a16="http://schemas.microsoft.com/office/drawing/2014/main" id="{E193F809-7E50-4AAD-8E26-878207931CB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944603" y="4325112"/>
            <a:ext cx="71323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2B769CB2-DFF6-E951-1E92-6F79731C8DFF}"/>
              </a:ext>
            </a:extLst>
          </p:cNvPr>
          <p:cNvSpPr>
            <a:spLocks noGrp="1"/>
          </p:cNvSpPr>
          <p:nvPr>
            <p:ph type="title"/>
          </p:nvPr>
        </p:nvSpPr>
        <p:spPr>
          <a:xfrm>
            <a:off x="3836505" y="2861186"/>
            <a:ext cx="5395986" cy="1463925"/>
          </a:xfrm>
        </p:spPr>
        <p:txBody>
          <a:bodyPr vert="horz" lIns="91440" tIns="45720" rIns="91440" bIns="45720" rtlCol="0" anchor="b">
            <a:normAutofit/>
          </a:bodyPr>
          <a:lstStyle/>
          <a:p>
            <a:r>
              <a:rPr lang="en-US" sz="8000" b="1" dirty="0">
                <a:solidFill>
                  <a:srgbClr val="002060"/>
                </a:solidFill>
              </a:rPr>
              <a:t>Thank you!</a:t>
            </a:r>
          </a:p>
        </p:txBody>
      </p:sp>
      <p:pic>
        <p:nvPicPr>
          <p:cNvPr id="21" name="Graphic 20" descr="Handshake">
            <a:extLst>
              <a:ext uri="{FF2B5EF4-FFF2-40B4-BE49-F238E27FC236}">
                <a16:creationId xmlns:a16="http://schemas.microsoft.com/office/drawing/2014/main" id="{E34B0126-EAD7-BEF8-786F-5471B12FAAB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13276" y="2167189"/>
            <a:ext cx="2108350" cy="2108350"/>
          </a:xfrm>
          <a:prstGeom prst="rect">
            <a:avLst/>
          </a:prstGeom>
        </p:spPr>
      </p:pic>
      <p:sp>
        <p:nvSpPr>
          <p:cNvPr id="34" name="Rectangle 33">
            <a:extLst>
              <a:ext uri="{FF2B5EF4-FFF2-40B4-BE49-F238E27FC236}">
                <a16:creationId xmlns:a16="http://schemas.microsoft.com/office/drawing/2014/main" id="{3E9C5090-7D25-41E3-A6D3-CCAEE505E7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6" name="Rectangle 35">
            <a:extLst>
              <a:ext uri="{FF2B5EF4-FFF2-40B4-BE49-F238E27FC236}">
                <a16:creationId xmlns:a16="http://schemas.microsoft.com/office/drawing/2014/main" id="{11BF8809-0DAC-41E5-A212-ACB4A01BE9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4063040611"/>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Override1.xml><?xml version="1.0" encoding="utf-8"?>
<a:themeOverride xmlns:a="http://schemas.openxmlformats.org/drawingml/2006/main">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themeOverride>
</file>

<file path=docProps/app.xml><?xml version="1.0" encoding="utf-8"?>
<Properties xmlns="http://schemas.openxmlformats.org/officeDocument/2006/extended-properties" xmlns:vt="http://schemas.openxmlformats.org/officeDocument/2006/docPropsVTypes">
  <Template/>
  <TotalTime>1494</TotalTime>
  <Words>1303</Words>
  <Application>Microsoft Office PowerPoint</Application>
  <PresentationFormat>Widescreen</PresentationFormat>
  <Paragraphs>146</Paragraphs>
  <Slides>27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Calibri</vt:lpstr>
      <vt:lpstr>Calibri Light</vt:lpstr>
      <vt:lpstr>Wingdings</vt:lpstr>
      <vt:lpstr>Retrospect</vt:lpstr>
      <vt:lpstr>CREDIT SCORING</vt:lpstr>
      <vt:lpstr>Background</vt:lpstr>
      <vt:lpstr>Project Objectives</vt:lpstr>
      <vt:lpstr>Data Source</vt:lpstr>
      <vt:lpstr>Data Snapshots</vt:lpstr>
      <vt:lpstr>Project Phases Overview</vt:lpstr>
      <vt:lpstr>Phase 1 - Data Management</vt:lpstr>
      <vt:lpstr>Phase 2 - Exploratory Data Analysis</vt:lpstr>
      <vt:lpstr>1. Distribution of Numeric Risk Indicators</vt:lpstr>
      <vt:lpstr>2. Bad Rates Across Demographic Segments</vt:lpstr>
      <vt:lpstr>3. Mean Comparison: Good vs Bad Customers</vt:lpstr>
      <vt:lpstr>4. Risk Variation by Gender and Zone</vt:lpstr>
      <vt:lpstr>5. Risk Profile by Employment Category &amp; Debt Level</vt:lpstr>
      <vt:lpstr>6. Age wise Credit Card Debt Risk Patterns</vt:lpstr>
      <vt:lpstr>Phase 3 - Binary Logistic Regression Model</vt:lpstr>
      <vt:lpstr>PowerPoint Presentation</vt:lpstr>
      <vt:lpstr>PowerPoint Presentation</vt:lpstr>
      <vt:lpstr>Phase 4 - Machine Learning Models</vt:lpstr>
      <vt:lpstr>1. Naive Bayes</vt:lpstr>
      <vt:lpstr>2. Support Vector Machine (SVM)</vt:lpstr>
      <vt:lpstr>3. Decision Tree</vt:lpstr>
      <vt:lpstr>4. Random Forest</vt:lpstr>
      <vt:lpstr>Model Comparison &amp; Decision</vt:lpstr>
      <vt:lpstr>PowerPoint Presentation</vt:lpstr>
      <vt:lpstr>Sentiment Analysis &amp; Insights</vt:lpstr>
      <vt:lpstr>PowerPoint Presentation</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NAGESWARAN PRAGASH</cp:lastModifiedBy>
  <cp:revision>72</cp:revision>
  <cp:lastPrinted>2025-05-27T16:45:21Z</cp:lastPrinted>
  <dcterms:created xsi:type="dcterms:W3CDTF">2013-01-27T09:14:16Z</dcterms:created>
  <dcterms:modified xsi:type="dcterms:W3CDTF">2025-12-18T20:48:50Z</dcterms:modified>
  <cp:category/>
</cp:coreProperties>
</file>